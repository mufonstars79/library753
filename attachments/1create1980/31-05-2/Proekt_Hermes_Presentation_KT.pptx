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58" r:id="rId12"/>
    <p:sldId id="274" r:id="rId13"/>
    <p:sldId id="27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07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8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95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6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22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3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2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80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11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0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3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067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759543"/>
            <a:ext cx="7332408" cy="1524000"/>
          </a:xfrm>
        </p:spPr>
        <p:txBody>
          <a:bodyPr>
            <a:normAutofit fontScale="90000"/>
          </a:bodyPr>
          <a:lstStyle/>
          <a:p>
            <a:r>
              <a:rPr b="1" dirty="0" err="1"/>
              <a:t>Проект</a:t>
            </a:r>
            <a:r>
              <a:rPr b="1" dirty="0"/>
              <a:t> „</a:t>
            </a:r>
            <a:r>
              <a:rPr b="1" dirty="0" err="1"/>
              <a:t>Хермес</a:t>
            </a:r>
            <a:r>
              <a:rPr b="1" dirty="0"/>
              <a:t>“: </a:t>
            </a:r>
            <a:br>
              <a:rPr lang="bg-BG" b="1" dirty="0"/>
            </a:br>
            <a:r>
              <a:rPr b="1" dirty="0" err="1"/>
              <a:t>Обучението</a:t>
            </a:r>
            <a:r>
              <a:rPr b="1" dirty="0"/>
              <a:t> </a:t>
            </a:r>
            <a:r>
              <a:rPr b="1" dirty="0" err="1"/>
              <a:t>за</a:t>
            </a:r>
            <a:r>
              <a:rPr b="1" dirty="0"/>
              <a:t> </a:t>
            </a:r>
            <a:r>
              <a:rPr b="1" dirty="0" err="1"/>
              <a:t>категория</a:t>
            </a:r>
            <a:r>
              <a:rPr b="1" dirty="0"/>
              <a:t> B в </a:t>
            </a:r>
            <a:r>
              <a:rPr b="1" dirty="0" err="1"/>
              <a:t>Норвегия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2417235"/>
            <a:ext cx="6554867" cy="3767670"/>
          </a:xfrm>
        </p:spPr>
        <p:txBody>
          <a:bodyPr/>
          <a:lstStyle/>
          <a:p>
            <a:endParaRPr lang="en-US" dirty="0"/>
          </a:p>
          <a:p>
            <a:r>
              <a:rPr lang="ru-RU" sz="2400" dirty="0"/>
              <a:t>ТУ–София </a:t>
            </a:r>
          </a:p>
          <a:p>
            <a:r>
              <a:rPr lang="ru-RU" sz="2400" dirty="0" err="1"/>
              <a:t>Колеж</a:t>
            </a:r>
            <a:r>
              <a:rPr lang="ru-RU" sz="2400" dirty="0"/>
              <a:t> – </a:t>
            </a:r>
            <a:r>
              <a:rPr lang="ru-RU" sz="2400" dirty="0" err="1"/>
              <a:t>Сливен</a:t>
            </a:r>
            <a:r>
              <a:rPr lang="ru-RU" sz="2400" dirty="0"/>
              <a:t> </a:t>
            </a:r>
            <a:endParaRPr lang="en-US" sz="2400" dirty="0"/>
          </a:p>
          <a:p>
            <a:endParaRPr lang="ru-RU" dirty="0"/>
          </a:p>
          <a:p>
            <a:r>
              <a:rPr lang="ru-RU" dirty="0" err="1"/>
              <a:t>Група</a:t>
            </a:r>
            <a:r>
              <a:rPr lang="ru-RU" dirty="0"/>
              <a:t> 753 </a:t>
            </a:r>
            <a:endParaRPr lang="en-US" dirty="0"/>
          </a:p>
          <a:p>
            <a:r>
              <a:rPr lang="ru-RU" dirty="0"/>
              <a:t>Константин Ангелов Тодоров </a:t>
            </a:r>
            <a:endParaRPr lang="en-US" dirty="0"/>
          </a:p>
          <a:p>
            <a:endParaRPr lang="bg-BG" dirty="0"/>
          </a:p>
          <a:p>
            <a:r>
              <a:rPr lang="bg-BG" dirty="0"/>
              <a:t>Май</a:t>
            </a:r>
            <a:r>
              <a:rPr lang="ru-RU" dirty="0"/>
              <a:t> 2026 г.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424A9-377D-733B-556F-73408F5CC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610" y="1834638"/>
            <a:ext cx="1956800" cy="174891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E85B3C7-756E-4884-D168-DF1D6EB12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036" y="1834638"/>
            <a:ext cx="238125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 err="1"/>
              <a:t>Увод</a:t>
            </a:r>
            <a:r>
              <a:rPr sz="4000" b="1" dirty="0"/>
              <a:t> и „Vision Zero“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Норвегия е сред </a:t>
            </a:r>
            <a:r>
              <a:rPr lang="ru-RU" dirty="0" err="1"/>
              <a:t>държавите</a:t>
            </a:r>
            <a:r>
              <a:rPr lang="ru-RU" dirty="0"/>
              <a:t> с най-</a:t>
            </a:r>
            <a:r>
              <a:rPr lang="ru-RU" dirty="0" err="1"/>
              <a:t>висока</a:t>
            </a:r>
            <a:r>
              <a:rPr lang="ru-RU" dirty="0"/>
              <a:t> </a:t>
            </a:r>
            <a:r>
              <a:rPr lang="ru-RU" dirty="0" err="1"/>
              <a:t>пътна</a:t>
            </a:r>
            <a:r>
              <a:rPr lang="ru-RU" dirty="0"/>
              <a:t> </a:t>
            </a:r>
            <a:r>
              <a:rPr lang="ru-RU" dirty="0" err="1"/>
              <a:t>безопасност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Политика, основана на </a:t>
            </a:r>
            <a:r>
              <a:rPr lang="ru-RU" i="1" dirty="0"/>
              <a:t>Vision Zero</a:t>
            </a:r>
            <a:r>
              <a:rPr lang="ru-RU" dirty="0"/>
              <a:t> – </a:t>
            </a:r>
            <a:r>
              <a:rPr lang="ru-RU" dirty="0" err="1"/>
              <a:t>нулева</a:t>
            </a:r>
            <a:r>
              <a:rPr lang="ru-RU" dirty="0"/>
              <a:t> </a:t>
            </a:r>
            <a:r>
              <a:rPr lang="ru-RU" dirty="0" err="1"/>
              <a:t>смъртност</a:t>
            </a:r>
            <a:r>
              <a:rPr lang="ru-RU" dirty="0"/>
              <a:t> по </a:t>
            </a:r>
            <a:r>
              <a:rPr lang="ru-RU" dirty="0" err="1"/>
              <a:t>пътищата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</a:t>
            </a:r>
            <a:r>
              <a:rPr lang="ru-RU" dirty="0" err="1"/>
              <a:t>Учебният</a:t>
            </a:r>
            <a:r>
              <a:rPr lang="ru-RU" dirty="0"/>
              <a:t> план за категория B е </a:t>
            </a:r>
            <a:r>
              <a:rPr lang="ru-RU" dirty="0" err="1"/>
              <a:t>разработен</a:t>
            </a:r>
            <a:r>
              <a:rPr lang="ru-RU" dirty="0"/>
              <a:t> от </a:t>
            </a:r>
            <a:r>
              <a:rPr lang="ru-RU" b="1" dirty="0" err="1"/>
              <a:t>Statens</a:t>
            </a:r>
            <a:r>
              <a:rPr lang="ru-RU" b="1" dirty="0"/>
              <a:t> </a:t>
            </a:r>
            <a:r>
              <a:rPr lang="ru-RU" b="1" dirty="0" err="1"/>
              <a:t>vegvesen</a:t>
            </a:r>
            <a:endParaRPr lang="ru-RU" b="1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</a:t>
            </a:r>
            <a:r>
              <a:rPr lang="ru-RU" dirty="0" err="1"/>
              <a:t>Интегрира</a:t>
            </a:r>
            <a:r>
              <a:rPr lang="ru-RU" dirty="0"/>
              <a:t> теория, практика, анализ на риска и саморефлексия</a:t>
            </a:r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</a:t>
            </a:r>
            <a:r>
              <a:rPr lang="ru-RU" dirty="0" err="1"/>
              <a:t>Моделът</a:t>
            </a:r>
            <a:r>
              <a:rPr lang="ru-RU" dirty="0"/>
              <a:t> служи </a:t>
            </a:r>
            <a:r>
              <a:rPr lang="ru-RU" dirty="0" err="1"/>
              <a:t>като</a:t>
            </a:r>
            <a:r>
              <a:rPr lang="ru-RU" dirty="0"/>
              <a:t> ориентир за </a:t>
            </a:r>
            <a:r>
              <a:rPr lang="ru-RU" dirty="0" err="1"/>
              <a:t>други</a:t>
            </a:r>
            <a:r>
              <a:rPr lang="ru-RU" dirty="0"/>
              <a:t> </a:t>
            </a:r>
            <a:r>
              <a:rPr lang="ru-RU" dirty="0" err="1"/>
              <a:t>държави</a:t>
            </a:r>
            <a:r>
              <a:rPr lang="ru-RU" dirty="0"/>
              <a:t>, </a:t>
            </a:r>
            <a:r>
              <a:rPr lang="ru-RU" dirty="0" err="1"/>
              <a:t>включително</a:t>
            </a:r>
            <a:r>
              <a:rPr lang="ru-RU" dirty="0"/>
              <a:t> </a:t>
            </a:r>
            <a:r>
              <a:rPr lang="ru-RU" dirty="0" err="1"/>
              <a:t>България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81294-612A-CF70-ABCC-DA556F0C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C719-9B2B-C8BC-4AEA-D2EF6B41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b="1" dirty="0"/>
              <a:t>Нормативна рамка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9E4BB-ED8C-AFBC-DA6D-FB6BAF853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2032544"/>
            <a:ext cx="3749041" cy="4023360"/>
          </a:xfrm>
        </p:spPr>
        <p:txBody>
          <a:bodyPr>
            <a:normAutofit/>
          </a:bodyPr>
          <a:lstStyle/>
          <a:p>
            <a:r>
              <a:rPr lang="ru-RU" dirty="0"/>
              <a:t> </a:t>
            </a:r>
            <a:r>
              <a:rPr lang="ru-RU" b="1" dirty="0" err="1"/>
              <a:t>Основни</a:t>
            </a:r>
            <a:r>
              <a:rPr lang="ru-RU" b="1" dirty="0"/>
              <a:t> </a:t>
            </a:r>
            <a:r>
              <a:rPr lang="ru-RU" b="1" dirty="0" err="1"/>
              <a:t>документи</a:t>
            </a:r>
            <a:r>
              <a:rPr lang="ru-RU" b="1" dirty="0"/>
              <a:t>:</a:t>
            </a:r>
            <a:endParaRPr lang="ru-RU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 </a:t>
            </a:r>
            <a:r>
              <a:rPr lang="ru-RU" dirty="0" err="1"/>
              <a:t>Учебен</a:t>
            </a:r>
            <a:r>
              <a:rPr lang="ru-RU" dirty="0"/>
              <a:t> план за категория B (</a:t>
            </a:r>
            <a:r>
              <a:rPr lang="ru-RU" dirty="0" err="1"/>
              <a:t>Læreplan</a:t>
            </a:r>
            <a:r>
              <a:rPr lang="ru-RU" dirty="0"/>
              <a:t> klasse B)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 Регламент за обучение на </a:t>
            </a:r>
            <a:r>
              <a:rPr lang="ru-RU" dirty="0" err="1"/>
              <a:t>водачи</a:t>
            </a:r>
            <a:r>
              <a:rPr lang="ru-RU" dirty="0"/>
              <a:t> (</a:t>
            </a:r>
            <a:r>
              <a:rPr lang="ru-RU" dirty="0" err="1"/>
              <a:t>Trafikkopplæringsforskriften</a:t>
            </a:r>
            <a:r>
              <a:rPr lang="ru-RU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 </a:t>
            </a:r>
            <a:r>
              <a:rPr lang="ru-RU" dirty="0" err="1"/>
              <a:t>Национална</a:t>
            </a:r>
            <a:r>
              <a:rPr lang="ru-RU" dirty="0"/>
              <a:t> стратегия за </a:t>
            </a:r>
            <a:r>
              <a:rPr lang="ru-RU" dirty="0" err="1"/>
              <a:t>пътна</a:t>
            </a:r>
            <a:r>
              <a:rPr lang="ru-RU" dirty="0"/>
              <a:t> </a:t>
            </a:r>
            <a:r>
              <a:rPr lang="ru-RU" dirty="0" err="1"/>
              <a:t>безопасност</a:t>
            </a: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069609-61E3-2C98-773F-D1B13B982EC9}"/>
              </a:ext>
            </a:extLst>
          </p:cNvPr>
          <p:cNvSpPr txBox="1">
            <a:spLocks/>
          </p:cNvSpPr>
          <p:nvPr/>
        </p:nvSpPr>
        <p:spPr>
          <a:xfrm>
            <a:off x="4741123" y="2034730"/>
            <a:ext cx="374904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b="1" dirty="0"/>
              <a:t>Философия на </a:t>
            </a:r>
            <a:r>
              <a:rPr lang="ru-RU" b="1" dirty="0" err="1"/>
              <a:t>обучението</a:t>
            </a:r>
            <a:r>
              <a:rPr lang="ru-RU" b="1" dirty="0"/>
              <a:t>:</a:t>
            </a:r>
            <a:endParaRPr lang="ru-RU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 GDE </a:t>
            </a:r>
            <a:r>
              <a:rPr lang="ru-RU" dirty="0" err="1"/>
              <a:t>модел</a:t>
            </a:r>
            <a:r>
              <a:rPr lang="ru-RU" dirty="0"/>
              <a:t> – умения, тактика, цели, </a:t>
            </a:r>
            <a:r>
              <a:rPr lang="ru-RU" dirty="0" err="1"/>
              <a:t>личност</a:t>
            </a:r>
            <a:r>
              <a:rPr lang="ru-RU" dirty="0"/>
              <a:t>, </a:t>
            </a:r>
            <a:r>
              <a:rPr lang="ru-RU" dirty="0" err="1"/>
              <a:t>отговорност</a:t>
            </a:r>
            <a:endParaRPr lang="ru-RU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 Активно </a:t>
            </a:r>
            <a:r>
              <a:rPr lang="ru-RU" dirty="0" err="1"/>
              <a:t>учене</a:t>
            </a:r>
            <a:endParaRPr lang="ru-RU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 Саморефлексия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 Обучение в </a:t>
            </a:r>
            <a:r>
              <a:rPr lang="ru-RU" dirty="0" err="1"/>
              <a:t>реални</a:t>
            </a:r>
            <a:r>
              <a:rPr lang="ru-RU" dirty="0"/>
              <a:t> условия</a:t>
            </a:r>
          </a:p>
        </p:txBody>
      </p:sp>
    </p:spTree>
    <p:extLst>
      <p:ext uri="{BB962C8B-B14F-4D97-AF65-F5344CB8AC3E}">
        <p14:creationId xmlns:p14="http://schemas.microsoft.com/office/powerpoint/2010/main" val="26105066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A797-C832-DE45-FE28-4BEECC24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391E-F1B1-2ACE-DB58-D7A859BF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b="1" dirty="0"/>
              <a:t>Основни принципи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0BB64-DA8B-4687-1D33-3CE480706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b="1" dirty="0"/>
              <a:t> </a:t>
            </a:r>
            <a:r>
              <a:rPr lang="bg-BG" b="1" dirty="0" err="1"/>
              <a:t>Поетапност</a:t>
            </a:r>
            <a:r>
              <a:rPr lang="bg-BG" dirty="0"/>
              <a:t> – 4 задължителни етапа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ru-RU" b="1" dirty="0"/>
              <a:t>Интеграция</a:t>
            </a:r>
            <a:r>
              <a:rPr lang="ru-RU" dirty="0"/>
              <a:t> между теория и практика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ru-RU" b="1" dirty="0"/>
              <a:t>Фокус </a:t>
            </a:r>
            <a:r>
              <a:rPr lang="ru-RU" b="1" dirty="0" err="1"/>
              <a:t>върху</a:t>
            </a:r>
            <a:r>
              <a:rPr lang="ru-RU" b="1" dirty="0"/>
              <a:t> риска</a:t>
            </a:r>
            <a:r>
              <a:rPr lang="ru-RU" dirty="0"/>
              <a:t> – </a:t>
            </a:r>
            <a:r>
              <a:rPr lang="ru-RU" dirty="0" err="1"/>
              <a:t>разпознаване</a:t>
            </a:r>
            <a:r>
              <a:rPr lang="ru-RU" dirty="0"/>
              <a:t>, </a:t>
            </a:r>
            <a:r>
              <a:rPr lang="ru-RU" dirty="0" err="1"/>
              <a:t>предвиждане</a:t>
            </a:r>
            <a:r>
              <a:rPr lang="ru-RU" dirty="0"/>
              <a:t>, анализ</a:t>
            </a:r>
            <a:endParaRPr lang="ru-RU" b="1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ru-RU" b="1" dirty="0" err="1"/>
              <a:t>Самостоятелност</a:t>
            </a:r>
            <a:r>
              <a:rPr lang="ru-RU" dirty="0"/>
              <a:t> – </a:t>
            </a:r>
            <a:r>
              <a:rPr lang="ru-RU" dirty="0" err="1"/>
              <a:t>инструкторът</a:t>
            </a:r>
            <a:r>
              <a:rPr lang="ru-RU" dirty="0"/>
              <a:t> е фасилитатор, не </a:t>
            </a:r>
            <a:r>
              <a:rPr lang="ru-RU" dirty="0" err="1"/>
              <a:t>командващ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396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F89BA-2075-A093-9A1E-308419852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D557-D762-5D4A-8BDD-8B29C6C1F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err="1"/>
              <a:t>Етап</a:t>
            </a:r>
            <a:r>
              <a:rPr lang="ru-RU" sz="4000" b="1" dirty="0"/>
              <a:t> 1 </a:t>
            </a:r>
            <a:br>
              <a:rPr lang="ru-RU" sz="4000" b="1" dirty="0"/>
            </a:br>
            <a:r>
              <a:rPr lang="ru-RU" sz="4000" b="1" dirty="0" err="1"/>
              <a:t>Основно</a:t>
            </a:r>
            <a:r>
              <a:rPr lang="ru-RU" sz="4000" b="1" dirty="0"/>
              <a:t> обучение (</a:t>
            </a:r>
            <a:r>
              <a:rPr lang="ru-RU" sz="4000" b="1" dirty="0" err="1"/>
              <a:t>Grunnkurs</a:t>
            </a:r>
            <a:r>
              <a:rPr lang="ru-RU" sz="4000" b="1" dirty="0"/>
              <a:t>)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13E6C-CD43-D1BE-58B6-595AE4B8B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4673273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bg-BG" b="1" dirty="0"/>
              <a:t> </a:t>
            </a:r>
            <a:r>
              <a:rPr lang="ru-RU" dirty="0" err="1"/>
              <a:t>Ролята</a:t>
            </a:r>
            <a:r>
              <a:rPr lang="ru-RU" dirty="0"/>
              <a:t> на </a:t>
            </a:r>
            <a:r>
              <a:rPr lang="ru-RU" dirty="0" err="1"/>
              <a:t>водача</a:t>
            </a:r>
            <a:r>
              <a:rPr lang="ru-RU" dirty="0"/>
              <a:t> в </a:t>
            </a:r>
            <a:r>
              <a:rPr lang="ru-RU" dirty="0" err="1"/>
              <a:t>обществото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bg-BG" dirty="0"/>
              <a:t>Основи на безопасността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bg-BG" dirty="0"/>
              <a:t>Психология на поведението</a:t>
            </a:r>
            <a:endParaRPr lang="ru-RU" b="1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Влияние на </a:t>
            </a:r>
            <a:r>
              <a:rPr lang="ru-RU" dirty="0" err="1"/>
              <a:t>алкохол</a:t>
            </a:r>
            <a:r>
              <a:rPr lang="ru-RU" dirty="0"/>
              <a:t>, умора, </a:t>
            </a:r>
            <a:r>
              <a:rPr lang="ru-RU" dirty="0" err="1"/>
              <a:t>емоции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Взаимодействие между </a:t>
            </a:r>
            <a:r>
              <a:rPr lang="ru-RU" dirty="0" err="1"/>
              <a:t>участниците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EC364C-D45E-AC27-D662-0D2F52F3A251}"/>
              </a:ext>
            </a:extLst>
          </p:cNvPr>
          <p:cNvSpPr txBox="1"/>
          <p:nvPr/>
        </p:nvSpPr>
        <p:spPr>
          <a:xfrm>
            <a:off x="5496232" y="2751603"/>
            <a:ext cx="345112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Цел:</a:t>
            </a:r>
            <a:r>
              <a:rPr lang="ru-RU" sz="3200" dirty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ru-RU" sz="3200" dirty="0" err="1">
                <a:solidFill>
                  <a:srgbClr val="C00000"/>
                </a:solidFill>
              </a:rPr>
              <a:t>Осъзнаване</a:t>
            </a:r>
            <a:r>
              <a:rPr lang="ru-RU" sz="3200" dirty="0">
                <a:solidFill>
                  <a:srgbClr val="C00000"/>
                </a:solidFill>
              </a:rPr>
              <a:t> на </a:t>
            </a:r>
            <a:r>
              <a:rPr lang="ru-RU" sz="3200" dirty="0" err="1">
                <a:solidFill>
                  <a:srgbClr val="C00000"/>
                </a:solidFill>
              </a:rPr>
              <a:t>отговорността</a:t>
            </a:r>
            <a:r>
              <a:rPr lang="ru-RU" sz="3200" dirty="0">
                <a:solidFill>
                  <a:srgbClr val="C00000"/>
                </a:solidFill>
              </a:rPr>
              <a:t> при управление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73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9D87B-7869-5F18-1528-F316AD605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41BA-1309-0A6B-5322-9E3AE6A1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err="1"/>
              <a:t>Етап</a:t>
            </a:r>
            <a:r>
              <a:rPr lang="ru-RU" sz="4000" b="1" dirty="0"/>
              <a:t> 2 </a:t>
            </a:r>
            <a:br>
              <a:rPr lang="ru-RU" sz="4000" b="1" dirty="0"/>
            </a:br>
            <a:r>
              <a:rPr lang="bg-BG" sz="4000" b="1" dirty="0"/>
              <a:t>Основни умения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FE724-9B65-21B0-7921-6987FED1E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4673273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bg-BG" b="1" dirty="0"/>
              <a:t> </a:t>
            </a:r>
            <a:r>
              <a:rPr lang="bg-BG" dirty="0"/>
              <a:t>Управление при ниска скорост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Работа с педали и </a:t>
            </a:r>
            <a:r>
              <a:rPr lang="ru-RU" dirty="0" err="1"/>
              <a:t>скоростна</a:t>
            </a:r>
            <a:r>
              <a:rPr lang="ru-RU" dirty="0"/>
              <a:t> </a:t>
            </a:r>
            <a:r>
              <a:rPr lang="ru-RU" dirty="0" err="1"/>
              <a:t>кутия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bg-BG" dirty="0"/>
              <a:t>Позициониране на пътя</a:t>
            </a:r>
            <a:endParaRPr lang="ru-RU" b="1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bg-BG" dirty="0"/>
              <a:t>Маневри: паркиране, завиване, наклон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dirty="0"/>
              <a:t> Наблюдение и ориентация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F6C70-9E92-5EED-BB07-3C374B9045ED}"/>
              </a:ext>
            </a:extLst>
          </p:cNvPr>
          <p:cNvSpPr txBox="1"/>
          <p:nvPr/>
        </p:nvSpPr>
        <p:spPr>
          <a:xfrm>
            <a:off x="5496232" y="2751603"/>
            <a:ext cx="345112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Цел:</a:t>
            </a:r>
            <a:r>
              <a:rPr lang="ru-RU" sz="3200" dirty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ru-RU" sz="3200" dirty="0" err="1">
                <a:solidFill>
                  <a:srgbClr val="C00000"/>
                </a:solidFill>
              </a:rPr>
              <a:t>Развиване</a:t>
            </a:r>
            <a:r>
              <a:rPr lang="ru-RU" sz="3200" dirty="0">
                <a:solidFill>
                  <a:srgbClr val="C00000"/>
                </a:solidFill>
              </a:rPr>
              <a:t> на технически умения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17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37E3E-92B4-F4A9-A516-9D330B34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0745-8BEB-DC05-0BE3-A9AB19C6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err="1"/>
              <a:t>Етап</a:t>
            </a:r>
            <a:r>
              <a:rPr lang="ru-RU" sz="4000" b="1" dirty="0"/>
              <a:t> 3 </a:t>
            </a:r>
            <a:br>
              <a:rPr lang="ru-RU" sz="4000" b="1" dirty="0"/>
            </a:br>
            <a:r>
              <a:rPr lang="bg-BG" sz="4000" b="1" dirty="0"/>
              <a:t>Пътна среда и взаимодействие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FCE6D-B437-2CB7-0C37-10F5588E5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4673273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bg-BG" sz="2100" b="1" dirty="0"/>
              <a:t> </a:t>
            </a:r>
            <a:r>
              <a:rPr lang="en-US" sz="2100" dirty="0" err="1"/>
              <a:t>движение</a:t>
            </a:r>
            <a:r>
              <a:rPr lang="en-US" sz="2100" dirty="0"/>
              <a:t> в </a:t>
            </a:r>
            <a:r>
              <a:rPr lang="en-US" sz="2100" dirty="0" err="1"/>
              <a:t>градска</a:t>
            </a:r>
            <a:r>
              <a:rPr lang="en-US" sz="2100" dirty="0"/>
              <a:t> </a:t>
            </a:r>
            <a:r>
              <a:rPr lang="en-US" sz="2100" dirty="0" err="1"/>
              <a:t>среда</a:t>
            </a:r>
            <a:endParaRPr lang="bg-BG" sz="21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bg-BG" sz="2100" dirty="0"/>
              <a:t> кръгови кръстовища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100" dirty="0"/>
              <a:t> взаимодействие с </a:t>
            </a:r>
            <a:r>
              <a:rPr lang="ru-RU" sz="2100" dirty="0" err="1"/>
              <a:t>пешеходци</a:t>
            </a:r>
            <a:r>
              <a:rPr lang="ru-RU" sz="2100" dirty="0"/>
              <a:t>, </a:t>
            </a:r>
            <a:r>
              <a:rPr lang="ru-RU" sz="2100" dirty="0" err="1"/>
              <a:t>велосипедисти</a:t>
            </a:r>
            <a:r>
              <a:rPr lang="ru-RU" sz="2100" dirty="0"/>
              <a:t>, </a:t>
            </a:r>
            <a:r>
              <a:rPr lang="ru-RU" sz="2100" dirty="0" err="1"/>
              <a:t>мотоциклетисти</a:t>
            </a:r>
            <a:endParaRPr lang="ru-RU" sz="2100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bg-BG" dirty="0"/>
              <a:t>Магистрали и скоростни пътища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Адаптация </a:t>
            </a:r>
            <a:r>
              <a:rPr lang="ru-RU" dirty="0" err="1"/>
              <a:t>към</a:t>
            </a:r>
            <a:r>
              <a:rPr lang="ru-RU" dirty="0"/>
              <a:t> условия: </a:t>
            </a:r>
            <a:r>
              <a:rPr lang="ru-RU" dirty="0" err="1"/>
              <a:t>дъжд</a:t>
            </a:r>
            <a:r>
              <a:rPr lang="ru-RU" dirty="0"/>
              <a:t>, </a:t>
            </a:r>
            <a:r>
              <a:rPr lang="ru-RU" dirty="0" err="1"/>
              <a:t>сняг</a:t>
            </a:r>
            <a:r>
              <a:rPr lang="ru-RU" dirty="0"/>
              <a:t>, трафик</a:t>
            </a:r>
            <a:endParaRPr lang="ru-RU" b="1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ru-RU" dirty="0" err="1"/>
              <a:t>Вземане</a:t>
            </a:r>
            <a:r>
              <a:rPr lang="ru-RU" dirty="0"/>
              <a:t> на решения в динамична среда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B8E0B-1DA3-CA60-CAA6-63CF1D937373}"/>
              </a:ext>
            </a:extLst>
          </p:cNvPr>
          <p:cNvSpPr txBox="1"/>
          <p:nvPr/>
        </p:nvSpPr>
        <p:spPr>
          <a:xfrm>
            <a:off x="5496232" y="2751603"/>
            <a:ext cx="345112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Цел:</a:t>
            </a:r>
            <a:r>
              <a:rPr lang="ru-RU" sz="3200" dirty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ru-RU" sz="3200" dirty="0">
                <a:solidFill>
                  <a:srgbClr val="C00000"/>
                </a:solidFill>
              </a:rPr>
              <a:t>Анализ на риска, </a:t>
            </a:r>
            <a:r>
              <a:rPr lang="ru-RU" sz="3200" dirty="0" err="1">
                <a:solidFill>
                  <a:srgbClr val="C00000"/>
                </a:solidFill>
              </a:rPr>
              <a:t>предвиждане</a:t>
            </a:r>
            <a:r>
              <a:rPr lang="ru-RU" sz="3200" dirty="0">
                <a:solidFill>
                  <a:srgbClr val="C00000"/>
                </a:solidFill>
              </a:rPr>
              <a:t> и </a:t>
            </a:r>
            <a:r>
              <a:rPr lang="ru-RU" sz="3200" dirty="0" err="1">
                <a:solidFill>
                  <a:srgbClr val="C00000"/>
                </a:solidFill>
              </a:rPr>
              <a:t>съобразяване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36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86C5-A9A1-F4E4-3C22-5528A054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B5AF7-6CCD-1D29-527D-1BF12D24F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err="1"/>
              <a:t>Етап</a:t>
            </a:r>
            <a:r>
              <a:rPr lang="ru-RU" sz="4000" b="1" dirty="0"/>
              <a:t> 4 </a:t>
            </a:r>
            <a:br>
              <a:rPr lang="ru-RU" sz="4000" b="1" dirty="0"/>
            </a:br>
            <a:r>
              <a:rPr lang="nb-NO" sz="4000" b="1" dirty="0"/>
              <a:t>Завършващо обучение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2E438-57E5-756F-244F-DCFCA3BC5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3749041" cy="4023360"/>
          </a:xfrm>
        </p:spPr>
        <p:txBody>
          <a:bodyPr>
            <a:normAutofit/>
          </a:bodyPr>
          <a:lstStyle/>
          <a:p>
            <a:pPr algn="ctr"/>
            <a:r>
              <a:rPr lang="bg-BG" sz="2100" b="1" dirty="0"/>
              <a:t> </a:t>
            </a:r>
            <a:r>
              <a:rPr lang="ru-RU" sz="2400" b="1" dirty="0"/>
              <a:t>Теория</a:t>
            </a:r>
          </a:p>
          <a:p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Анализ на риска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Поведение и </a:t>
            </a:r>
            <a:r>
              <a:rPr lang="ru-RU" sz="2400" dirty="0" err="1"/>
              <a:t>отговорност</a:t>
            </a: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Самооценка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A2475A-7DCE-6CB3-DC9D-E8167E001F79}"/>
              </a:ext>
            </a:extLst>
          </p:cNvPr>
          <p:cNvSpPr txBox="1">
            <a:spLocks/>
          </p:cNvSpPr>
          <p:nvPr/>
        </p:nvSpPr>
        <p:spPr>
          <a:xfrm>
            <a:off x="4886629" y="1845734"/>
            <a:ext cx="3749041" cy="402336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2100" b="1" dirty="0"/>
              <a:t> </a:t>
            </a:r>
            <a:r>
              <a:rPr lang="ru-RU" sz="2400" b="1" dirty="0"/>
              <a:t>Практика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</a:t>
            </a:r>
            <a:r>
              <a:rPr lang="ru-RU" sz="2400" dirty="0" err="1"/>
              <a:t>Дълъг</a:t>
            </a:r>
            <a:r>
              <a:rPr lang="ru-RU" sz="2400" dirty="0"/>
              <a:t> </a:t>
            </a:r>
            <a:r>
              <a:rPr lang="ru-RU" sz="2400" dirty="0" err="1"/>
              <a:t>извънградски</a:t>
            </a:r>
            <a:r>
              <a:rPr lang="ru-RU" sz="2400" dirty="0"/>
              <a:t> курс (мин. 5 часа)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</a:t>
            </a:r>
            <a:r>
              <a:rPr lang="bg-BG" sz="2400" dirty="0"/>
              <a:t>Високи скорости</a:t>
            </a:r>
          </a:p>
          <a:p>
            <a:pPr marL="0" indent="0">
              <a:buNone/>
            </a:pPr>
            <a:endParaRPr lang="bg-BG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 Нощно шофиране</a:t>
            </a: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</a:t>
            </a:r>
            <a:r>
              <a:rPr lang="bg-BG" sz="2400" dirty="0"/>
              <a:t>Зимно шофиране</a:t>
            </a: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660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662A-F155-A5F6-4073-9167548C3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B058-72A4-43E1-4A9D-C7423704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ru-RU" sz="4000" b="1" dirty="0"/>
            </a:br>
            <a:r>
              <a:rPr lang="bg-BG" sz="4000" b="1" dirty="0"/>
              <a:t>Оценяване и изпити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31D77-1FEC-2389-D392-3FDD58EE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3749041" cy="4023360"/>
          </a:xfrm>
        </p:spPr>
        <p:txBody>
          <a:bodyPr>
            <a:normAutofit/>
          </a:bodyPr>
          <a:lstStyle/>
          <a:p>
            <a:pPr algn="ctr"/>
            <a:r>
              <a:rPr lang="bg-BG" sz="2100" b="1" dirty="0"/>
              <a:t> </a:t>
            </a:r>
            <a:r>
              <a:rPr lang="bg-BG" sz="2400" u="sng" dirty="0"/>
              <a:t>Теоретичен изпит</a:t>
            </a:r>
            <a:endParaRPr lang="ru-RU" sz="2400" b="1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</a:t>
            </a:r>
            <a:r>
              <a:rPr lang="bg-BG" sz="2400" dirty="0"/>
              <a:t>Правила</a:t>
            </a:r>
          </a:p>
          <a:p>
            <a:pPr>
              <a:buFont typeface="Wingdings" panose="05000000000000000000" pitchFamily="2" charset="2"/>
              <a:buChar char="Ø"/>
            </a:pPr>
            <a:endParaRPr lang="bg-BG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 Анализ на ситуации</a:t>
            </a: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</a:t>
            </a:r>
            <a:r>
              <a:rPr lang="bg-BG" sz="2400" dirty="0"/>
              <a:t>Оценка на риска</a:t>
            </a: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</a:t>
            </a:r>
            <a:r>
              <a:rPr lang="bg-BG" sz="2400" dirty="0"/>
              <a:t>Поведенчески сценарии</a:t>
            </a: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562DC3-315F-AE8A-B03B-5B97AA996EEF}"/>
              </a:ext>
            </a:extLst>
          </p:cNvPr>
          <p:cNvSpPr txBox="1">
            <a:spLocks/>
          </p:cNvSpPr>
          <p:nvPr/>
        </p:nvSpPr>
        <p:spPr>
          <a:xfrm>
            <a:off x="4886629" y="1845734"/>
            <a:ext cx="374904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2100" b="1" dirty="0"/>
              <a:t> </a:t>
            </a:r>
            <a:r>
              <a:rPr lang="bg-BG" sz="2400" u="sng" dirty="0"/>
              <a:t>Практически изпит</a:t>
            </a:r>
            <a:endParaRPr lang="ru-RU" sz="2400" b="1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</a:t>
            </a:r>
            <a:r>
              <a:rPr lang="bg-BG" sz="2400" dirty="0"/>
              <a:t>Наблюдение и предвиждане</a:t>
            </a: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</a:t>
            </a:r>
            <a:r>
              <a:rPr lang="bg-BG" sz="2400" dirty="0"/>
              <a:t>Взаимодействие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 Управление при различни условия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 Самостоятелност</a:t>
            </a: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 </a:t>
            </a:r>
            <a:r>
              <a:rPr lang="bg-BG" sz="2400" dirty="0"/>
              <a:t>Плавност и безопасност</a:t>
            </a: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258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7EC05-628A-9456-E1D0-325BA890F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64C7-56E7-3EAA-178E-8F183519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b="1" dirty="0"/>
              <a:t>Ефективност на модела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3F936-EAF5-8211-6FD6-11FFD682E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b="1" dirty="0"/>
              <a:t> </a:t>
            </a:r>
            <a:r>
              <a:rPr lang="ru-RU" dirty="0"/>
              <a:t>Норвегия е сред </a:t>
            </a:r>
            <a:r>
              <a:rPr lang="ru-RU" dirty="0" err="1"/>
              <a:t>лидерите</a:t>
            </a:r>
            <a:r>
              <a:rPr lang="ru-RU" dirty="0"/>
              <a:t> по </a:t>
            </a:r>
            <a:r>
              <a:rPr lang="ru-RU" dirty="0" err="1"/>
              <a:t>пътна</a:t>
            </a:r>
            <a:r>
              <a:rPr lang="ru-RU" dirty="0"/>
              <a:t> </a:t>
            </a:r>
            <a:r>
              <a:rPr lang="ru-RU" dirty="0" err="1"/>
              <a:t>безопасност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ru-RU" dirty="0" err="1"/>
              <a:t>Рискът</a:t>
            </a:r>
            <a:r>
              <a:rPr lang="ru-RU" dirty="0"/>
              <a:t> от </a:t>
            </a:r>
            <a:r>
              <a:rPr lang="ru-RU" dirty="0" err="1"/>
              <a:t>тежки</a:t>
            </a:r>
            <a:r>
              <a:rPr lang="ru-RU" dirty="0"/>
              <a:t> </a:t>
            </a:r>
            <a:r>
              <a:rPr lang="ru-RU" dirty="0" err="1"/>
              <a:t>инциденти</a:t>
            </a:r>
            <a:r>
              <a:rPr lang="ru-RU" dirty="0"/>
              <a:t> </a:t>
            </a:r>
            <a:r>
              <a:rPr lang="ru-RU" dirty="0" err="1"/>
              <a:t>намалява</a:t>
            </a:r>
            <a:r>
              <a:rPr lang="ru-RU" dirty="0"/>
              <a:t> с над 40% след </a:t>
            </a:r>
            <a:r>
              <a:rPr lang="ru-RU" dirty="0" err="1"/>
              <a:t>обучението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ru-RU" dirty="0" err="1"/>
              <a:t>Младите</a:t>
            </a:r>
            <a:r>
              <a:rPr lang="ru-RU" dirty="0"/>
              <a:t> </a:t>
            </a:r>
            <a:r>
              <a:rPr lang="ru-RU" dirty="0" err="1"/>
              <a:t>водачи</a:t>
            </a:r>
            <a:r>
              <a:rPr lang="ru-RU" dirty="0"/>
              <a:t> </a:t>
            </a:r>
            <a:r>
              <a:rPr lang="ru-RU" dirty="0" err="1"/>
              <a:t>участват</a:t>
            </a:r>
            <a:r>
              <a:rPr lang="ru-RU" dirty="0"/>
              <a:t> в </a:t>
            </a:r>
            <a:r>
              <a:rPr lang="ru-RU" dirty="0" err="1"/>
              <a:t>значително</a:t>
            </a:r>
            <a:r>
              <a:rPr lang="ru-RU" dirty="0"/>
              <a:t> </a:t>
            </a:r>
            <a:r>
              <a:rPr lang="ru-RU" dirty="0" err="1"/>
              <a:t>по-малко</a:t>
            </a:r>
            <a:r>
              <a:rPr lang="ru-RU" dirty="0"/>
              <a:t> ПТП</a:t>
            </a:r>
            <a:endParaRPr lang="ru-RU" b="1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bg-BG" dirty="0"/>
              <a:t>По-висока самодисциплина и осъзнатост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241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Сравненителен</a:t>
            </a:r>
            <a:r>
              <a:rPr lang="bg-BG" dirty="0"/>
              <a:t> анализ </a:t>
            </a:r>
            <a:br>
              <a:rPr lang="bg-BG" dirty="0"/>
            </a:br>
            <a:r>
              <a:rPr lang="bg-BG" b="1" dirty="0"/>
              <a:t>Норвегия </a:t>
            </a:r>
            <a:r>
              <a:rPr lang="en-US" b="1" dirty="0"/>
              <a:t>vs. </a:t>
            </a:r>
            <a:r>
              <a:rPr lang="bg-BG" b="1" dirty="0"/>
              <a:t>България</a:t>
            </a:r>
            <a:endParaRPr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D00610-BCD2-8AB2-1491-2E64880375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572827"/>
              </p:ext>
            </p:extLst>
          </p:nvPr>
        </p:nvGraphicFramePr>
        <p:xfrm>
          <a:off x="0" y="1753777"/>
          <a:ext cx="9144001" cy="4679828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2219516">
                  <a:extLst>
                    <a:ext uri="{9D8B030D-6E8A-4147-A177-3AD203B41FA5}">
                      <a16:colId xmlns:a16="http://schemas.microsoft.com/office/drawing/2014/main" val="3399253866"/>
                    </a:ext>
                  </a:extLst>
                </a:gridCol>
                <a:gridCol w="3446900">
                  <a:extLst>
                    <a:ext uri="{9D8B030D-6E8A-4147-A177-3AD203B41FA5}">
                      <a16:colId xmlns:a16="http://schemas.microsoft.com/office/drawing/2014/main" val="690049614"/>
                    </a:ext>
                  </a:extLst>
                </a:gridCol>
                <a:gridCol w="3477585">
                  <a:extLst>
                    <a:ext uri="{9D8B030D-6E8A-4147-A177-3AD203B41FA5}">
                      <a16:colId xmlns:a16="http://schemas.microsoft.com/office/drawing/2014/main" val="913904292"/>
                    </a:ext>
                  </a:extLst>
                </a:gridCol>
              </a:tblGrid>
              <a:tr h="1270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400" kern="100" cap="all" dirty="0">
                          <a:effectLst/>
                        </a:rPr>
                        <a:t>Критерий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400" kern="100" cap="all">
                          <a:effectLst/>
                        </a:rPr>
                        <a:t>Норвегия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400" kern="100" cap="all">
                          <a:effectLst/>
                        </a:rPr>
                        <a:t>България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1450038295"/>
                  </a:ext>
                </a:extLst>
              </a:tr>
              <a:tr h="491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400" kern="100" cap="all" dirty="0">
                          <a:effectLst/>
                        </a:rPr>
                        <a:t>Нормативна рамка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400" kern="100" dirty="0">
                          <a:effectLst/>
                        </a:rPr>
                        <a:t>Централизиран учебен план, разработен от </a:t>
                      </a:r>
                      <a:r>
                        <a:rPr lang="bg-BG" sz="1400" kern="100" dirty="0" err="1">
                          <a:effectLst/>
                        </a:rPr>
                        <a:t>Statens</a:t>
                      </a:r>
                      <a:r>
                        <a:rPr lang="bg-BG" sz="1400" kern="100" dirty="0">
                          <a:effectLst/>
                        </a:rPr>
                        <a:t> </a:t>
                      </a:r>
                      <a:r>
                        <a:rPr lang="bg-BG" sz="1400" kern="100" dirty="0" err="1">
                          <a:effectLst/>
                        </a:rPr>
                        <a:t>vegvesen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400" kern="100" dirty="0">
                          <a:effectLst/>
                        </a:rPr>
                        <a:t>Учебни програми на МТИТС и ИААА, по-общи и по-малко детайлни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2950579235"/>
                  </a:ext>
                </a:extLst>
              </a:tr>
              <a:tr h="366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cap="all" dirty="0">
                          <a:effectLst/>
                        </a:rPr>
                        <a:t>Философия на обучението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GDE модел, акцент върху риск, поведение и саморефлексия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>
                          <a:effectLst/>
                        </a:rPr>
                        <a:t>Фокус върху технически умения и правила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2913600386"/>
                  </a:ext>
                </a:extLst>
              </a:tr>
              <a:tr h="366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cap="all">
                          <a:effectLst/>
                        </a:rPr>
                        <a:t>Структура на обучението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4 етапа: основи, умения, взаимодействие, безопасност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>
                          <a:effectLst/>
                        </a:rPr>
                        <a:t>Теория + практика, без строго поетапно надграждане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3712078459"/>
                  </a:ext>
                </a:extLst>
              </a:tr>
              <a:tr h="491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cap="all">
                          <a:effectLst/>
                        </a:rPr>
                        <a:t>Задължителни модули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Нощно, зимно, високоскоростно шофиране; дълъг курс по безопасност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>
                          <a:effectLst/>
                        </a:rPr>
                        <a:t>Няма задължително нощно или зимно шофиране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222431621"/>
                  </a:ext>
                </a:extLst>
              </a:tr>
              <a:tr h="2420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cap="all">
                          <a:effectLst/>
                        </a:rPr>
                        <a:t>Продължителност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6–12 месеца, индивидуално обучение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>
                          <a:effectLst/>
                        </a:rPr>
                        <a:t>1–3 месеца, по-кратък курс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1976613168"/>
                  </a:ext>
                </a:extLst>
              </a:tr>
              <a:tr h="366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cap="all">
                          <a:effectLst/>
                        </a:rPr>
                        <a:t>Роля на инструктора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 err="1">
                          <a:effectLst/>
                        </a:rPr>
                        <a:t>Фасилитатор</a:t>
                      </a:r>
                      <a:r>
                        <a:rPr lang="bg-BG" sz="1200" kern="100" dirty="0">
                          <a:effectLst/>
                        </a:rPr>
                        <a:t>, насърчава самостоятелност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>
                          <a:effectLst/>
                        </a:rPr>
                        <a:t>Инструкторът дава указания, по-малко самостоятелност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1074517045"/>
                  </a:ext>
                </a:extLst>
              </a:tr>
              <a:tr h="366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cap="all">
                          <a:effectLst/>
                        </a:rPr>
                        <a:t>Теоретична подготовка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Интегрирана в практиката, анализ на ситуации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Отделни теоретични часове, фокус върху правила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3949458554"/>
                  </a:ext>
                </a:extLst>
              </a:tr>
              <a:tr h="366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cap="all">
                          <a:effectLst/>
                        </a:rPr>
                        <a:t>Практическа подготовка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Реални условия: сняг, тъмнина, магистрали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Основно градско и малко извънградско шофиране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3002977836"/>
                  </a:ext>
                </a:extLst>
              </a:tr>
              <a:tr h="366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cap="all">
                          <a:effectLst/>
                        </a:rPr>
                        <a:t>Изпити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Стандартизирани, оценяват поведение и риск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Теория + практика, по-техническо оценяване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2998855587"/>
                  </a:ext>
                </a:extLst>
              </a:tr>
              <a:tr h="2420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cap="all">
                          <a:effectLst/>
                        </a:rPr>
                        <a:t>Фокус върху риска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>
                          <a:effectLst/>
                        </a:rPr>
                        <a:t>Много силен, включва саморефлексия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Ограничен, основно познаване на правилата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3888944709"/>
                  </a:ext>
                </a:extLst>
              </a:tr>
              <a:tr h="2420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cap="all">
                          <a:effectLst/>
                        </a:rPr>
                        <a:t>Резултати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>
                          <a:effectLst/>
                        </a:rPr>
                        <a:t>Ниска смъртност, висока безопасност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По-висока </a:t>
                      </a:r>
                      <a:r>
                        <a:rPr lang="bg-BG" sz="1200" kern="100" dirty="0" err="1">
                          <a:effectLst/>
                        </a:rPr>
                        <a:t>аварийност</a:t>
                      </a:r>
                      <a:r>
                        <a:rPr lang="bg-BG" sz="1200" kern="100" dirty="0">
                          <a:effectLst/>
                        </a:rPr>
                        <a:t> сред младите водачи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2469524632"/>
                  </a:ext>
                </a:extLst>
              </a:tr>
              <a:tr h="3665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cap="all">
                          <a:effectLst/>
                        </a:rPr>
                        <a:t>Общо ниво на подготовка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>
                          <a:effectLst/>
                        </a:rPr>
                        <a:t>Много високо, ориентирано към безопасност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Добро техническо ниво, по-слабо поведенческо обучение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329" marR="34329" marT="0" marB="0"/>
                </a:tc>
                <a:extLst>
                  <a:ext uri="{0D108BD9-81ED-4DB2-BD59-A6C34878D82A}">
                    <a16:rowId xmlns:a16="http://schemas.microsoft.com/office/drawing/2014/main" val="2688574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463D6-3D7C-B6D2-3336-063BADD0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B2807-25DF-D45D-B9B9-30D467DE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b="1" dirty="0"/>
              <a:t>Заключение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CD950-65EE-D750-CC06-4272BEB51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b="1" dirty="0"/>
              <a:t> </a:t>
            </a:r>
            <a:r>
              <a:rPr lang="ru-RU" dirty="0" err="1"/>
              <a:t>Норвежкият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е научно обоснован и </a:t>
            </a:r>
            <a:r>
              <a:rPr lang="ru-RU" dirty="0" err="1"/>
              <a:t>ориентиран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безопасността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ru-RU" dirty="0" err="1"/>
              <a:t>Комбинира</a:t>
            </a:r>
            <a:r>
              <a:rPr lang="ru-RU" dirty="0"/>
              <a:t> теория, практика, психология и саморефлексия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Доказано </a:t>
            </a:r>
            <a:r>
              <a:rPr lang="ru-RU" dirty="0" err="1"/>
              <a:t>намалява</a:t>
            </a:r>
            <a:r>
              <a:rPr lang="ru-RU" dirty="0"/>
              <a:t> риска и </a:t>
            </a:r>
            <a:r>
              <a:rPr lang="ru-RU" dirty="0" err="1"/>
              <a:t>подобрява</a:t>
            </a:r>
            <a:r>
              <a:rPr lang="ru-RU" dirty="0"/>
              <a:t> </a:t>
            </a:r>
            <a:r>
              <a:rPr lang="ru-RU" dirty="0" err="1"/>
              <a:t>поведението</a:t>
            </a:r>
            <a:r>
              <a:rPr lang="ru-RU" dirty="0"/>
              <a:t> на </a:t>
            </a:r>
            <a:r>
              <a:rPr lang="ru-RU" dirty="0" err="1"/>
              <a:t>водачите</a:t>
            </a:r>
            <a:endParaRPr lang="ru-RU" b="1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ru-RU" dirty="0" err="1"/>
              <a:t>Подходящ</a:t>
            </a:r>
            <a:r>
              <a:rPr lang="ru-RU" dirty="0"/>
              <a:t> за </a:t>
            </a:r>
            <a:r>
              <a:rPr lang="ru-RU" dirty="0" err="1"/>
              <a:t>адаптиране</a:t>
            </a:r>
            <a:r>
              <a:rPr lang="ru-RU" dirty="0"/>
              <a:t> в </a:t>
            </a:r>
            <a:r>
              <a:rPr lang="ru-RU" dirty="0" err="1"/>
              <a:t>България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447581"/>
      </p:ext>
    </p:extLst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3448-790D-DBE0-FBDC-57A33DBB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b="1" dirty="0">
                <a:latin typeface="+mn-lt"/>
              </a:rPr>
              <a:t>Благодаря за вниманието!</a:t>
            </a:r>
            <a:endParaRPr 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0302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102</TotalTime>
  <Words>667</Words>
  <Application>Microsoft Office PowerPoint</Application>
  <PresentationFormat>On-screen Show (4:3)</PresentationFormat>
  <Paragraphs>168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Wingdings</vt:lpstr>
      <vt:lpstr>Retrospect</vt:lpstr>
      <vt:lpstr>Проект „Хермес“:  Обучението за категория B в Норвегия</vt:lpstr>
      <vt:lpstr>Увод и „Vision Zero“</vt:lpstr>
      <vt:lpstr>Нормативна рамка</vt:lpstr>
      <vt:lpstr>Основни принципи</vt:lpstr>
      <vt:lpstr>Етап 1  Основно обучение (Grunnkurs)</vt:lpstr>
      <vt:lpstr>Етап 2  Основни умения</vt:lpstr>
      <vt:lpstr>Етап 3  Пътна среда и взаимодействие</vt:lpstr>
      <vt:lpstr>Етап 4  Завършващо обучение</vt:lpstr>
      <vt:lpstr> Оценяване и изпити</vt:lpstr>
      <vt:lpstr>Ефективност на модела</vt:lpstr>
      <vt:lpstr>Сравненителен анализ  Норвегия vs. България</vt:lpstr>
      <vt:lpstr>Заключение</vt:lpstr>
      <vt:lpstr>Благодаря за вниманието!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Konstantin Todorov</cp:lastModifiedBy>
  <cp:revision>14</cp:revision>
  <dcterms:created xsi:type="dcterms:W3CDTF">2013-01-27T09:14:16Z</dcterms:created>
  <dcterms:modified xsi:type="dcterms:W3CDTF">2026-05-02T09:38:06Z</dcterms:modified>
  <cp:category/>
</cp:coreProperties>
</file>