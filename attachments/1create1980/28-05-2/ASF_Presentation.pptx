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822960"/>
            <a:ext cx="64008" cy="2926080"/>
          </a:xfrm>
          <a:prstGeom prst="rect">
            <a:avLst/>
          </a:prstGeom>
          <a:solidFill>
            <a:srgbClr val="4A9068"/>
          </a:solidFill>
          <a:ln w="12700">
            <a:solidFill>
              <a:srgbClr val="4A90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777240"/>
            <a:ext cx="7955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СЪВЕТИ И ОЦЕНКИ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СПЕЦИФИЧНИ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КЛАСНИ ДЕЙНОСТИ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програмите ASF и ASP — за пътни нарушители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611880"/>
            <a:ext cx="2468880" cy="502920"/>
          </a:xfrm>
          <a:prstGeom prst="rect">
            <a:avLst/>
          </a:prstGeom>
          <a:solidFill>
            <a:srgbClr val="2E6B47"/>
          </a:solidFill>
          <a:ln w="12700">
            <a:solidFill>
              <a:srgbClr val="4A90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611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ASF — Начинаещи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3611880"/>
            <a:ext cx="2468880" cy="502920"/>
          </a:xfrm>
          <a:prstGeom prst="rect">
            <a:avLst/>
          </a:prstGeom>
          <a:solidFill>
            <a:srgbClr val="2E6B47"/>
          </a:solidFill>
          <a:ln w="12700">
            <a:solidFill>
              <a:srgbClr val="4A90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3611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— Опитни с нарушения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3611880"/>
            <a:ext cx="2468880" cy="502920"/>
          </a:xfrm>
          <a:prstGeom prst="rect">
            <a:avLst/>
          </a:prstGeom>
          <a:solidFill>
            <a:srgbClr val="2E6B47"/>
          </a:solidFill>
          <a:ln w="12700">
            <a:solidFill>
              <a:srgbClr val="4A90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3611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Групов инструктаж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E6B47"/>
          </a:solidFill>
          <a:ln w="12700">
            <a:solidFill>
              <a:srgbClr val="2E6B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София, 2024 г.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B2A"/>
          </a:solidFill>
          <a:ln w="12700">
            <a:solidFill>
              <a:srgbClr val="1C3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СЪДЪРЖАНИЕ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640080" cy="731520"/>
          </a:xfrm>
          <a:prstGeom prst="rect">
            <a:avLst/>
          </a:prstGeom>
          <a:solidFill>
            <a:srgbClr val="4A9068"/>
          </a:solidFill>
          <a:ln w="12700">
            <a:solidFill>
              <a:srgbClr val="4A90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СЪЩНОСТ НА ГРУПОВИЯ ИНСТРУКТАЖ ПРИ ПЪТНИ НАРУШИТЕЛИ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075688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075688"/>
            <a:ext cx="640080" cy="731520"/>
          </a:xfrm>
          <a:prstGeom prst="rect">
            <a:avLst/>
          </a:prstGeom>
          <a:solidFill>
            <a:srgbClr val="4A9068"/>
          </a:solidFill>
          <a:ln w="12700">
            <a:solidFill>
              <a:srgbClr val="4A90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7568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207568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ОРГАНИЗАЦИЯ НА ВРЕМЕТО И ТРУДНИ СИТУАЦИИ В КЛАС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962656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962656"/>
            <a:ext cx="640080" cy="731520"/>
          </a:xfrm>
          <a:prstGeom prst="rect">
            <a:avLst/>
          </a:prstGeom>
          <a:solidFill>
            <a:srgbClr val="4A9068"/>
          </a:solidFill>
          <a:ln w="12700">
            <a:solidFill>
              <a:srgbClr val="4A90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62656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2962656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ЗА САМООЦЕНКА И ОБЩА ОЦЕНКА НА ЗАНЯТИЕТО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849624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849624"/>
            <a:ext cx="640080" cy="731520"/>
          </a:xfrm>
          <a:prstGeom prst="rect">
            <a:avLst/>
          </a:prstGeom>
          <a:solidFill>
            <a:srgbClr val="4A9068"/>
          </a:solidFill>
          <a:ln w="12700">
            <a:solidFill>
              <a:srgbClr val="4A90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849624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88720" y="38496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МЕТОДИЧЕСКИ СЪВЕТИ ЗА ЕФЕКТИВНА АТМОСФЕРА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B2A"/>
          </a:solidFill>
          <a:ln w="12700">
            <a:solidFill>
              <a:srgbClr val="1C3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УВОД: ПРОГРАМИТЕ ASF И ASP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69080" cy="2194560"/>
          </a:xfrm>
          <a:prstGeom prst="rect">
            <a:avLst/>
          </a:prstGeom>
          <a:solidFill>
            <a:srgbClr val="EBF5EE"/>
          </a:solidFill>
          <a:ln w="12700">
            <a:solidFill>
              <a:srgbClr val="B0D8B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069080" cy="475488"/>
          </a:xfrm>
          <a:prstGeom prst="rect">
            <a:avLst/>
          </a:prstGeom>
          <a:solidFill>
            <a:srgbClr val="2E6B47"/>
          </a:solidFill>
          <a:ln w="12700">
            <a:solidFill>
              <a:srgbClr val="2E6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ASF — За начинаещи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3703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 насочена към промяна на нагласите и отношението към риска — не към технически умения.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69080" cy="2194560"/>
          </a:xfrm>
          <a:prstGeom prst="rect">
            <a:avLst/>
          </a:prstGeom>
          <a:solidFill>
            <a:srgbClr val="EBF5EE"/>
          </a:solidFill>
          <a:ln w="12700">
            <a:solidFill>
              <a:srgbClr val="B0D8B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069080" cy="475488"/>
          </a:xfrm>
          <a:prstGeom prst="rect">
            <a:avLst/>
          </a:prstGeom>
          <a:solidFill>
            <a:srgbClr val="2E6B47"/>
          </a:solidFill>
          <a:ln w="12700">
            <a:solidFill>
              <a:srgbClr val="2E6B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9728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— За опитни с нарушения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64208"/>
            <a:ext cx="3703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Специфична форма на обучение за водачи с нарушения, фокусирана върху психологическата рефлексия.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8412480" cy="1280160"/>
          </a:xfrm>
          <a:prstGeom prst="rect">
            <a:avLst/>
          </a:prstGeom>
          <a:solidFill>
            <a:srgbClr val="1C3B2A"/>
          </a:solidFill>
          <a:ln w="12700">
            <a:solidFill>
              <a:srgbClr val="1C3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74720"/>
            <a:ext cx="64008" cy="12801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204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Успехът на тези класни дейности зависи от прецизната самооценка на инструктора и управлението на груповата динамика.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6B47"/>
          </a:solidFill>
          <a:ln w="12700">
            <a:solidFill>
              <a:srgbClr val="2E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СЪЩНОСТ НА ГРУПОВИЯ ИНСТРУКТАЖ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0DBC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502920" cy="1051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Споделен опит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Груповият инструктаж се основава на принципа на споделения опит между участниците.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50008"/>
            <a:ext cx="8412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0DBC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50008"/>
            <a:ext cx="502920" cy="1051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50008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244144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лектор към модератор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807208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Инструкторът насочва участниците да открият сами причините за своето поведение.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557016"/>
            <a:ext cx="8412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0DBC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57016"/>
            <a:ext cx="502920" cy="1051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57016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648456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Емоционален фокус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14216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Основните цели са свързани с емоционалните аспекти — нагласи, отговорност, рефлексия.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B2A"/>
          </a:solidFill>
          <a:ln w="12700">
            <a:solidFill>
              <a:srgbClr val="1C3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ОРГАНИЗАЦИЯ НА ВРЕМЕТО И ТРУДНИ СИТУАЦИИ В КЛАС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457200"/>
          </a:xfrm>
          <a:prstGeom prst="rect">
            <a:avLst/>
          </a:prstGeom>
          <a:solidFill>
            <a:srgbClr val="2E6B47"/>
          </a:solidFill>
          <a:ln w="12700">
            <a:solidFill>
              <a:srgbClr val="2E6B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Ключови въпроси за рефлексия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4023360" cy="640080"/>
          </a:xfrm>
          <a:prstGeom prst="rect">
            <a:avLst/>
          </a:prstGeom>
          <a:solidFill>
            <a:srgbClr val="EBF5EE"/>
          </a:solidFill>
          <a:ln w="6350">
            <a:solidFill>
              <a:srgbClr val="B0D8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64008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916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мога да организирам времето по-добре?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41448"/>
            <a:ext cx="4023360" cy="640080"/>
          </a:xfrm>
          <a:prstGeom prst="rect">
            <a:avLst/>
          </a:prstGeom>
          <a:solidFill>
            <a:srgbClr val="EBF5EE"/>
          </a:solidFill>
          <a:ln w="6350">
            <a:solidFill>
              <a:srgbClr val="B0D8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41448"/>
            <a:ext cx="64008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41448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Какви трудни ситуации се появиха?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91256"/>
            <a:ext cx="4023360" cy="640080"/>
          </a:xfrm>
          <a:prstGeom prst="rect">
            <a:avLst/>
          </a:prstGeom>
          <a:solidFill>
            <a:srgbClr val="EBF5EE"/>
          </a:solidFill>
          <a:ln w="6350">
            <a:solidFill>
              <a:srgbClr val="B0D8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191256"/>
            <a:ext cx="64008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191256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Постигнахме ли целите на занятието?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023360" cy="457200"/>
          </a:xfrm>
          <a:prstGeom prst="rect">
            <a:avLst/>
          </a:prstGeom>
          <a:solidFill>
            <a:srgbClr val="4A9068"/>
          </a:solidFill>
          <a:ln w="12700">
            <a:solidFill>
              <a:srgbClr val="4A90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97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Причини за трудни ситуации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691640"/>
            <a:ext cx="4023360" cy="2249424"/>
          </a:xfrm>
          <a:prstGeom prst="rect">
            <a:avLst/>
          </a:prstGeom>
          <a:solidFill>
            <a:srgbClr val="F7F9F7"/>
          </a:solidFill>
          <a:ln w="6350">
            <a:solidFill>
              <a:srgbClr val="C0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783080"/>
            <a:ext cx="3657600" cy="2066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Основната трудност идва от съпротивата на участниците, които не приемат своята вина за нарушенията.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Ефективното планиране и стриктното управление на времето са ключ за преодоляване на тази съпротива.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6B47"/>
          </a:solidFill>
          <a:ln w="12700">
            <a:solidFill>
              <a:srgbClr val="2E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МОДЕЛИ ЗА САМООЦЕНКА И ОБЩА ОЦЕНКА НА ЗАНЯТИЕТО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594360"/>
          </a:xfrm>
          <a:prstGeom prst="rect">
            <a:avLst/>
          </a:prstGeom>
          <a:solidFill>
            <a:srgbClr val="1C3B2A"/>
          </a:solidFill>
          <a:ln w="12700">
            <a:solidFill>
              <a:srgbClr val="1C3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Скала за оценка:   --   |   -   |   0   |   +   |   ++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060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C0DBC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2606040" cy="64008"/>
          </a:xfrm>
          <a:prstGeom prst="rect">
            <a:avLst/>
          </a:prstGeom>
          <a:solidFill>
            <a:srgbClr val="4A9068"/>
          </a:solidFill>
          <a:ln w="12700">
            <a:solidFill>
              <a:srgbClr val="4A90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65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Атмосфера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Ниво на взаимоотношенията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Оценяване на груповата динамика, откритостта на участниците и взаимното доверие в клас.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72968" y="1874520"/>
            <a:ext cx="26060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C0DBC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874520"/>
            <a:ext cx="2606040" cy="64008"/>
          </a:xfrm>
          <a:prstGeom prst="rect">
            <a:avLst/>
          </a:prstGeom>
          <a:solidFill>
            <a:srgbClr val="4A9068"/>
          </a:solidFill>
          <a:ln w="12700">
            <a:solidFill>
              <a:srgbClr val="4A90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965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 от обучението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Придобити знания и нагласи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28346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Доколко участниците са усвоили нови перспективи и са готови за промяна на поведението.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0176" y="1874520"/>
            <a:ext cx="26060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C0DBC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0176" y="1874520"/>
            <a:ext cx="26060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9659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Намерения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17336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9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Планиране на следващото занятие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17336" y="283464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ще бъде променено — конкретни действия за подобряване на следващата сесия.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B2A"/>
          </a:solidFill>
          <a:ln w="12700">
            <a:solidFill>
              <a:srgbClr val="1C3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МЕТОДИЧЕСКИ СЪВЕТИ ЗА ЕФЕКТИВНА АТМОСФЕРА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69080" cy="1508760"/>
          </a:xfrm>
          <a:prstGeom prst="rect">
            <a:avLst/>
          </a:prstGeom>
          <a:solidFill>
            <a:srgbClr val="EBF5EE"/>
          </a:solidFill>
          <a:ln w="6350">
            <a:solidFill>
              <a:srgbClr val="B0D8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0690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527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Насърчаване на откритост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67335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Инструкторът трябва да създаде среда, в която участниците се чувстват безопасно да споделят.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069080" cy="1508760"/>
          </a:xfrm>
          <a:prstGeom prst="rect">
            <a:avLst/>
          </a:prstGeom>
          <a:solidFill>
            <a:srgbClr val="EBF5EE"/>
          </a:solidFill>
          <a:ln w="6350">
            <a:solidFill>
              <a:srgbClr val="B0D8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43000"/>
            <a:ext cx="40690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2527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Избягване на обвинителен тон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67335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Фокусът трябва да е върху бъдещите ползи от промяната, а не върху минали грешки.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069080" cy="1508760"/>
          </a:xfrm>
          <a:prstGeom prst="rect">
            <a:avLst/>
          </a:prstGeom>
          <a:solidFill>
            <a:srgbClr val="EBF5EE"/>
          </a:solidFill>
          <a:ln w="6350">
            <a:solidFill>
              <a:srgbClr val="B0D8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40690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9443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Визуални инструменти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36499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Използване на картови прегледи и визуални приложения за по-добро разбиране на рискови ситуации.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069080" cy="1508760"/>
          </a:xfrm>
          <a:prstGeom prst="rect">
            <a:avLst/>
          </a:prstGeom>
          <a:solidFill>
            <a:srgbClr val="EBF5EE"/>
          </a:solidFill>
          <a:ln w="6350">
            <a:solidFill>
              <a:srgbClr val="B0D8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34640"/>
            <a:ext cx="40690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29443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 върху промяната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336499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Участниците трябва да видят конкретните ползи от промяната на поведението си на пътя.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3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64008" cy="2194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7955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Специфичните класни дейности по програмите за пътни нарушители изискват висока психологическа подготовка от страна на инструкторите.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C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Системната самооценка и анализът на трудните ситуации са единственият начин за повишаване на качеството на обучението и намаляване на риска на пътя.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1920240" cy="594360"/>
          </a:xfrm>
          <a:prstGeom prst="rect">
            <a:avLst/>
          </a:prstGeom>
          <a:solidFill>
            <a:srgbClr val="2E6B47"/>
          </a:solidFill>
          <a:ln w="12700">
            <a:solidFill>
              <a:srgbClr val="4A90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49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Самооценка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3749040"/>
            <a:ext cx="1920240" cy="594360"/>
          </a:xfrm>
          <a:prstGeom prst="rect">
            <a:avLst/>
          </a:prstGeom>
          <a:solidFill>
            <a:srgbClr val="2E6B47"/>
          </a:solidFill>
          <a:ln w="12700">
            <a:solidFill>
              <a:srgbClr val="4A90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3749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Групова динамика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3749040"/>
            <a:ext cx="1920240" cy="594360"/>
          </a:xfrm>
          <a:prstGeom prst="rect">
            <a:avLst/>
          </a:prstGeom>
          <a:solidFill>
            <a:srgbClr val="2E6B47"/>
          </a:solidFill>
          <a:ln w="12700">
            <a:solidFill>
              <a:srgbClr val="4A90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749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Психол. подготовка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3749040"/>
            <a:ext cx="1920240" cy="594360"/>
          </a:xfrm>
          <a:prstGeom prst="rect">
            <a:avLst/>
          </a:prstGeom>
          <a:solidFill>
            <a:srgbClr val="2E6B47"/>
          </a:solidFill>
          <a:ln w="12700">
            <a:solidFill>
              <a:srgbClr val="4A90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3749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на пътя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E6B47"/>
          </a:solidFill>
          <a:ln w="12700">
            <a:solidFill>
              <a:srgbClr val="2E6B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Fingskes · CIECA / EU HERMES Project · DVR Germany — Методически указания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Съвети и Оценки за Специфични Класни Дейности</dc:title>
  <dc:subject>PptxGenJS Presentation</dc:subject>
  <dc:creator>PptxGenJS</dc:creator>
  <cp:lastModifiedBy>PptxGenJS</cp:lastModifiedBy>
  <cp:revision>1</cp:revision>
  <dcterms:created xsi:type="dcterms:W3CDTF">2026-04-21T19:45:48Z</dcterms:created>
  <dcterms:modified xsi:type="dcterms:W3CDTF">2026-04-21T19:45:48Z</dcterms:modified>
</cp:coreProperties>
</file>