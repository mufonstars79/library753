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6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72" r:id="rId7"/>
    <p:sldId id="270" r:id="rId8"/>
    <p:sldId id="273" r:id="rId9"/>
    <p:sldId id="261" r:id="rId10"/>
    <p:sldId id="262" r:id="rId11"/>
    <p:sldId id="263" r:id="rId12"/>
    <p:sldId id="264" r:id="rId13"/>
    <p:sldId id="271" r:id="rId14"/>
    <p:sldId id="265" r:id="rId15"/>
    <p:sldId id="266" r:id="rId16"/>
    <p:sldId id="267" r:id="rId17"/>
    <p:sldId id="268" r:id="rId18"/>
    <p:sldId id="269" r:id="rId19"/>
  </p:sldIdLst>
  <p:sldSz cx="12192000" cy="6858000"/>
  <p:notesSz cx="6858000" cy="9144000"/>
  <p:embeddedFontLs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Century Gothic" panose="020B0502020202020204" pitchFamily="34" charset="0"/>
      <p:regular r:id="rId25"/>
      <p:bold r:id="rId26"/>
      <p:italic r:id="rId27"/>
      <p:boldItalic r:id="rId28"/>
    </p:embeddedFont>
    <p:embeddedFont>
      <p:font typeface="Montserrat" panose="00000500000000000000" pitchFamily="2" charset="0"/>
      <p:regular r:id="rId29"/>
      <p:bold r:id="rId30"/>
      <p:italic r:id="rId31"/>
      <p:boldItalic r:id="rId32"/>
    </p:embeddedFont>
    <p:embeddedFont>
      <p:font typeface="Montserrat ExtraBold" panose="00000900000000000000" pitchFamily="2" charset="0"/>
      <p:bold r:id="rId33"/>
      <p:boldItalic r:id="rId34"/>
    </p:embeddedFont>
    <p:embeddedFont>
      <p:font typeface="Montserrat SemiBold" panose="00000700000000000000" pitchFamily="2" charset="0"/>
      <p:regular r:id="rId35"/>
      <p:bold r:id="rId36"/>
      <p:italic r:id="rId37"/>
      <p:boldItalic r:id="rId38"/>
    </p:embeddedFont>
    <p:embeddedFont>
      <p:font typeface="Open Sans" panose="020B0606030504020204" pitchFamily="34" charset="0"/>
      <p:regular r:id="rId39"/>
      <p:bold r:id="rId40"/>
      <p:italic r:id="rId41"/>
      <p:boldItalic r:id="rId42"/>
    </p:embeddedFont>
    <p:embeddedFont>
      <p:font typeface="Open Sans SemiBold" panose="020B0706030804020204" pitchFamily="34" charset="0"/>
      <p:regular r:id="rId43"/>
      <p:bold r:id="rId44"/>
      <p:italic r:id="rId45"/>
      <p:boldItalic r:id="rId46"/>
    </p:embeddedFont>
    <p:embeddedFont>
      <p:font typeface="Wingdings 3" panose="05040102010807070707" pitchFamily="18" charset="2"/>
      <p:regular r:id="rId4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D22F87-50B3-4B73-BE25-55E39E27975A}">
  <a:tblStyle styleId="{3BD22F87-50B3-4B73-BE25-55E39E27975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84" y="1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font" Target="fonts/font19.fntdata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42" Type="http://schemas.openxmlformats.org/officeDocument/2006/relationships/font" Target="fonts/font22.fntdata"/><Relationship Id="rId47" Type="http://schemas.openxmlformats.org/officeDocument/2006/relationships/font" Target="fonts/font27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9.fntdata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font" Target="fonts/font17.fntdata"/><Relationship Id="rId40" Type="http://schemas.openxmlformats.org/officeDocument/2006/relationships/font" Target="fonts/font20.fntdata"/><Relationship Id="rId45" Type="http://schemas.openxmlformats.org/officeDocument/2006/relationships/font" Target="fonts/font2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4" Type="http://schemas.openxmlformats.org/officeDocument/2006/relationships/font" Target="fonts/font2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43" Type="http://schemas.openxmlformats.org/officeDocument/2006/relationships/font" Target="fonts/font23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font" Target="fonts/font18.fntdata"/><Relationship Id="rId46" Type="http://schemas.openxmlformats.org/officeDocument/2006/relationships/font" Target="fonts/font26.fntdata"/><Relationship Id="rId20" Type="http://schemas.openxmlformats.org/officeDocument/2006/relationships/notesMaster" Target="notesMasters/notesMaster1.xml"/><Relationship Id="rId41" Type="http://schemas.openxmlformats.org/officeDocument/2006/relationships/font" Target="fonts/font2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111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045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26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79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880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073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139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266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26745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56388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35146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4361182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10504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39703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93461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1547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173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618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90987" y="3704332"/>
            <a:ext cx="4010025" cy="194071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976687" y="1212800"/>
            <a:ext cx="423862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МЕТОДИЧЕСКА РАЗРАБОТКА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165633" y="1768971"/>
            <a:ext cx="5860732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F59E0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ПЪТНИ ЗНАЦИ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725578" y="2618482"/>
            <a:ext cx="6740842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КЛАСИФИКАЦИЯ И ПРИЛОЖЕНИЕ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090987" y="4075807"/>
            <a:ext cx="4010025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650" b="1" i="0" u="none" strike="noStrike" cap="non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Дисциплина : БДП </a:t>
            </a: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Разработил:</a:t>
            </a:r>
            <a:r>
              <a:rPr lang="en-US" sz="1650" b="0" i="0" u="none" strike="noStrike" cap="non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 Ивайло Здравков Недков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639615" y="4492263"/>
            <a:ext cx="9267660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1650" b="1" i="0" u="none" strike="noStrike" cap="none">
              <a:solidFill>
                <a:srgbClr val="E2E8F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Група:</a:t>
            </a:r>
            <a:r>
              <a:rPr lang="en-US" sz="1650" b="0" i="0" u="none" strike="noStrike" cap="non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 753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3917731" y="4888337"/>
            <a:ext cx="4183281" cy="1129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1650" b="1" i="0" u="none" strike="noStrike" cap="none">
              <a:solidFill>
                <a:srgbClr val="E2E8F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Технически университет – София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 Инженерно-педагогически факултет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076450"/>
            <a:ext cx="5286375" cy="1862732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71500" y="571500"/>
            <a:ext cx="873015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ЗАЩО ТЕМАТА Е ВАЖНА?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71500" y="1657350"/>
            <a:ext cx="5286375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904875" y="4272557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Основен инструмент за регулиране на движението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04875" y="5133379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Формират безопасно поведение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04875" y="5659040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Предотвратяват конфликти и спасяват човешки животи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43454" y="6448098"/>
            <a:ext cx="7283669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Обучението трябва да бъде практическо, визуално и емоционално ангажиращо визуално и емоционално ангажиращо</a:t>
            </a:r>
            <a:endParaRPr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291607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152429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678090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538912"/>
            <a:ext cx="1143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733550"/>
            <a:ext cx="5286375" cy="440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33550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ОБЩ КОНТЕКСТ И ПАРАМЕТРИ </a:t>
            </a:r>
            <a:r>
              <a:rPr lang="en-US" sz="3150" b="1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НА УРОКА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571500" y="1162050"/>
            <a:ext cx="110490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952500" y="257175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3A8A"/>
                </a:solidFill>
                <a:latin typeface="Montserrat"/>
                <a:ea typeface="Montserrat"/>
                <a:cs typeface="Montserrat"/>
                <a:sym typeface="Montserrat"/>
              </a:rPr>
              <a:t>Раздел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2857500" y="2114550"/>
            <a:ext cx="261937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Регулиране на движението на кръстовища и пътни възли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952500" y="4105275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3A8A"/>
                </a:solidFill>
                <a:latin typeface="Montserrat"/>
                <a:ea typeface="Montserrat"/>
                <a:cs typeface="Montserrat"/>
                <a:sym typeface="Montserrat"/>
              </a:rPr>
              <a:t>Целева група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2857500" y="3648075"/>
            <a:ext cx="261937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Кандидати за придобиване на правоспособност – Категория B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952500" y="535305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3A8A"/>
                </a:solidFill>
                <a:latin typeface="Montserrat"/>
                <a:ea typeface="Montserrat"/>
                <a:cs typeface="Montserrat"/>
                <a:sym typeface="Montserrat"/>
              </a:rPr>
              <a:t>Приложение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2857500" y="5181600"/>
            <a:ext cx="2619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Реална градска среда и практическо шофиране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671042"/>
            <a:ext cx="3492549" cy="45255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1671042"/>
            <a:ext cx="3492549" cy="45255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1671042"/>
            <a:ext cx="3492549" cy="452556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УЧЕБНИ ЦЕЛИ</a:t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571500" y="1162050"/>
            <a:ext cx="110490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734217" y="2823567"/>
            <a:ext cx="3167114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ПОЗНАВАТЕЛНИ ЦЕЛИ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(Знания)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4512517" y="2823567"/>
            <a:ext cx="3167114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ПРАКТИЧЕСКИ ЦЕЛИ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(Умения)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8290816" y="2823567"/>
            <a:ext cx="3167114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ВЪЗПИТАТЕЛНИ ЦЕЛИ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(Поведение)</a:t>
            </a:r>
            <a:endParaRPr/>
          </a:p>
        </p:txBody>
      </p:sp>
      <p:pic>
        <p:nvPicPr>
          <p:cNvPr id="135" name="Google Shape;13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03387" y="2137767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1047750" y="3585567"/>
            <a:ext cx="2778174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Да разпознават</a:t>
            </a:r>
            <a:r>
              <a:rPr lang="en-US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пътните знаци (Група А до Т)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1047750" y="4154983"/>
            <a:ext cx="2778174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Зона на действие, обхват и условия за прекратяване на валидност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1047750" y="4724400"/>
            <a:ext cx="2778174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Да познават </a:t>
            </a:r>
            <a:r>
              <a:rPr lang="en-US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Йерархия</a:t>
            </a:r>
            <a:r>
              <a:rPr lang="bg-BG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та</a:t>
            </a:r>
            <a:r>
              <a:rPr lang="en-US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на средствата за регулиране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1047750" y="5293816"/>
            <a:ext cx="2778174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Да знаят </a:t>
            </a:r>
            <a:r>
              <a:rPr lang="bg-BG" sz="12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з</a:t>
            </a:r>
            <a:r>
              <a:rPr lang="en-US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начение</a:t>
            </a:r>
            <a:r>
              <a:rPr lang="bg-BG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то</a:t>
            </a:r>
            <a:r>
              <a:rPr lang="en-US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и последици</a:t>
            </a:r>
            <a:r>
              <a:rPr lang="bg-BG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те </a:t>
            </a:r>
            <a:r>
              <a:rPr lang="en-US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от неспазване на пътните знаци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4826049" y="3585567"/>
            <a:ext cx="2778174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2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Да разпознават</a:t>
            </a:r>
            <a:r>
              <a:rPr lang="en-US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 знаците от дистанция и в движение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4826049" y="4154983"/>
            <a:ext cx="2778174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2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Да анализират</a:t>
            </a:r>
            <a:r>
              <a:rPr lang="en-US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пътната обстановка в реално време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4826049" y="4724400"/>
            <a:ext cx="2778174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2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Да о</a:t>
            </a:r>
            <a:r>
              <a:rPr lang="en-US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пределя</a:t>
            </a:r>
            <a:r>
              <a:rPr lang="bg-BG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т</a:t>
            </a:r>
            <a:r>
              <a:rPr lang="en-US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предимството и адаптиране на поведението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4826049" y="5293816"/>
            <a:ext cx="2778174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2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Да с</a:t>
            </a:r>
            <a:r>
              <a:rPr lang="en-US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интезира</a:t>
            </a:r>
            <a:r>
              <a:rPr lang="bg-BG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т</a:t>
            </a:r>
            <a:r>
              <a:rPr lang="en-US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информация от няколко знака едновременно</a:t>
            </a:r>
            <a:endParaRPr/>
          </a:p>
        </p:txBody>
      </p:sp>
      <p:pic>
        <p:nvPicPr>
          <p:cNvPr id="144" name="Google Shape;144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07599" y="2137767"/>
            <a:ext cx="53340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8604349" y="3585567"/>
            <a:ext cx="2778174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2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Да ф</a:t>
            </a:r>
            <a:r>
              <a:rPr lang="en-US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ормира</a:t>
            </a:r>
            <a:r>
              <a:rPr lang="bg-BG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т</a:t>
            </a:r>
            <a:r>
              <a:rPr lang="en-US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 отговорност, дисциплина и дефанзивно мислене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8604349" y="4154983"/>
            <a:ext cx="2778174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2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Да р</a:t>
            </a:r>
            <a:r>
              <a:rPr lang="en-US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азбира</a:t>
            </a:r>
            <a:r>
              <a:rPr lang="bg-BG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т</a:t>
            </a:r>
            <a:r>
              <a:rPr lang="en-US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 знаците като система за превенция на ПТП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8604349" y="4724400"/>
            <a:ext cx="2778174" cy="6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Промяна на отношението – от „правила за изпита“ към „инструмент за безопасност“</a:t>
            </a:r>
            <a:endParaRPr/>
          </a:p>
        </p:txBody>
      </p:sp>
      <p:pic>
        <p:nvPicPr>
          <p:cNvPr id="148" name="Google Shape;148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9625" y="3604617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9625" y="4174033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9625" y="4743450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9625" y="5312866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87924" y="3604617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87924" y="4174033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87924" y="4743450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87924" y="5312866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66224" y="3604617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66224" y="4174033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66224" y="4743450"/>
            <a:ext cx="114300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966912"/>
            <a:ext cx="5286375" cy="393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66912"/>
            <a:ext cx="5286375" cy="393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ОСНОВНИ ДАННИ ЗА УРОКА</a:t>
            </a:r>
            <a:endParaRPr/>
          </a:p>
        </p:txBody>
      </p:sp>
      <p:sp>
        <p:nvSpPr>
          <p:cNvPr id="166" name="Google Shape;166;p17"/>
          <p:cNvSpPr/>
          <p:nvPr/>
        </p:nvSpPr>
        <p:spPr>
          <a:xfrm>
            <a:off x="571500" y="1162050"/>
            <a:ext cx="110490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 txBox="1"/>
          <p:nvPr/>
        </p:nvSpPr>
        <p:spPr>
          <a:xfrm>
            <a:off x="6715125" y="2347912"/>
            <a:ext cx="4750593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Разпределение на времето</a:t>
            </a:r>
            <a:endParaRPr/>
          </a:p>
        </p:txBody>
      </p:sp>
      <p:sp>
        <p:nvSpPr>
          <p:cNvPr id="168" name="Google Shape;168;p17"/>
          <p:cNvSpPr/>
          <p:nvPr/>
        </p:nvSpPr>
        <p:spPr>
          <a:xfrm>
            <a:off x="6715125" y="2709862"/>
            <a:ext cx="4524375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952500" y="2519362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3A8A"/>
                </a:solidFill>
                <a:latin typeface="Montserrat"/>
                <a:ea typeface="Montserrat"/>
                <a:cs typeface="Montserrat"/>
                <a:sym typeface="Montserrat"/>
              </a:rPr>
              <a:t>Вид на урока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2857500" y="2347912"/>
            <a:ext cx="2619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Комбиниран (Теория + Практика)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851338" y="3481387"/>
            <a:ext cx="200616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3A8A"/>
                </a:solidFill>
                <a:latin typeface="Montserrat"/>
                <a:ea typeface="Montserrat"/>
                <a:cs typeface="Montserrat"/>
                <a:sym typeface="Montserrat"/>
              </a:rPr>
              <a:t>Продължителност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2857500" y="3309937"/>
            <a:ext cx="2619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90 минути (2 учебни часа)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952500" y="4443412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3A8A"/>
                </a:solidFill>
                <a:latin typeface="Montserrat"/>
                <a:ea typeface="Montserrat"/>
                <a:cs typeface="Montserrat"/>
                <a:sym typeface="Montserrat"/>
              </a:rPr>
              <a:t>Целева група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2857500" y="4271962"/>
            <a:ext cx="261937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Кандидат-вод</a:t>
            </a:r>
            <a:r>
              <a:rPr lang="bg-BG" sz="1650">
                <a:solidFill>
                  <a:srgbClr val="334155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ачи</a:t>
            </a:r>
            <a:r>
              <a:rPr lang="en-US" sz="1650" b="0" i="0" u="none" strike="noStrike" cap="none">
                <a:solidFill>
                  <a:srgbClr val="334155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 Категория </a:t>
            </a:r>
            <a:r>
              <a:rPr lang="bg-BG" sz="1650">
                <a:solidFill>
                  <a:srgbClr val="334155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В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7048500" y="2967037"/>
            <a:ext cx="4191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Теоретична лекция – </a:t>
            </a:r>
            <a:r>
              <a:rPr lang="en-US" sz="165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60 минути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7048500" y="3492698"/>
            <a:ext cx="4191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Практически казуси – </a:t>
            </a:r>
            <a:r>
              <a:rPr lang="en-US" sz="165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20 минути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7048500" y="4018359"/>
            <a:ext cx="4191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Контрол и оценка – </a:t>
            </a:r>
            <a:r>
              <a:rPr lang="en-US" sz="165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10 минути</a:t>
            </a:r>
            <a:endParaRPr/>
          </a:p>
        </p:txBody>
      </p:sp>
      <p:pic>
        <p:nvPicPr>
          <p:cNvPr id="180" name="Google Shape;18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15125" y="2986087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15125" y="3511748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15125" y="4037409"/>
            <a:ext cx="1143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ОЧАКВАНИ РЕЗУЛТАТИ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Бързо разпознаване на групи пътни знаци.</a:t>
            </a:r>
          </a:p>
          <a:p>
            <a:pPr>
              <a:defRPr sz="1800"/>
            </a:pPr>
            <a:r>
              <a:t>Разбиране на комбинирани знаци и табели.</a:t>
            </a:r>
          </a:p>
          <a:p>
            <a:pPr>
              <a:defRPr sz="1800"/>
            </a:pPr>
            <a:r>
              <a:t>Определяне на обхвата и зоната на действие.</a:t>
            </a:r>
          </a:p>
          <a:p>
            <a:pPr>
              <a:defRPr sz="1800"/>
            </a:pPr>
            <a:r>
              <a:t>Адекватно поведение на кръстовища.</a:t>
            </a:r>
          </a:p>
          <a:p>
            <a:pPr>
              <a:defRPr sz="1800"/>
            </a:pPr>
            <a:r>
              <a:t>Изграждане на навик за дефанзивно шофиране.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ХОД НА УРОКА (90 МИНУТИ)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Етап на урока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Дейност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Време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Въвеждаща част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Проверка на готовността, актуализиране на знанията.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10 мин.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Теоретичен блок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Класификация на знаците, зона на действие.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40 мин.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Практически казуси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Анализ на ситуации, работа с комбинирани знаци.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20 мин.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Симулация/Дискусия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Ролеви игри и решаване на тестови карти.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10 мин.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Заключителна част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Обобщение, контролни въпроси и задачи.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10 мин.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Наредба № РД-02-21-1 от 23 ноември 2023 г. за сигнализация на пътищата с пътни знаци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400"/>
              </a:spcAft>
              <a:defRPr sz="1400"/>
            </a:pPr>
            <a:endParaRPr lang="bg-BG"/>
          </a:p>
          <a:p>
            <a:pPr>
              <a:spcAft>
                <a:spcPts val="400"/>
              </a:spcAft>
              <a:defRPr sz="1400"/>
            </a:pPr>
            <a:endParaRPr lang="bg-BG"/>
          </a:p>
          <a:p>
            <a:pPr>
              <a:spcAft>
                <a:spcPts val="400"/>
              </a:spcAft>
              <a:defRPr sz="1400"/>
            </a:pPr>
            <a:endParaRPr lang="bg-BG"/>
          </a:p>
          <a:p>
            <a:pPr>
              <a:spcAft>
                <a:spcPts val="400"/>
              </a:spcAft>
              <a:defRPr sz="1400"/>
            </a:pPr>
            <a:endParaRPr lang="bg-BG"/>
          </a:p>
          <a:p>
            <a:pPr>
              <a:spcAft>
                <a:spcPts val="400"/>
              </a:spcAft>
              <a:defRPr sz="1400"/>
            </a:pPr>
            <a:endParaRPr lang="bg-BG"/>
          </a:p>
          <a:p>
            <a:pPr>
              <a:spcAft>
                <a:spcPts val="400"/>
              </a:spcAft>
              <a:defRPr sz="1400"/>
            </a:pPr>
            <a:r>
              <a:t>Приложение № 1 –</a:t>
            </a:r>
            <a:r>
              <a:rPr lang="bg-BG"/>
              <a:t> за </a:t>
            </a:r>
            <a:r>
              <a:t>предупредителните пътни знаци за </a:t>
            </a:r>
            <a:r>
              <a:rPr lang="bg-BG"/>
              <a:t>  </a:t>
            </a:r>
            <a:r>
              <a:t>опасност (Група „А“)</a:t>
            </a:r>
          </a:p>
          <a:p>
            <a:pPr>
              <a:spcAft>
                <a:spcPts val="400"/>
              </a:spcAft>
              <a:defRPr sz="1400"/>
            </a:pPr>
            <a:r>
              <a:t>Приложение № 2 –</a:t>
            </a:r>
            <a:r>
              <a:rPr lang="bg-BG"/>
              <a:t>за </a:t>
            </a:r>
            <a:r>
              <a:t>пътните знаци относно предимството (Група „Б“)</a:t>
            </a:r>
          </a:p>
          <a:p>
            <a:pPr>
              <a:spcAft>
                <a:spcPts val="400"/>
              </a:spcAft>
              <a:defRPr sz="1400"/>
            </a:pPr>
            <a:r>
              <a:t>Приложение № 3</a:t>
            </a:r>
            <a:r>
              <a:rPr lang="bg-BG"/>
              <a:t>- за </a:t>
            </a:r>
            <a:r>
              <a:t> пътните знаци за въвеждане на забрана и за отменяне на въведена забрана (Група „В“)</a:t>
            </a:r>
          </a:p>
          <a:p>
            <a:pPr>
              <a:spcAft>
                <a:spcPts val="400"/>
              </a:spcAft>
              <a:defRPr sz="1400"/>
            </a:pPr>
            <a:r>
              <a:t>Приложение № 4 –</a:t>
            </a:r>
            <a:r>
              <a:rPr lang="bg-BG"/>
              <a:t> за </a:t>
            </a:r>
            <a:r>
              <a:t>пътните знаци със задължителни предписания (Група „Г“)</a:t>
            </a:r>
          </a:p>
          <a:p>
            <a:pPr>
              <a:spcAft>
                <a:spcPts val="400"/>
              </a:spcAft>
              <a:defRPr sz="1400"/>
            </a:pPr>
            <a:r>
              <a:t>Приложение № 5 –</a:t>
            </a:r>
            <a:r>
              <a:rPr lang="bg-BG"/>
              <a:t>за </a:t>
            </a:r>
            <a:r>
              <a:t>пътните знаци със специални предписания (Група „Д“)</a:t>
            </a:r>
          </a:p>
          <a:p>
            <a:pPr>
              <a:spcAft>
                <a:spcPts val="400"/>
              </a:spcAft>
              <a:defRPr sz="1400"/>
            </a:pPr>
            <a:r>
              <a:t>Приложение № 6 </a:t>
            </a:r>
            <a:r>
              <a:rPr lang="bg-BG"/>
              <a:t>– за </a:t>
            </a:r>
            <a:r>
              <a:t>пътните знаци, даващи допълнителна информация (Група „Е“)</a:t>
            </a:r>
          </a:p>
          <a:p>
            <a:pPr>
              <a:spcAft>
                <a:spcPts val="400"/>
              </a:spcAft>
              <a:defRPr sz="1400"/>
            </a:pPr>
            <a:r>
              <a:t>Приложение № 7 –</a:t>
            </a:r>
            <a:r>
              <a:rPr lang="bg-BG"/>
              <a:t> за </a:t>
            </a:r>
            <a:r>
              <a:t>пътните знаци за указване на направления, посоки и др. (Група „Ж“)</a:t>
            </a:r>
          </a:p>
          <a:p>
            <a:pPr>
              <a:spcAft>
                <a:spcPts val="400"/>
              </a:spcAft>
              <a:defRPr sz="1400"/>
            </a:pPr>
            <a:r>
              <a:t>Приложение № 8 –</a:t>
            </a:r>
            <a:r>
              <a:rPr lang="bg-BG"/>
              <a:t> за </a:t>
            </a:r>
            <a:r>
              <a:t>допълнителните табели (Група „Т“)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"/>
          <p:cNvSpPr txBox="1"/>
          <p:nvPr/>
        </p:nvSpPr>
        <p:spPr>
          <a:xfrm>
            <a:off x="571500" y="571500"/>
            <a:ext cx="5550693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ЧАС</a:t>
            </a:r>
            <a:r>
              <a:rPr lang="bg-BG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Т </a:t>
            </a: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1</a:t>
            </a:r>
            <a:endParaRPr/>
          </a:p>
        </p:txBody>
      </p:sp>
      <p:sp>
        <p:nvSpPr>
          <p:cNvPr id="188" name="Google Shape;188;p18"/>
          <p:cNvSpPr/>
          <p:nvPr/>
        </p:nvSpPr>
        <p:spPr>
          <a:xfrm>
            <a:off x="571500" y="1162050"/>
            <a:ext cx="5286375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 txBox="1"/>
          <p:nvPr/>
        </p:nvSpPr>
        <p:spPr>
          <a:xfrm>
            <a:off x="571500" y="1581150"/>
            <a:ext cx="5550693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59E0B"/>
                </a:solidFill>
                <a:latin typeface="Montserrat"/>
                <a:ea typeface="Montserrat"/>
                <a:cs typeface="Montserrat"/>
                <a:sym typeface="Montserrat"/>
              </a:rPr>
              <a:t>ТЕОРЕТИЧНА БАЗА И ВИЗУАЛНО РАЗПОЗНАВАНЕ</a:t>
            </a:r>
            <a:endParaRPr/>
          </a:p>
        </p:txBody>
      </p:sp>
      <p:pic>
        <p:nvPicPr>
          <p:cNvPr id="190" name="Google Shape;19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8"/>
          <p:cNvSpPr txBox="1"/>
          <p:nvPr/>
        </p:nvSpPr>
        <p:spPr>
          <a:xfrm>
            <a:off x="904875" y="3330178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Проблемно изложение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904875" y="3855839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Класификация на пътните знаци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904875" y="4381500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Зона на действие и валидност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904875" y="4907160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Визуално разпознаване и затвърждаване</a:t>
            </a:r>
            <a:endParaRPr/>
          </a:p>
        </p:txBody>
      </p:sp>
      <p:pic>
        <p:nvPicPr>
          <p:cNvPr id="195" name="Google Shape;19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349228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874889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400550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926210"/>
            <a:ext cx="1143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2402383"/>
            <a:ext cx="5286375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9"/>
          <p:cNvSpPr txBox="1"/>
          <p:nvPr/>
        </p:nvSpPr>
        <p:spPr>
          <a:xfrm>
            <a:off x="6334125" y="571500"/>
            <a:ext cx="5550693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ЧАС</a:t>
            </a:r>
            <a:r>
              <a:rPr lang="bg-BG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Т </a:t>
            </a: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2</a:t>
            </a:r>
            <a:endParaRPr/>
          </a:p>
        </p:txBody>
      </p:sp>
      <p:sp>
        <p:nvSpPr>
          <p:cNvPr id="206" name="Google Shape;206;p19"/>
          <p:cNvSpPr/>
          <p:nvPr/>
        </p:nvSpPr>
        <p:spPr>
          <a:xfrm>
            <a:off x="6334125" y="1162050"/>
            <a:ext cx="5286375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 txBox="1"/>
          <p:nvPr/>
        </p:nvSpPr>
        <p:spPr>
          <a:xfrm>
            <a:off x="6334125" y="1581150"/>
            <a:ext cx="555069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E3A8A"/>
                </a:solidFill>
                <a:latin typeface="Montserrat"/>
                <a:ea typeface="Montserrat"/>
                <a:cs typeface="Montserrat"/>
                <a:sym typeface="Montserrat"/>
              </a:rPr>
              <a:t>ПРИЛОЖНА МЕТОДИКА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6334125" y="4031158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3A8A"/>
                </a:solidFill>
                <a:latin typeface="Montserrat"/>
                <a:ea typeface="Montserrat"/>
                <a:cs typeface="Montserrat"/>
                <a:sym typeface="Montserrat"/>
              </a:rPr>
              <a:t>Методи: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6572250" y="2592883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Основен акцент: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6572250" y="2945308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Формиране на алгоритми за вземане на решения в реални ситуации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6667500" y="4478833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Метод на казусите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6667500" y="5004494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Демонстрация на алгоритми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6667500" y="5530155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Ролева игра и симулация</a:t>
            </a:r>
            <a:endParaRPr/>
          </a:p>
        </p:txBody>
      </p:sp>
      <p:pic>
        <p:nvPicPr>
          <p:cNvPr id="214" name="Google Shape;21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4497883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5023544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5549205"/>
            <a:ext cx="1143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505075"/>
            <a:ext cx="5334000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2505075"/>
            <a:ext cx="5334000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124325"/>
            <a:ext cx="5334000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4124325"/>
            <a:ext cx="5334000" cy="1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ПЕДАГОГИЧЕСКИ ПРИНЦИПИ</a:t>
            </a:r>
            <a:endParaRPr/>
          </a:p>
        </p:txBody>
      </p:sp>
      <p:sp>
        <p:nvSpPr>
          <p:cNvPr id="226" name="Google Shape;226;p20"/>
          <p:cNvSpPr/>
          <p:nvPr/>
        </p:nvSpPr>
        <p:spPr>
          <a:xfrm>
            <a:off x="571500" y="1162050"/>
            <a:ext cx="110490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7" name="Google Shape;22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4875" y="2790825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19875" y="2790825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4875" y="4410075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19875" y="4410075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76325" y="2981325"/>
            <a:ext cx="3238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0"/>
          <p:cNvSpPr txBox="1"/>
          <p:nvPr/>
        </p:nvSpPr>
        <p:spPr>
          <a:xfrm>
            <a:off x="1809750" y="2810767"/>
            <a:ext cx="285035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Нагледност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1809750" y="3163192"/>
            <a:ext cx="2714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Реални знаци, схеми, 3D модели</a:t>
            </a:r>
            <a:endParaRPr/>
          </a:p>
        </p:txBody>
      </p:sp>
      <p:pic>
        <p:nvPicPr>
          <p:cNvPr id="234" name="Google Shape;234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810375" y="2981325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0"/>
          <p:cNvSpPr txBox="1"/>
          <p:nvPr/>
        </p:nvSpPr>
        <p:spPr>
          <a:xfrm>
            <a:off x="7524750" y="2810767"/>
            <a:ext cx="271033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Достъпност</a:t>
            </a:r>
            <a:endParaRPr/>
          </a:p>
        </p:txBody>
      </p:sp>
      <p:sp>
        <p:nvSpPr>
          <p:cNvPr id="236" name="Google Shape;236;p20"/>
          <p:cNvSpPr txBox="1"/>
          <p:nvPr/>
        </p:nvSpPr>
        <p:spPr>
          <a:xfrm>
            <a:off x="7524750" y="3163192"/>
            <a:ext cx="25812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Обяснения с прост и ясен език</a:t>
            </a:r>
            <a:endParaRPr/>
          </a:p>
        </p:txBody>
      </p:sp>
      <p:pic>
        <p:nvPicPr>
          <p:cNvPr id="237" name="Google Shape;237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57275" y="4600575"/>
            <a:ext cx="3619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0"/>
          <p:cNvSpPr txBox="1"/>
          <p:nvPr/>
        </p:nvSpPr>
        <p:spPr>
          <a:xfrm>
            <a:off x="1809750" y="4430017"/>
            <a:ext cx="23002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Активност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1809750" y="4782442"/>
            <a:ext cx="21907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Задачи, казуси и дискусии</a:t>
            </a:r>
            <a:endParaRPr/>
          </a:p>
        </p:txBody>
      </p:sp>
      <p:pic>
        <p:nvPicPr>
          <p:cNvPr id="240" name="Google Shape;240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791325" y="4600575"/>
            <a:ext cx="3238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0"/>
          <p:cNvSpPr txBox="1"/>
          <p:nvPr/>
        </p:nvSpPr>
        <p:spPr>
          <a:xfrm>
            <a:off x="7524750" y="4430017"/>
            <a:ext cx="368046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Свързаност с практиката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7524750" y="4782442"/>
            <a:ext cx="35052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Реални ситуации от пътя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990725"/>
            <a:ext cx="5381625" cy="110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38875" y="1990725"/>
            <a:ext cx="5381625" cy="110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381375"/>
            <a:ext cx="5381625" cy="110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38875" y="3381375"/>
            <a:ext cx="5381625" cy="110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772025"/>
            <a:ext cx="11049000" cy="11049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1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ДИДАКТИЧЕСКИ СРЕДСТВА</a:t>
            </a:r>
            <a:endParaRPr/>
          </a:p>
        </p:txBody>
      </p:sp>
      <p:sp>
        <p:nvSpPr>
          <p:cNvPr id="253" name="Google Shape;253;p21"/>
          <p:cNvSpPr/>
          <p:nvPr/>
        </p:nvSpPr>
        <p:spPr>
          <a:xfrm>
            <a:off x="571500" y="1162050"/>
            <a:ext cx="110490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931068" y="2309812"/>
            <a:ext cx="4900612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Мултимедиен проектор и интерактивна дъска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7099696" y="2438400"/>
            <a:ext cx="4250531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3D модели и симулационни модули</a:t>
            </a:r>
            <a:endParaRPr/>
          </a:p>
        </p:txBody>
      </p:sp>
      <p:sp>
        <p:nvSpPr>
          <p:cNvPr id="256" name="Google Shape;256;p21"/>
          <p:cNvSpPr txBox="1"/>
          <p:nvPr/>
        </p:nvSpPr>
        <p:spPr>
          <a:xfrm>
            <a:off x="1225629" y="3829050"/>
            <a:ext cx="3730466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Реални пътни знаци и табели</a:t>
            </a:r>
            <a:endParaRPr/>
          </a:p>
        </p:txBody>
      </p:sp>
      <p:sp>
        <p:nvSpPr>
          <p:cNvPr id="257" name="Google Shape;257;p21"/>
          <p:cNvSpPr txBox="1"/>
          <p:nvPr/>
        </p:nvSpPr>
        <p:spPr>
          <a:xfrm>
            <a:off x="6953011" y="3829050"/>
            <a:ext cx="3610451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Чек-листи и тестови карти</a:t>
            </a:r>
            <a:endParaRPr/>
          </a:p>
        </p:txBody>
      </p:sp>
      <p:sp>
        <p:nvSpPr>
          <p:cNvPr id="258" name="Google Shape;258;p21"/>
          <p:cNvSpPr txBox="1"/>
          <p:nvPr/>
        </p:nvSpPr>
        <p:spPr>
          <a:xfrm>
            <a:off x="1328023" y="5219700"/>
            <a:ext cx="6230778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Учебен автомобил за практическа демонстрация</a:t>
            </a:r>
            <a:endParaRPr/>
          </a:p>
        </p:txBody>
      </p:sp>
      <p:pic>
        <p:nvPicPr>
          <p:cNvPr id="259" name="Google Shape;259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77000" y="2362200"/>
            <a:ext cx="4857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" y="3752850"/>
            <a:ext cx="2667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77000" y="3752850"/>
            <a:ext cx="32385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9625" y="5143500"/>
            <a:ext cx="428625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ДИДАКТИЧЕСКИ ПРИНЦИПИ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Научност – Базиране на актуалния ЗДвП.</a:t>
            </a:r>
          </a:p>
          <a:p>
            <a:pPr>
              <a:defRPr sz="1800"/>
            </a:pPr>
            <a:r>
              <a:t>2. Нагледност – Визуално възприемане чрез реални знаци.</a:t>
            </a:r>
          </a:p>
          <a:p>
            <a:pPr>
              <a:defRPr sz="1800"/>
            </a:pPr>
            <a:r>
              <a:t>3. Достъпност – Ясен език, съобразен с курсистите.</a:t>
            </a:r>
          </a:p>
          <a:p>
            <a:pPr>
              <a:defRPr sz="1800"/>
            </a:pPr>
            <a:r>
              <a:t>4. Системност – Логически преход от прости към сложни знаци.</a:t>
            </a:r>
          </a:p>
          <a:p>
            <a:pPr>
              <a:defRPr sz="1800"/>
            </a:pPr>
            <a:r>
              <a:t>5. Съзнателност – Активен анализ на казуси.</a:t>
            </a:r>
          </a:p>
          <a:p>
            <a:pPr>
              <a:defRPr sz="1800"/>
            </a:pPr>
            <a:r>
              <a:t>6. Трайност – Устойчиви умения чрез упражнения.</a:t>
            </a:r>
          </a:p>
          <a:p>
            <a:pPr>
              <a:defRPr sz="1800"/>
            </a:pPr>
            <a:r>
              <a:t>7. Практика – Приложение в реална градска среда.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532757"/>
            <a:ext cx="3492549" cy="28021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2532757"/>
            <a:ext cx="3492549" cy="28021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2532757"/>
            <a:ext cx="3492549" cy="2802135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2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ПРАКТИЧЕСКИ ЗАДАЧИ</a:t>
            </a:r>
            <a:endParaRPr/>
          </a:p>
        </p:txBody>
      </p:sp>
      <p:sp>
        <p:nvSpPr>
          <p:cNvPr id="271" name="Google Shape;271;p22"/>
          <p:cNvSpPr/>
          <p:nvPr/>
        </p:nvSpPr>
        <p:spPr>
          <a:xfrm>
            <a:off x="571500" y="1162050"/>
            <a:ext cx="110490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2"/>
          <p:cNvSpPr txBox="1"/>
          <p:nvPr/>
        </p:nvSpPr>
        <p:spPr>
          <a:xfrm>
            <a:off x="904875" y="2818507"/>
            <a:ext cx="301709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8A"/>
                </a:solidFill>
                <a:latin typeface="Montserrat"/>
                <a:ea typeface="Montserrat"/>
                <a:cs typeface="Montserrat"/>
                <a:sym typeface="Montserrat"/>
              </a:rPr>
              <a:t>1. Декодиране на комбинации</a:t>
            </a:r>
            <a:endParaRPr/>
          </a:p>
        </p:txBody>
      </p:sp>
      <p:sp>
        <p:nvSpPr>
          <p:cNvPr id="273" name="Google Shape;273;p22"/>
          <p:cNvSpPr txBox="1"/>
          <p:nvPr/>
        </p:nvSpPr>
        <p:spPr>
          <a:xfrm>
            <a:off x="904875" y="3475732"/>
            <a:ext cx="2873424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Знак В27 + Т10 (08:00–18:00) + Т17 (работни дни)</a:t>
            </a:r>
            <a:endParaRPr/>
          </a:p>
        </p:txBody>
      </p:sp>
      <p:pic>
        <p:nvPicPr>
          <p:cNvPr id="274" name="Google Shape;274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4875" y="4214812"/>
            <a:ext cx="2873424" cy="83433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2"/>
          <p:cNvSpPr txBox="1"/>
          <p:nvPr/>
        </p:nvSpPr>
        <p:spPr>
          <a:xfrm>
            <a:off x="4683174" y="2818507"/>
            <a:ext cx="301709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8A"/>
                </a:solidFill>
                <a:latin typeface="Montserrat"/>
                <a:ea typeface="Montserrat"/>
                <a:cs typeface="Montserrat"/>
                <a:sym typeface="Montserrat"/>
              </a:rPr>
              <a:t>2. Анализ на предимството</a:t>
            </a:r>
            <a:endParaRPr/>
          </a:p>
        </p:txBody>
      </p:sp>
      <p:sp>
        <p:nvSpPr>
          <p:cNvPr id="276" name="Google Shape;276;p22"/>
          <p:cNvSpPr txBox="1"/>
          <p:nvPr/>
        </p:nvSpPr>
        <p:spPr>
          <a:xfrm>
            <a:off x="4683174" y="3475732"/>
            <a:ext cx="2873424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Т-образно кръстовище с Б3 + Т13</a:t>
            </a:r>
            <a:endParaRPr/>
          </a:p>
        </p:txBody>
      </p:sp>
      <p:pic>
        <p:nvPicPr>
          <p:cNvPr id="277" name="Google Shape;277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83174" y="3940522"/>
            <a:ext cx="2873424" cy="110862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2"/>
          <p:cNvSpPr txBox="1"/>
          <p:nvPr/>
        </p:nvSpPr>
        <p:spPr>
          <a:xfrm>
            <a:off x="8461474" y="2818507"/>
            <a:ext cx="301709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8A"/>
                </a:solidFill>
                <a:latin typeface="Montserrat"/>
                <a:ea typeface="Montserrat"/>
                <a:cs typeface="Montserrat"/>
                <a:sym typeface="Montserrat"/>
              </a:rPr>
              <a:t>3. Тренировка на периферното зрение</a:t>
            </a:r>
            <a:endParaRPr/>
          </a:p>
        </p:txBody>
      </p:sp>
      <p:sp>
        <p:nvSpPr>
          <p:cNvPr id="279" name="Google Shape;279;p22"/>
          <p:cNvSpPr txBox="1"/>
          <p:nvPr/>
        </p:nvSpPr>
        <p:spPr>
          <a:xfrm>
            <a:off x="8461474" y="3475732"/>
            <a:ext cx="2873424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Показване за 2 секунди само форма и цвят</a:t>
            </a:r>
            <a:endParaRPr/>
          </a:p>
        </p:txBody>
      </p:sp>
      <p:pic>
        <p:nvPicPr>
          <p:cNvPr id="280" name="Google Shape;280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61474" y="4214812"/>
            <a:ext cx="2873424" cy="834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35116" y="4414837"/>
            <a:ext cx="65033" cy="45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2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 flipH="1" flipV="1">
            <a:off x="8558630" y="4586286"/>
            <a:ext cx="45719" cy="791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КОНТРОЛ И ОЦЕНЯВАНЕ</a:t>
            </a:r>
            <a:endParaRPr/>
          </a:p>
        </p:txBody>
      </p:sp>
      <p:sp>
        <p:nvSpPr>
          <p:cNvPr id="289" name="Google Shape;289;p23"/>
          <p:cNvSpPr/>
          <p:nvPr/>
        </p:nvSpPr>
        <p:spPr>
          <a:xfrm>
            <a:off x="571500" y="1162050"/>
            <a:ext cx="110490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3"/>
          <p:cNvSpPr/>
          <p:nvPr/>
        </p:nvSpPr>
        <p:spPr>
          <a:xfrm>
            <a:off x="1676400" y="1794718"/>
            <a:ext cx="8839200" cy="4278213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1" name="Google Shape;291;p23"/>
          <p:cNvGraphicFramePr/>
          <p:nvPr/>
        </p:nvGraphicFramePr>
        <p:xfrm>
          <a:off x="1676400" y="1794718"/>
          <a:ext cx="8839200" cy="4278250"/>
        </p:xfrm>
        <a:graphic>
          <a:graphicData uri="http://schemas.openxmlformats.org/drawingml/2006/table">
            <a:tbl>
              <a:tblPr firstRow="1" bandRow="1">
                <a:noFill/>
                <a:tableStyleId>{3BD22F87-50B3-4B73-BE25-55E39E27975A}</a:tableStyleId>
              </a:tblPr>
              <a:tblGrid>
                <a:gridCol w="265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8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55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5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Оценка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5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Критерий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5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10B98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Отличен 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F172A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Над 14 точки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5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3B82F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Добър 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F172A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9 – 12 точки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5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59E0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Среден 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F172A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6 – 9 точки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5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EF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Слаб 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F172A"/>
                          </a:solidFill>
                          <a:latin typeface="Open Sans SemiBold"/>
                          <a:ea typeface="Open Sans SemiBold"/>
                          <a:cs typeface="Open Sans SemiBold"/>
                          <a:sym typeface="Open Sans SemiBold"/>
                        </a:rPr>
                        <a:t>Под 6 точки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2" name="Google Shape;292;p23"/>
          <p:cNvSpPr/>
          <p:nvPr/>
        </p:nvSpPr>
        <p:spPr>
          <a:xfrm>
            <a:off x="1676400" y="2662386"/>
            <a:ext cx="26516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3"/>
          <p:cNvSpPr/>
          <p:nvPr/>
        </p:nvSpPr>
        <p:spPr>
          <a:xfrm>
            <a:off x="4328070" y="2662386"/>
            <a:ext cx="61875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3"/>
          <p:cNvSpPr/>
          <p:nvPr/>
        </p:nvSpPr>
        <p:spPr>
          <a:xfrm>
            <a:off x="1676400" y="3513832"/>
            <a:ext cx="26516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3"/>
          <p:cNvSpPr/>
          <p:nvPr/>
        </p:nvSpPr>
        <p:spPr>
          <a:xfrm>
            <a:off x="4328070" y="3513832"/>
            <a:ext cx="61875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3"/>
          <p:cNvSpPr/>
          <p:nvPr/>
        </p:nvSpPr>
        <p:spPr>
          <a:xfrm>
            <a:off x="1676400" y="4365277"/>
            <a:ext cx="26516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3"/>
          <p:cNvSpPr/>
          <p:nvPr/>
        </p:nvSpPr>
        <p:spPr>
          <a:xfrm>
            <a:off x="4328070" y="4365277"/>
            <a:ext cx="61875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3"/>
          <p:cNvSpPr/>
          <p:nvPr/>
        </p:nvSpPr>
        <p:spPr>
          <a:xfrm>
            <a:off x="1676400" y="5216723"/>
            <a:ext cx="26516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3"/>
          <p:cNvSpPr/>
          <p:nvPr/>
        </p:nvSpPr>
        <p:spPr>
          <a:xfrm>
            <a:off x="4328070" y="5216723"/>
            <a:ext cx="61875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4"/>
          <p:cNvSpPr txBox="1"/>
          <p:nvPr/>
        </p:nvSpPr>
        <p:spPr>
          <a:xfrm>
            <a:off x="1971675" y="1878508"/>
            <a:ext cx="8248650" cy="1839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1" u="none" strike="noStrike" cap="none">
                <a:solidFill>
                  <a:srgbClr val="0F172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Не обучаваш ученици да минат изпит — обучаваш ги да живеят безопасно на пътя. </a:t>
            </a:r>
            <a:endParaRPr/>
          </a:p>
        </p:txBody>
      </p:sp>
      <p:pic>
        <p:nvPicPr>
          <p:cNvPr id="305" name="Google Shape;30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00175" y="4194720"/>
            <a:ext cx="9391650" cy="1051321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4"/>
          <p:cNvSpPr txBox="1"/>
          <p:nvPr/>
        </p:nvSpPr>
        <p:spPr>
          <a:xfrm>
            <a:off x="1114425" y="2259508"/>
            <a:ext cx="552450" cy="162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0" i="1" u="none" strike="noStrike" cap="none">
                <a:solidFill>
                  <a:srgbClr val="F59E0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"</a:t>
            </a:r>
            <a:endParaRPr/>
          </a:p>
        </p:txBody>
      </p:sp>
      <p:sp>
        <p:nvSpPr>
          <p:cNvPr id="307" name="Google Shape;307;p24"/>
          <p:cNvSpPr txBox="1"/>
          <p:nvPr/>
        </p:nvSpPr>
        <p:spPr>
          <a:xfrm>
            <a:off x="10525125" y="3908971"/>
            <a:ext cx="552450" cy="162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0" i="1" u="none" strike="noStrike" cap="none">
                <a:solidFill>
                  <a:srgbClr val="F59E0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"</a:t>
            </a:r>
            <a:endParaRPr/>
          </a:p>
        </p:txBody>
      </p:sp>
      <p:pic>
        <p:nvPicPr>
          <p:cNvPr id="308" name="Google Shape;308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66875" y="4451895"/>
            <a:ext cx="209550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52950" y="4079527"/>
            <a:ext cx="3086100" cy="166107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5"/>
          <p:cNvSpPr txBox="1"/>
          <p:nvPr/>
        </p:nvSpPr>
        <p:spPr>
          <a:xfrm>
            <a:off x="1008992" y="1687085"/>
            <a:ext cx="10887731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1E3A8A"/>
                </a:solidFill>
                <a:latin typeface="Montserrat"/>
                <a:ea typeface="Montserrat"/>
                <a:cs typeface="Montserrat"/>
                <a:sym typeface="Montserrat"/>
              </a:rPr>
              <a:t>БЛАГОДАРЯ ЗА ВНИМАНИЕТО!</a:t>
            </a:r>
            <a:endParaRPr sz="4000"/>
          </a:p>
        </p:txBody>
      </p:sp>
      <p:sp>
        <p:nvSpPr>
          <p:cNvPr id="316" name="Google Shape;316;p25"/>
          <p:cNvSpPr txBox="1"/>
          <p:nvPr/>
        </p:nvSpPr>
        <p:spPr>
          <a:xfrm>
            <a:off x="4552950" y="4479577"/>
            <a:ext cx="30861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Ивайло Здравков Недков</a:t>
            </a:r>
            <a:endParaRPr/>
          </a:p>
        </p:txBody>
      </p:sp>
      <p:sp>
        <p:nvSpPr>
          <p:cNvPr id="317" name="Google Shape;317;p25"/>
          <p:cNvSpPr txBox="1"/>
          <p:nvPr/>
        </p:nvSpPr>
        <p:spPr>
          <a:xfrm>
            <a:off x="4552950" y="4940498"/>
            <a:ext cx="3086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Група 753</a:t>
            </a:r>
            <a:endParaRPr/>
          </a:p>
        </p:txBody>
      </p:sp>
      <p:sp>
        <p:nvSpPr>
          <p:cNvPr id="318" name="Google Shape;318;p25"/>
          <p:cNvSpPr txBox="1"/>
          <p:nvPr/>
        </p:nvSpPr>
        <p:spPr>
          <a:xfrm>
            <a:off x="4552950" y="5340548"/>
            <a:ext cx="3086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Технически университет – София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6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IMAGE SOURCES</a:t>
            </a:r>
            <a:endParaRPr/>
          </a:p>
        </p:txBody>
      </p:sp>
      <p:sp>
        <p:nvSpPr>
          <p:cNvPr id="324" name="Google Shape;324;p26"/>
          <p:cNvSpPr/>
          <p:nvPr/>
        </p:nvSpPr>
        <p:spPr>
          <a:xfrm>
            <a:off x="571500" y="1162050"/>
            <a:ext cx="110490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6"/>
          <p:cNvSpPr/>
          <p:nvPr/>
        </p:nvSpPr>
        <p:spPr>
          <a:xfrm>
            <a:off x="571500" y="2269926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6"/>
          <p:cNvSpPr/>
          <p:nvPr/>
        </p:nvSpPr>
        <p:spPr>
          <a:xfrm>
            <a:off x="571500" y="3054697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6"/>
          <p:cNvSpPr/>
          <p:nvPr/>
        </p:nvSpPr>
        <p:spPr>
          <a:xfrm>
            <a:off x="571500" y="3839467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6"/>
          <p:cNvSpPr/>
          <p:nvPr/>
        </p:nvSpPr>
        <p:spPr>
          <a:xfrm>
            <a:off x="571500" y="304517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6"/>
          <p:cNvSpPr/>
          <p:nvPr/>
        </p:nvSpPr>
        <p:spPr>
          <a:xfrm>
            <a:off x="571500" y="304517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6"/>
          <p:cNvSpPr/>
          <p:nvPr/>
        </p:nvSpPr>
        <p:spPr>
          <a:xfrm>
            <a:off x="571500" y="382994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6"/>
          <p:cNvSpPr/>
          <p:nvPr/>
        </p:nvSpPr>
        <p:spPr>
          <a:xfrm>
            <a:off x="571500" y="382994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6"/>
          <p:cNvSpPr/>
          <p:nvPr/>
        </p:nvSpPr>
        <p:spPr>
          <a:xfrm>
            <a:off x="571500" y="481280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6"/>
          <p:cNvSpPr/>
          <p:nvPr/>
        </p:nvSpPr>
        <p:spPr>
          <a:xfrm>
            <a:off x="571500" y="481280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4" name="Google Shape;334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4193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6"/>
          <p:cNvSpPr txBox="1"/>
          <p:nvPr/>
        </p:nvSpPr>
        <p:spPr>
          <a:xfrm>
            <a:off x="1666875" y="2412801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https://freerangestock.com/sample/167396/yield-traffic-sign-with-blurred-background.jpg</a:t>
            </a:r>
            <a:endParaRPr/>
          </a:p>
        </p:txBody>
      </p:sp>
      <p:sp>
        <p:nvSpPr>
          <p:cNvPr id="336" name="Google Shape;336;p26"/>
          <p:cNvSpPr txBox="1"/>
          <p:nvPr/>
        </p:nvSpPr>
        <p:spPr>
          <a:xfrm>
            <a:off x="1666875" y="265851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freerangestock.com</a:t>
            </a:r>
            <a:endParaRPr/>
          </a:p>
        </p:txBody>
      </p:sp>
      <p:pic>
        <p:nvPicPr>
          <p:cNvPr id="337" name="Google Shape;337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20412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6"/>
          <p:cNvSpPr txBox="1"/>
          <p:nvPr/>
        </p:nvSpPr>
        <p:spPr>
          <a:xfrm>
            <a:off x="1666875" y="319757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https://a-1driving.com/wp-content/uploads/2025/09/TDC-Classroom-APRIL-2024-v2.jpg</a:t>
            </a:r>
            <a:endParaRPr/>
          </a:p>
        </p:txBody>
      </p:sp>
      <p:sp>
        <p:nvSpPr>
          <p:cNvPr id="339" name="Google Shape;339;p26"/>
          <p:cNvSpPr txBox="1"/>
          <p:nvPr/>
        </p:nvSpPr>
        <p:spPr>
          <a:xfrm>
            <a:off x="1666875" y="344328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a-1driving.com</a:t>
            </a:r>
            <a:endParaRPr/>
          </a:p>
        </p:txBody>
      </p:sp>
      <p:pic>
        <p:nvPicPr>
          <p:cNvPr id="340" name="Google Shape;340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08801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6"/>
          <p:cNvSpPr txBox="1"/>
          <p:nvPr/>
        </p:nvSpPr>
        <p:spPr>
          <a:xfrm>
            <a:off x="1666875" y="3982342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https://media.istockphoto.com/id/2184648948/photo/rear-view-of-hispanic-driving-instructor-guiding-teen-student-during-driving-test-lesson.jpg?s=612x612&amp;w=0&amp;k=20&amp;c=nLHqHzx-kXulAuxIHTtRAkBabnAfmQX7ED1FLKjPebE=</a:t>
            </a:r>
            <a:endParaRPr/>
          </a:p>
        </p:txBody>
      </p:sp>
      <p:sp>
        <p:nvSpPr>
          <p:cNvPr id="342" name="Google Shape;342;p26"/>
          <p:cNvSpPr txBox="1"/>
          <p:nvPr/>
        </p:nvSpPr>
        <p:spPr>
          <a:xfrm>
            <a:off x="1666875" y="442614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www.istockphoto.com</a:t>
            </a:r>
            <a:endParaRPr/>
          </a:p>
        </p:txBody>
      </p:sp>
      <p:pic>
        <p:nvPicPr>
          <p:cNvPr id="343" name="Google Shape;343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97175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26"/>
          <p:cNvSpPr txBox="1"/>
          <p:nvPr/>
        </p:nvSpPr>
        <p:spPr>
          <a:xfrm>
            <a:off x="1666875" y="4965203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https://www.seniorroadusers.vic.gov.au/_media/images/cars/TACHighResEdited-164.jpg/1920w.jpg</a:t>
            </a:r>
            <a:endParaRPr/>
          </a:p>
        </p:txBody>
      </p:sp>
      <p:sp>
        <p:nvSpPr>
          <p:cNvPr id="345" name="Google Shape;345;p26"/>
          <p:cNvSpPr txBox="1"/>
          <p:nvPr/>
        </p:nvSpPr>
        <p:spPr>
          <a:xfrm>
            <a:off x="1666875" y="521091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www.seniorroadusers.vic.gov.au</a:t>
            </a:r>
            <a:endParaRPr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170</TotalTime>
  <Words>934</Words>
  <Application>Microsoft Office PowerPoint</Application>
  <PresentationFormat>Widescreen</PresentationFormat>
  <Paragraphs>158</Paragraphs>
  <Slides>18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Calibri</vt:lpstr>
      <vt:lpstr>Montserrat ExtraBold</vt:lpstr>
      <vt:lpstr>Open Sans SemiBold</vt:lpstr>
      <vt:lpstr>Montserrat</vt:lpstr>
      <vt:lpstr>Century Gothic</vt:lpstr>
      <vt:lpstr>Arial</vt:lpstr>
      <vt:lpstr>Montserrat SemiBold</vt:lpstr>
      <vt:lpstr>Open Sans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ОЧАКВАНИ РЕЗУЛТАТИ</vt:lpstr>
      <vt:lpstr>ХОД НА УРОКА (90 МИНУТИ)</vt:lpstr>
      <vt:lpstr>Наредба № РД-02-21-1 от 23 ноември 2023 г. за сигнализация на пътищата с пътни знаци</vt:lpstr>
      <vt:lpstr>PowerPoint Presentation</vt:lpstr>
      <vt:lpstr>PowerPoint Presentation</vt:lpstr>
      <vt:lpstr>PowerPoint Presentation</vt:lpstr>
      <vt:lpstr>PowerPoint Presentation</vt:lpstr>
      <vt:lpstr>ДИДАКТИЧЕСКИ ПРИНЦИПИ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Ivaylo</dc:creator>
  <cp:lastModifiedBy>Ivaylo</cp:lastModifiedBy>
  <cp:revision>6</cp:revision>
  <dcterms:modified xsi:type="dcterms:W3CDTF">2026-06-02T10:26:52Z</dcterms:modified>
</cp:coreProperties>
</file>