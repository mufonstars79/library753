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-35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D34D"/>
                </a:solidFill>
              </a:rPr>
              <a:t>БЕЗОПАСНОСТ НА ДВИЖЕНИЕТО ПО ПЪТИЩАТА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Участниците в движението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CD34D"/>
                </a:solidFill>
              </a:rPr>
              <a:t>и техните специфични особености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 учебни часа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7472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94436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7764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Комбиниран урок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4436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БДП — Теория и практика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І. МЕТОДИЧЕСКА ОБОСНОВКА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ЗАЩО ТАЗИ ТЕМА?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2044"/>
                </a:solidFill>
              </a:rPr>
              <a:t>Фундаментална за обучението на бъдещи водачи — изгражда базово разбиране за всички субекти в пътната среда.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346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Теоретично усвояване на ролите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649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3192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Практически анализ на реални ситуации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9534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849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Развитие на ситуационно мислене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663440" y="1200994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1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МЕТОДИЧЕСКИ ПОДХОД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00600" y="18745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89280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Ситуационно мислене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800600" y="2697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7157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Предиктивно поведение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80060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53872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474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Безопасно поведение в динамична среда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ІІ. ЦЕЛИ НА УРОКА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32811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ОБРАЗОВАТЕЛНИ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6916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в</a:t>
            </a:r>
            <a:r>
              <a:rPr lang="en-US" sz="1100" dirty="0" err="1" smtClean="0">
                <a:solidFill>
                  <a:srgbClr val="FFFFFF"/>
                </a:solidFill>
              </a:rPr>
              <a:t>идове</a:t>
            </a:r>
            <a:r>
              <a:rPr lang="bg-BG" sz="1100" dirty="0" smtClean="0">
                <a:solidFill>
                  <a:srgbClr val="FFFFFF"/>
                </a:solidFill>
              </a:rPr>
              <a:t>те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участници в движението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5603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техните </a:t>
            </a:r>
            <a:r>
              <a:rPr lang="en-US" sz="1100" dirty="0" err="1" smtClean="0">
                <a:solidFill>
                  <a:srgbClr val="FFFFFF"/>
                </a:solidFill>
              </a:rPr>
              <a:t>Права</a:t>
            </a:r>
            <a:r>
              <a:rPr lang="en-US" sz="1100" dirty="0">
                <a:solidFill>
                  <a:srgbClr val="FFFFFF"/>
                </a:solidFill>
              </a:rPr>
              <a:t>, задължения и поведение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4290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Разпознаване на рискови ситуации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914400"/>
            <a:ext cx="2743200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05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04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ПРАКТИЧЕСКИ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3832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Shape 17"/>
          <p:cNvSpPr/>
          <p:nvPr/>
        </p:nvSpPr>
        <p:spPr>
          <a:xfrm>
            <a:off x="3383280" y="16916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8"/>
          <p:cNvSpPr/>
          <p:nvPr/>
        </p:nvSpPr>
        <p:spPr>
          <a:xfrm>
            <a:off x="35021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Умение за 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на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</a:rPr>
              <a:t>поведение</a:t>
            </a:r>
            <a:r>
              <a:rPr lang="bg-BG" sz="1100" dirty="0" smtClean="0">
                <a:solidFill>
                  <a:srgbClr val="FFFFFF"/>
                </a:solidFill>
              </a:rPr>
              <a:t>то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участниците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4" name="Shape 20"/>
          <p:cNvSpPr/>
          <p:nvPr/>
        </p:nvSpPr>
        <p:spPr>
          <a:xfrm>
            <a:off x="3383280" y="25603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35021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опасни ситуации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832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7" name="Shape 23"/>
          <p:cNvSpPr/>
          <p:nvPr/>
        </p:nvSpPr>
        <p:spPr>
          <a:xfrm>
            <a:off x="3383280" y="34290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4"/>
          <p:cNvSpPr/>
          <p:nvPr/>
        </p:nvSpPr>
        <p:spPr>
          <a:xfrm>
            <a:off x="35021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Избор на правилно поведение като водач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0" name="Shape 26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0584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122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ВЪЗПИТАТЕЛНИ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3550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4" name="Shape 29"/>
          <p:cNvSpPr/>
          <p:nvPr/>
        </p:nvSpPr>
        <p:spPr>
          <a:xfrm>
            <a:off x="6355080" y="169164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0"/>
          <p:cNvSpPr/>
          <p:nvPr/>
        </p:nvSpPr>
        <p:spPr>
          <a:xfrm>
            <a:off x="64739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Формиране на толерантност на пътя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550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7" name="Shape 32"/>
          <p:cNvSpPr/>
          <p:nvPr/>
        </p:nvSpPr>
        <p:spPr>
          <a:xfrm>
            <a:off x="6355080" y="256032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3"/>
          <p:cNvSpPr/>
          <p:nvPr/>
        </p:nvSpPr>
        <p:spPr>
          <a:xfrm>
            <a:off x="64739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Поемане </a:t>
            </a:r>
            <a:r>
              <a:rPr lang="en-US" sz="1100" dirty="0" err="1" smtClean="0">
                <a:solidFill>
                  <a:srgbClr val="FFFFFF"/>
                </a:solidFill>
              </a:rPr>
              <a:t>на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отговорността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550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5"/>
          <p:cNvSpPr/>
          <p:nvPr/>
        </p:nvSpPr>
        <p:spPr>
          <a:xfrm>
            <a:off x="6355080" y="342900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6"/>
          <p:cNvSpPr/>
          <p:nvPr/>
        </p:nvSpPr>
        <p:spPr>
          <a:xfrm>
            <a:off x="64739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FFFFFF"/>
                </a:solidFill>
              </a:rPr>
              <a:t>Из</a:t>
            </a:r>
            <a:r>
              <a:rPr lang="bg-BG" sz="1100" dirty="0" smtClean="0">
                <a:solidFill>
                  <a:srgbClr val="FFFFFF"/>
                </a:solidFill>
              </a:rPr>
              <a:t>брояване на елементите на транспортната </a:t>
            </a:r>
            <a:r>
              <a:rPr lang="en-US" sz="1100" dirty="0" err="1" smtClean="0">
                <a:solidFill>
                  <a:srgbClr val="FFFFFF"/>
                </a:solidFill>
              </a:rPr>
              <a:t>култура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ІІІ. УЧАСТНИЦИТЕ В ДВИЖЕНИЕТО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0" cy="1783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0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ВОДАЧИ НА МПС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Отговорни за управление на превозното средство. Имат задължения по ЗДвП.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34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3957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Превишена скорост, разсеяност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00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051560"/>
            <a:ext cx="914400" cy="1783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1907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ПЕШЕХОДЦИ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806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Уязвими участници — без защитна обвивка. Движат се по тротоари и пешеходни пътеки.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806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39572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Пресичане на необозначено място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28600" y="3017520"/>
            <a:ext cx="914400" cy="1783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8503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ПЪТНИЦИ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34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Намират се в МПС. Отговорни за собствената си безопасност в превозното средство.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1234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36168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54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Непоставен колан, разсейване на водача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800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800600" y="3017520"/>
            <a:ext cx="914400" cy="1783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685032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06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ВЕЛОСИПЕДИСТИ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806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Участват в уличното движение. Специфични правила и зони на движение.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806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361688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126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Слепи ъгли, липса на каска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ІV. СТРУКТУРА — ПЪРВИ ЧАС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Организационен момент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Проверка на присъствие · Подготовка за работа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Актуализация на знанията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Фронтална беседа · Устен тест · Въпроси за предимство и пътен риск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мин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971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Въведение в новата тема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Проблемна ситуация: Защо най-много ПТП възникват между различни участници?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Нов материал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3434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Водачи · Пешеходци · Пътници · Велосипедисти — поведение и отговорност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 мин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ІV. СТРУКТУРА — ВТОРИ ЧАС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6FAFA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05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Затвърдяване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2704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Анализ на реални ситуации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2938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Решаване на казуси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00600" y="960120"/>
            <a:ext cx="4206240" cy="182880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960120"/>
            <a:ext cx="4206240" cy="4572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058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Практически анализ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2704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Пешеходец на необозначено място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938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Велосипедист в градски трафик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3172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Водач на кръстовище без светофар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228600" y="2971800"/>
            <a:ext cx="4206240" cy="4572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017520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1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38728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Разпознаване на участника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41064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5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Избор на правилно поведение</a:t>
            </a:r>
            <a:endParaRPr lang="en-US" sz="11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43400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85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Аргументация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4800600" y="2971800"/>
            <a:ext cx="4206240" cy="182880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4800600" y="2971800"/>
            <a:ext cx="4206240" cy="45720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017520"/>
            <a:ext cx="347472" cy="34747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303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Обобщение</a:t>
            </a:r>
            <a:endParaRPr lang="en-US" sz="14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38728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257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Систематизация</a:t>
            </a:r>
            <a:endParaRPr lang="en-US" sz="11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41064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257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Изводи</a:t>
            </a:r>
            <a:endParaRPr lang="en-US" sz="11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343400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257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Домашна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V–VІ. МЕТОДИ И ДИДАКТИЧЕСКИ ПРИНЦИПИ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МЕТОДИ НА ОБУЧЕНИЕ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270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Обяснение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11226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305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66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Беседа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11480" y="27157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73405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70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Анализ на ситуации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11480" y="33192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3375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273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Решаване на казуси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11480" y="392277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94106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877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5488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2" name="Shape 15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6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ДИДАКТИЧЕСКИ ПРИНЦИПИ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Нагледност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Съзнателност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Активност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Достъпност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Трайност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Практическа насоченост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VІІ. ТЕХНИЧЕСКО ОСИГУРЯВАНЕ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984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Схеми на пътни ситуации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планове на кръстовища и пешеходни пътеки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2984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Видео клипове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690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Реални записи от пътни ситуации за анализ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984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Презентация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408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Мултимедийна подкрепа на теоретичния материал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0175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186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Учебни табла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97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материали с правила и участници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3017520"/>
            <a:ext cx="41148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4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21868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Казусни карти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669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Практически задачи за групова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82880"/>
            <a:ext cx="4114800" cy="594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</a:rPr>
              <a:t>ДОМАШНА РАБОТА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914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Опишете реална пътна ситуация с участие на поне двама различни участници.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1755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Идентифицирайте вида участници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2304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Опишете тяхното поведение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2852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Анализирайте риска в ситуацията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401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Предложете по-безопасно решение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00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4"/>
          <p:cNvSpPr/>
          <p:nvPr/>
        </p:nvSpPr>
        <p:spPr>
          <a:xfrm>
            <a:off x="4800600" y="182880"/>
            <a:ext cx="4114800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6032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ЗАКЛЮЧЕНИЕ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983480" y="960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Урокът формира цялостно разбиране за взаимодействието между участниците и изгражда умения за безопасно поведение.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983480" y="1965960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9200" y="20025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020824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3212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Познаване на всички участници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983480" y="2624328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6" name="Shape 31"/>
          <p:cNvSpPr/>
          <p:nvPr/>
        </p:nvSpPr>
        <p:spPr>
          <a:xfrm>
            <a:off x="5029200" y="266090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679192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32120" y="26243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Предиктивно безопасно поведение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983480" y="3282696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4"/>
          <p:cNvSpPr/>
          <p:nvPr/>
        </p:nvSpPr>
        <p:spPr>
          <a:xfrm>
            <a:off x="5029200" y="33192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337560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32120" y="32826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Толерантност и отговорност на пътя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37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D34D"/>
                </a:solidFill>
              </a:rPr>
              <a:t>📍 Кабинет по БДП / Теоретична зала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478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Участници в движението по пътищата</dc:title>
  <dc:subject>PptxGenJS Presentation</dc:subject>
  <dc:creator>PptxGenJS</dc:creator>
  <cp:lastModifiedBy>Home</cp:lastModifiedBy>
  <cp:revision>2</cp:revision>
  <dcterms:created xsi:type="dcterms:W3CDTF">2026-05-27T06:51:09Z</dcterms:created>
  <dcterms:modified xsi:type="dcterms:W3CDTF">2026-05-27T21:14:45Z</dcterms:modified>
</cp:coreProperties>
</file>