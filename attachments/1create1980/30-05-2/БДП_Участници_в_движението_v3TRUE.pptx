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-35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Shape 4"/>
          <p:cNvSpPr/>
          <p:nvPr/>
        </p:nvSpPr>
        <p:spPr>
          <a:xfrm>
            <a:off x="356616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57200"/>
            <a:ext cx="2926080" cy="3657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CD34D"/>
                </a:solidFill>
              </a:rPr>
              <a:t>БЕЗОПАСНОСТ НА ДВИЖЕНИЕТО ПО ПЪТИЩАТА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Участниците в движението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CD34D"/>
                </a:solidFill>
              </a:rPr>
              <a:t>и техните специфични особености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2606040" cy="502920"/>
          </a:xfrm>
          <a:prstGeom prst="rect">
            <a:avLst/>
          </a:prstGeom>
          <a:solidFill>
            <a:srgbClr val="1A3366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44368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 учебни часа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74720" y="2880360"/>
            <a:ext cx="2606040" cy="502920"/>
          </a:xfrm>
          <a:prstGeom prst="rect">
            <a:avLst/>
          </a:prstGeom>
          <a:solidFill>
            <a:srgbClr val="1A3366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944368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7764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Комбиниран урок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309360" y="2880360"/>
            <a:ext cx="2606040" cy="502920"/>
          </a:xfrm>
          <a:prstGeom prst="rect">
            <a:avLst/>
          </a:prstGeom>
          <a:solidFill>
            <a:srgbClr val="1A3366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94436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БДП — Теория и практика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6858000" y="9144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І. МЕТОДИЧЕСКА ОБОСНОВКА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887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</a:rPr>
              <a:t>ЗАЩО ТАЗИ ТЕМА?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2044"/>
                </a:solidFill>
              </a:rPr>
              <a:t>Фундаментална за обучението на бъдещи водачи — изгражда базово разбиране за всички субекти в пътната среда.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8346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788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Теоретично усвояване на ролите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649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33192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Практически анализ на реални ситуации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9534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84962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Развитие на ситуационно мислене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663440" y="1200994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663440" y="118872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1"/>
          <p:cNvSpPr/>
          <p:nvPr/>
        </p:nvSpPr>
        <p:spPr>
          <a:xfrm>
            <a:off x="466344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МЕТОДИЧЕСКИ ПОДХОД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800600" y="18745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89280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0352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</a:rPr>
              <a:t>Ситуационно мислене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800600" y="26974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71576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03520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</a:rPr>
              <a:t>Предиктивно поведение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800600" y="35204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538728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03520" y="3474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</a:rPr>
              <a:t>Безопасно поведение в динамична среда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ІІ. ЦЕЛИ НА УРОКА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32811"/>
            <a:ext cx="2743200" cy="393192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6400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14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ОБРАЗОВАТЕЛНИ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69164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69164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691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Изброява в</a:t>
            </a:r>
            <a:r>
              <a:rPr lang="en-US" sz="1100" dirty="0" err="1" smtClean="0">
                <a:solidFill>
                  <a:srgbClr val="FFFFFF"/>
                </a:solidFill>
              </a:rPr>
              <a:t>идове</a:t>
            </a:r>
            <a:r>
              <a:rPr lang="bg-BG" sz="1100" dirty="0" smtClean="0">
                <a:solidFill>
                  <a:srgbClr val="FFFFFF"/>
                </a:solidFill>
              </a:rPr>
              <a:t>те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участници в движението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56032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" y="256032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30352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Изброява техните </a:t>
            </a:r>
            <a:r>
              <a:rPr lang="en-US" sz="1100" dirty="0" err="1" smtClean="0">
                <a:solidFill>
                  <a:srgbClr val="FFFFFF"/>
                </a:solidFill>
              </a:rPr>
              <a:t>Права</a:t>
            </a:r>
            <a:r>
              <a:rPr lang="en-US" sz="1100" dirty="0">
                <a:solidFill>
                  <a:srgbClr val="FFFFFF"/>
                </a:solidFill>
              </a:rPr>
              <a:t>, задължения и поведение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342900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342900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30352" y="3429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Разпознаване на рискови ситуации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914400"/>
            <a:ext cx="2743200" cy="393192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3246120" y="914400"/>
            <a:ext cx="2743200" cy="640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00584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40480" y="914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ПРАКТИЧЕСКИ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383280" y="169164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1" name="Shape 17"/>
          <p:cNvSpPr/>
          <p:nvPr/>
        </p:nvSpPr>
        <p:spPr>
          <a:xfrm>
            <a:off x="3383280" y="169164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18"/>
          <p:cNvSpPr/>
          <p:nvPr/>
        </p:nvSpPr>
        <p:spPr>
          <a:xfrm>
            <a:off x="3502152" y="1691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Умение за разпознаване 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на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</a:rPr>
              <a:t>поведение</a:t>
            </a:r>
            <a:r>
              <a:rPr lang="bg-BG" sz="1100" dirty="0" smtClean="0">
                <a:solidFill>
                  <a:srgbClr val="FFFFFF"/>
                </a:solidFill>
              </a:rPr>
              <a:t>то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на участниците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83280" y="256032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4" name="Shape 20"/>
          <p:cNvSpPr/>
          <p:nvPr/>
        </p:nvSpPr>
        <p:spPr>
          <a:xfrm>
            <a:off x="3383280" y="256032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1"/>
          <p:cNvSpPr/>
          <p:nvPr/>
        </p:nvSpPr>
        <p:spPr>
          <a:xfrm>
            <a:off x="3502152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Разпознаване 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на опасни ситуации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383280" y="342900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7" name="Shape 23"/>
          <p:cNvSpPr/>
          <p:nvPr/>
        </p:nvSpPr>
        <p:spPr>
          <a:xfrm>
            <a:off x="3383280" y="342900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4"/>
          <p:cNvSpPr/>
          <p:nvPr/>
        </p:nvSpPr>
        <p:spPr>
          <a:xfrm>
            <a:off x="3502152" y="3429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Избор на правилно поведение като водач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217920" y="914400"/>
            <a:ext cx="2743200" cy="393192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30" name="Shape 26"/>
          <p:cNvSpPr/>
          <p:nvPr/>
        </p:nvSpPr>
        <p:spPr>
          <a:xfrm>
            <a:off x="6217920" y="914400"/>
            <a:ext cx="2743200" cy="640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05840"/>
            <a:ext cx="411480" cy="4114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812280" y="914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ВЪЗПИТАТЕЛНИ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355080" y="169164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4" name="Shape 29"/>
          <p:cNvSpPr/>
          <p:nvPr/>
        </p:nvSpPr>
        <p:spPr>
          <a:xfrm>
            <a:off x="6355080" y="169164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0"/>
          <p:cNvSpPr/>
          <p:nvPr/>
        </p:nvSpPr>
        <p:spPr>
          <a:xfrm>
            <a:off x="6473952" y="1691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Формиране на толерантност на пътя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355080" y="256032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7" name="Shape 32"/>
          <p:cNvSpPr/>
          <p:nvPr/>
        </p:nvSpPr>
        <p:spPr>
          <a:xfrm>
            <a:off x="6355080" y="256032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3"/>
          <p:cNvSpPr/>
          <p:nvPr/>
        </p:nvSpPr>
        <p:spPr>
          <a:xfrm>
            <a:off x="6473952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Поемане </a:t>
            </a:r>
            <a:r>
              <a:rPr lang="en-US" sz="1100" dirty="0" err="1" smtClean="0">
                <a:solidFill>
                  <a:srgbClr val="FFFFFF"/>
                </a:solidFill>
              </a:rPr>
              <a:t>на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</a:rPr>
              <a:t>отговорност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355080" y="3441274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40" name="Shape 35"/>
          <p:cNvSpPr/>
          <p:nvPr/>
        </p:nvSpPr>
        <p:spPr>
          <a:xfrm>
            <a:off x="6355080" y="342900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6"/>
          <p:cNvSpPr/>
          <p:nvPr/>
        </p:nvSpPr>
        <p:spPr>
          <a:xfrm>
            <a:off x="6473952" y="3429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FFFFFF"/>
                </a:solidFill>
              </a:rPr>
              <a:t>Из</a:t>
            </a:r>
            <a:r>
              <a:rPr lang="bg-BG" sz="1100" dirty="0" smtClean="0">
                <a:solidFill>
                  <a:srgbClr val="FFFFFF"/>
                </a:solidFill>
              </a:rPr>
              <a:t>брояване на елементите на транспортната </a:t>
            </a:r>
            <a:r>
              <a:rPr lang="en-US" sz="1100" dirty="0" err="1" smtClean="0">
                <a:solidFill>
                  <a:srgbClr val="FFFFFF"/>
                </a:solidFill>
              </a:rPr>
              <a:t>култура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ІІІ. УЧАСТНИЦИТЕ В ДВИЖЕНИЕТО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0" cy="1783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90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143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ВОДАЧИ НА МПС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Отговорни за управление на превозното средство. Имат задължения по ЗДвП.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234440" y="233172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239572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Превишена скорост, разсеяност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800600" y="105156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00600" y="1051560"/>
            <a:ext cx="914400" cy="17830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71907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06440" y="1143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ПЕШЕХОДЦИ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80644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Уязвими участници — без защитна обвивка. Движат се по тротоари и пешеходни пътеки.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806440" y="233172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239572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2648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Пресичане на необозначено място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28600" y="301752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228600" y="3017520"/>
            <a:ext cx="914400" cy="1783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85032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ПЪТНИЦИ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234440" y="35204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Намират се в МПС. Отговорни за собствената си безопасност в превозното средство.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1234440" y="429768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4361688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554480" y="4297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Непоставен колан, разсейване на водача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800600" y="301752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800600" y="3017520"/>
            <a:ext cx="914400" cy="1783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685032"/>
            <a:ext cx="502920" cy="5029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806440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ВЕЛОСИПЕДИСТИ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5806440" y="35204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Участват в уличното движение. Специфични правила и зони на движение.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806440" y="429768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361688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126480" y="4297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Слепи ъгли, липса на каска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ІV. СТРУКТУРА — ПЪРВИ ЧАС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949440" y="137160"/>
            <a:ext cx="18288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0" y="137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</a:rPr>
              <a:t>45 минути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640080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Организационен момент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Проверка на присъствие · Подготовка за работа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1097280"/>
            <a:ext cx="91440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097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мин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920240"/>
            <a:ext cx="640080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92024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19659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Актуализация на знанията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3317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Фронтална беседа · Устен тест · Въпроси за предимство и пътен риск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0" y="2103120"/>
            <a:ext cx="91440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21031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 мин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926080"/>
            <a:ext cx="640080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2608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29718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Въведение в новата тема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3375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Проблемна ситуация: Защо най-много ПТП възникват между различни участници?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0" y="3108960"/>
            <a:ext cx="91440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31089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мин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931920"/>
            <a:ext cx="640080" cy="8412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93192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05840" y="39776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Нов материал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3434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Водачи · Пешеходци · Пътници · Велосипедисти — поведение и отговорност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63840" y="4114800"/>
            <a:ext cx="91440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41148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25 мин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ІV. СТРУКТУРА — ВТОРИ ЧАС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164592"/>
            <a:ext cx="18288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</a:rPr>
              <a:t>45 минути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6FAFA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0058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960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Затвърдяване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52704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15087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Анализ на реални ситуации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92938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19110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Решаване на казуси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800600" y="960120"/>
            <a:ext cx="4206240" cy="1828800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800600" y="960120"/>
            <a:ext cx="4206240" cy="4572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00584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960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Практически анализ</a:t>
            </a:r>
            <a:endParaRPr lang="en-US" sz="14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27048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15087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Пешеходец на необозначено място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29384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57800" y="19110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Велосипедист в градски трафик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31720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23134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Водач на кръстовище без светофар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228600" y="2971800"/>
            <a:ext cx="4206240" cy="1828800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228600" y="2971800"/>
            <a:ext cx="4206240" cy="4572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3017520"/>
            <a:ext cx="347472" cy="34747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31520" y="2971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Упражнение</a:t>
            </a:r>
            <a:endParaRPr lang="en-US" sz="14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38728"/>
            <a:ext cx="228600" cy="2286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85800" y="35204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Разпознаване на участника</a:t>
            </a:r>
            <a:endParaRPr lang="en-US" sz="11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41064"/>
            <a:ext cx="228600" cy="2286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85800" y="39227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Избор на правилно поведение</a:t>
            </a:r>
            <a:endParaRPr lang="en-US" sz="11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43400"/>
            <a:ext cx="228600" cy="2286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85800" y="43251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Аргументация</a:t>
            </a:r>
            <a:endParaRPr lang="en-US" sz="1100" dirty="0"/>
          </a:p>
        </p:txBody>
      </p:sp>
      <p:sp>
        <p:nvSpPr>
          <p:cNvPr id="34" name="Shape 21"/>
          <p:cNvSpPr/>
          <p:nvPr/>
        </p:nvSpPr>
        <p:spPr>
          <a:xfrm>
            <a:off x="4800600" y="2971800"/>
            <a:ext cx="4206240" cy="182880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2"/>
          <p:cNvSpPr/>
          <p:nvPr/>
        </p:nvSpPr>
        <p:spPr>
          <a:xfrm>
            <a:off x="4800600" y="2971800"/>
            <a:ext cx="4206240" cy="457200"/>
          </a:xfrm>
          <a:prstGeom prst="rect">
            <a:avLst/>
          </a:prstGeom>
          <a:solidFill>
            <a:srgbClr val="0F2044"/>
          </a:solidFill>
          <a:ln/>
        </p:spPr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017520"/>
            <a:ext cx="347472" cy="347472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303520" y="2971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Обобщение</a:t>
            </a:r>
            <a:endParaRPr lang="en-US" sz="14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38728"/>
            <a:ext cx="228600" cy="2286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257800" y="35204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Систематизация</a:t>
            </a:r>
            <a:endParaRPr lang="en-US" sz="110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41064"/>
            <a:ext cx="228600" cy="2286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5257800" y="39227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Изводи</a:t>
            </a:r>
            <a:endParaRPr lang="en-US" sz="110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343400"/>
            <a:ext cx="228600" cy="2286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5257800" y="43251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Домашна работа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V–VІ. МЕТОДИ И ДИДАКТИЧЕСКИ ПРИНЦИПИ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4160520" cy="397764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868680"/>
            <a:ext cx="41605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68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МЕТОДИ НА ОБУЧЕНИЕ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270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Обяснение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211226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13055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0665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Беседа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11480" y="271576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73405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6700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Анализ на ситуации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11480" y="33192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3375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273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Решаване на казуси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11480" y="392277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3941064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38770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Упражнение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754880" y="868680"/>
            <a:ext cx="4160520" cy="397764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2" name="Shape 15"/>
          <p:cNvSpPr/>
          <p:nvPr/>
        </p:nvSpPr>
        <p:spPr>
          <a:xfrm>
            <a:off x="4754880" y="868680"/>
            <a:ext cx="41605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16"/>
          <p:cNvSpPr/>
          <p:nvPr/>
        </p:nvSpPr>
        <p:spPr>
          <a:xfrm>
            <a:off x="4754880" y="868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</a:rPr>
              <a:t>ДИДАКТИЧЕСКИ ПРИНЦИПИ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4892040" y="15087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89204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Нагледност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903720" y="15087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90372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Съзнателност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892040" y="24231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89204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Активност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903720" y="24231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90372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Достъпност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892040" y="33375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89204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Трайност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903720" y="33375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90372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Практическа насоченост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VІІ. ТЕХНИЧЕСКО ОСИГУРЯВАНЕ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801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984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Схеми на пътни ситуации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Нагледни планове на кръстовища и пешеходни пътеки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9"/>
          <p:cNvSpPr/>
          <p:nvPr/>
        </p:nvSpPr>
        <p:spPr>
          <a:xfrm>
            <a:off x="3383280" y="12801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2984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Видео клипове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069080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Реални записи от пътни ситуации за анализ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09728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4"/>
          <p:cNvSpPr/>
          <p:nvPr/>
        </p:nvSpPr>
        <p:spPr>
          <a:xfrm>
            <a:off x="6355080" y="12801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29844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4088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Презентация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040880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Мултимедийна подкрепа на теоретичния материал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4320" y="30175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30175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411480" y="32004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21868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Учебни табла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97280" y="3611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Нагледни материали с правила и участници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846320" y="30175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46320" y="3017520"/>
            <a:ext cx="41148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4"/>
          <p:cNvSpPr/>
          <p:nvPr/>
        </p:nvSpPr>
        <p:spPr>
          <a:xfrm>
            <a:off x="4983480" y="320040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3218688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6928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Казусни карти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669280" y="3611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Практически задачи за групова работа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Ход на урока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80000"/>
            <a:ext cx="859536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2000" b="1" dirty="0">
                <a:solidFill>
                  <a:srgbClr val="F59E0B"/>
                </a:solidFill>
              </a:rPr>
              <a:t>ХОД НА УРОКА</a:t>
            </a:r>
          </a:p>
        </p:txBody>
      </p:sp>
      <p:sp>
        <p:nvSpPr>
          <p:cNvPr id="3" name="HeaderBg"/>
          <p:cNvSpPr/>
          <p:nvPr/>
        </p:nvSpPr>
        <p:spPr>
          <a:xfrm>
            <a:off x="274320" y="530000"/>
            <a:ext cx="8595360" cy="380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H1"/>
          <p:cNvSpPr/>
          <p:nvPr/>
        </p:nvSpPr>
        <p:spPr>
          <a:xfrm>
            <a:off x="274320" y="530000"/>
            <a:ext cx="38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bg-BG" sz="1000" b="1" dirty="0">
                <a:solidFill>
                  <a:srgbClr val="0F2044"/>
                </a:solidFill>
              </a:rPr>
              <a:t>№</a:t>
            </a:r>
          </a:p>
        </p:txBody>
      </p:sp>
      <p:sp>
        <p:nvSpPr>
          <p:cNvPr id="11" name="H2"/>
          <p:cNvSpPr/>
          <p:nvPr/>
        </p:nvSpPr>
        <p:spPr>
          <a:xfrm>
            <a:off x="654320" y="530000"/>
            <a:ext cx="190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>
              <a:buNone/>
            </a:pPr>
            <a:r>
              <a:rPr lang="bg-BG" sz="1000" b="1" dirty="0">
                <a:solidFill>
                  <a:srgbClr val="0F2044"/>
                </a:solidFill>
              </a:rPr>
              <a:t>План на съдържанието</a:t>
            </a:r>
          </a:p>
        </p:txBody>
      </p:sp>
      <p:sp>
        <p:nvSpPr>
          <p:cNvPr id="12" name="H3"/>
          <p:cNvSpPr/>
          <p:nvPr/>
        </p:nvSpPr>
        <p:spPr>
          <a:xfrm>
            <a:off x="2554320" y="530000"/>
            <a:ext cx="115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>
              <a:buNone/>
            </a:pPr>
            <a:r>
              <a:rPr lang="bg-BG" sz="1000" b="1" dirty="0">
                <a:solidFill>
                  <a:srgbClr val="0F2044"/>
                </a:solidFill>
              </a:rPr>
              <a:t>Методи</a:t>
            </a:r>
          </a:p>
        </p:txBody>
      </p:sp>
      <p:sp>
        <p:nvSpPr>
          <p:cNvPr id="13" name="H4"/>
          <p:cNvSpPr/>
          <p:nvPr/>
        </p:nvSpPr>
        <p:spPr>
          <a:xfrm>
            <a:off x="3704320" y="530000"/>
            <a:ext cx="220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>
              <a:buNone/>
            </a:pPr>
            <a:r>
              <a:rPr lang="bg-BG" sz="1000" b="1" dirty="0">
                <a:solidFill>
                  <a:srgbClr val="0F2044"/>
                </a:solidFill>
              </a:rPr>
              <a:t>Въпроси към ученика</a:t>
            </a:r>
          </a:p>
        </p:txBody>
      </p:sp>
      <p:sp>
        <p:nvSpPr>
          <p:cNvPr id="14" name="H5"/>
          <p:cNvSpPr/>
          <p:nvPr/>
        </p:nvSpPr>
        <p:spPr>
          <a:xfrm>
            <a:off x="5904320" y="530000"/>
            <a:ext cx="90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bg-BG" sz="1000" b="1" dirty="0">
                <a:solidFill>
                  <a:srgbClr val="0F2044"/>
                </a:solidFill>
              </a:rPr>
              <a:t>Задачи</a:t>
            </a:r>
          </a:p>
        </p:txBody>
      </p:sp>
      <p:sp>
        <p:nvSpPr>
          <p:cNvPr id="15" name="H6"/>
          <p:cNvSpPr/>
          <p:nvPr/>
        </p:nvSpPr>
        <p:spPr>
          <a:xfrm>
            <a:off x="6804320" y="530000"/>
            <a:ext cx="120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bg-BG" sz="1000" b="1" dirty="0">
                <a:solidFill>
                  <a:srgbClr val="0F2044"/>
                </a:solidFill>
              </a:rPr>
              <a:t>Нагл. средства</a:t>
            </a:r>
          </a:p>
        </p:txBody>
      </p:sp>
      <p:sp>
        <p:nvSpPr>
          <p:cNvPr id="16" name="H7"/>
          <p:cNvSpPr/>
          <p:nvPr/>
        </p:nvSpPr>
        <p:spPr>
          <a:xfrm>
            <a:off x="8004320" y="530000"/>
            <a:ext cx="86536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bg-BG" sz="1000" b="1" dirty="0">
                <a:solidFill>
                  <a:srgbClr val="0F2044"/>
                </a:solidFill>
              </a:rPr>
              <a:t>Време</a:t>
            </a:r>
          </a:p>
        </p:txBody>
      </p:sp>
      <p:sp>
        <p:nvSpPr>
          <p:cNvPr id="100" name="R1Bg"/>
          <p:cNvSpPr/>
          <p:nvPr/>
        </p:nvSpPr>
        <p:spPr>
          <a:xfrm>
            <a:off x="274320" y="910000"/>
            <a:ext cx="8595360" cy="34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01" name="R1C1"/>
          <p:cNvSpPr/>
          <p:nvPr/>
        </p:nvSpPr>
        <p:spPr>
          <a:xfrm>
            <a:off x="274320" y="910000"/>
            <a:ext cx="38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102" name="R1C2"/>
          <p:cNvSpPr/>
          <p:nvPr/>
        </p:nvSpPr>
        <p:spPr>
          <a:xfrm>
            <a:off x="654320" y="910000"/>
            <a:ext cx="190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Организация за работа</a:t>
            </a:r>
          </a:p>
        </p:txBody>
      </p:sp>
      <p:sp>
        <p:nvSpPr>
          <p:cNvPr id="103" name="R1C3"/>
          <p:cNvSpPr/>
          <p:nvPr/>
        </p:nvSpPr>
        <p:spPr>
          <a:xfrm>
            <a:off x="2554320" y="910000"/>
            <a:ext cx="115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104" name="R1C4"/>
          <p:cNvSpPr/>
          <p:nvPr/>
        </p:nvSpPr>
        <p:spPr>
          <a:xfrm>
            <a:off x="3704320" y="910000"/>
            <a:ext cx="220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105" name="R1C5"/>
          <p:cNvSpPr/>
          <p:nvPr/>
        </p:nvSpPr>
        <p:spPr>
          <a:xfrm>
            <a:off x="5904320" y="910000"/>
            <a:ext cx="90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106" name="R1C6"/>
          <p:cNvSpPr/>
          <p:nvPr/>
        </p:nvSpPr>
        <p:spPr>
          <a:xfrm>
            <a:off x="6804320" y="910000"/>
            <a:ext cx="120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107" name="R1C7"/>
          <p:cNvSpPr/>
          <p:nvPr/>
        </p:nvSpPr>
        <p:spPr>
          <a:xfrm>
            <a:off x="8004320" y="910000"/>
            <a:ext cx="86536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5 мин</a:t>
            </a:r>
          </a:p>
        </p:txBody>
      </p:sp>
      <p:sp>
        <p:nvSpPr>
          <p:cNvPr id="200" name="R2Bg"/>
          <p:cNvSpPr/>
          <p:nvPr/>
        </p:nvSpPr>
        <p:spPr>
          <a:xfrm>
            <a:off x="274320" y="1270000"/>
            <a:ext cx="8595360" cy="340000"/>
          </a:xfrm>
          <a:prstGeom prst="rect">
            <a:avLst/>
          </a:prstGeom>
          <a:solidFill>
            <a:srgbClr val="112855"/>
          </a:solidFill>
          <a:ln/>
        </p:spPr>
      </p:sp>
      <p:sp>
        <p:nvSpPr>
          <p:cNvPr id="201" name="R2C1"/>
          <p:cNvSpPr/>
          <p:nvPr/>
        </p:nvSpPr>
        <p:spPr>
          <a:xfrm>
            <a:off x="274320" y="1270000"/>
            <a:ext cx="38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202" name="R2C2"/>
          <p:cNvSpPr/>
          <p:nvPr/>
        </p:nvSpPr>
        <p:spPr>
          <a:xfrm>
            <a:off x="654320" y="1270000"/>
            <a:ext cx="190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Проверка на домашната работа</a:t>
            </a:r>
          </a:p>
        </p:txBody>
      </p:sp>
      <p:sp>
        <p:nvSpPr>
          <p:cNvPr id="203" name="R2C3"/>
          <p:cNvSpPr/>
          <p:nvPr/>
        </p:nvSpPr>
        <p:spPr>
          <a:xfrm>
            <a:off x="2554320" y="1270000"/>
            <a:ext cx="115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Репродуктивен</a:t>
            </a:r>
          </a:p>
        </p:txBody>
      </p:sp>
      <p:sp>
        <p:nvSpPr>
          <p:cNvPr id="204" name="R2C4"/>
          <p:cNvSpPr/>
          <p:nvPr/>
        </p:nvSpPr>
        <p:spPr>
          <a:xfrm>
            <a:off x="3704320" y="1270000"/>
            <a:ext cx="220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205" name="R2C5"/>
          <p:cNvSpPr/>
          <p:nvPr/>
        </p:nvSpPr>
        <p:spPr>
          <a:xfrm>
            <a:off x="5904320" y="1270000"/>
            <a:ext cx="90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Зад. 2.3 / 3.2</a:t>
            </a:r>
          </a:p>
        </p:txBody>
      </p:sp>
      <p:sp>
        <p:nvSpPr>
          <p:cNvPr id="206" name="R2C6"/>
          <p:cNvSpPr/>
          <p:nvPr/>
        </p:nvSpPr>
        <p:spPr>
          <a:xfrm>
            <a:off x="6804320" y="1270000"/>
            <a:ext cx="120000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207" name="R2C7"/>
          <p:cNvSpPr/>
          <p:nvPr/>
        </p:nvSpPr>
        <p:spPr>
          <a:xfrm>
            <a:off x="8004320" y="1270000"/>
            <a:ext cx="865360" cy="34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15 мин</a:t>
            </a:r>
          </a:p>
        </p:txBody>
      </p:sp>
      <p:sp>
        <p:nvSpPr>
          <p:cNvPr id="300" name="R3Bg"/>
          <p:cNvSpPr/>
          <p:nvPr/>
        </p:nvSpPr>
        <p:spPr>
          <a:xfrm>
            <a:off x="274320" y="1630000"/>
            <a:ext cx="8595360" cy="4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301" name="R3C1"/>
          <p:cNvSpPr/>
          <p:nvPr/>
        </p:nvSpPr>
        <p:spPr>
          <a:xfrm>
            <a:off x="274320" y="1630000"/>
            <a:ext cx="38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302" name="R3C2"/>
          <p:cNvSpPr/>
          <p:nvPr/>
        </p:nvSpPr>
        <p:spPr>
          <a:xfrm>
            <a:off x="654320" y="1630000"/>
            <a:ext cx="19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Преговор: Закон на Ом, режими, заместващи схеми</a:t>
            </a:r>
          </a:p>
        </p:txBody>
      </p:sp>
      <p:sp>
        <p:nvSpPr>
          <p:cNvPr id="303" name="R3C3"/>
          <p:cNvSpPr/>
          <p:nvPr/>
        </p:nvSpPr>
        <p:spPr>
          <a:xfrm>
            <a:off x="2554320" y="1630000"/>
            <a:ext cx="115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Беседа</a:t>
            </a:r>
          </a:p>
        </p:txBody>
      </p:sp>
      <p:sp>
        <p:nvSpPr>
          <p:cNvPr id="304" name="R3C4"/>
          <p:cNvSpPr/>
          <p:nvPr/>
        </p:nvSpPr>
        <p:spPr>
          <a:xfrm>
            <a:off x="3704320" y="1630000"/>
            <a:ext cx="22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bg-BG" sz="750" dirty="0">
                <a:solidFill>
                  <a:srgbClr val="CBD5E1"/>
                </a:solidFill>
              </a:rPr>
              <a:t>Какво показва З. на Ом? Каква е целта на изчисляване на ел. вериги? Какво е заместваща схема?</a:t>
            </a:r>
          </a:p>
        </p:txBody>
      </p:sp>
      <p:sp>
        <p:nvSpPr>
          <p:cNvPr id="305" name="R3C5"/>
          <p:cNvSpPr/>
          <p:nvPr/>
        </p:nvSpPr>
        <p:spPr>
          <a:xfrm>
            <a:off x="5904320" y="1630000"/>
            <a:ext cx="9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306" name="R3C6"/>
          <p:cNvSpPr/>
          <p:nvPr/>
        </p:nvSpPr>
        <p:spPr>
          <a:xfrm>
            <a:off x="6804320" y="1630000"/>
            <a:ext cx="12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307" name="R3C7"/>
          <p:cNvSpPr/>
          <p:nvPr/>
        </p:nvSpPr>
        <p:spPr>
          <a:xfrm>
            <a:off x="8004320" y="1630000"/>
            <a:ext cx="86536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6 мин</a:t>
            </a:r>
          </a:p>
        </p:txBody>
      </p:sp>
      <p:sp>
        <p:nvSpPr>
          <p:cNvPr id="400" name="R4Bg"/>
          <p:cNvSpPr/>
          <p:nvPr/>
        </p:nvSpPr>
        <p:spPr>
          <a:xfrm>
            <a:off x="274320" y="2050000"/>
            <a:ext cx="8595360" cy="400000"/>
          </a:xfrm>
          <a:prstGeom prst="rect">
            <a:avLst/>
          </a:prstGeom>
          <a:solidFill>
            <a:srgbClr val="112855"/>
          </a:solidFill>
          <a:ln/>
        </p:spPr>
      </p:sp>
      <p:sp>
        <p:nvSpPr>
          <p:cNvPr id="401" name="R4C1"/>
          <p:cNvSpPr/>
          <p:nvPr/>
        </p:nvSpPr>
        <p:spPr>
          <a:xfrm>
            <a:off x="274320" y="2050000"/>
            <a:ext cx="38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0D9488"/>
                </a:solidFill>
              </a:rPr>
              <a:t>4</a:t>
            </a:r>
          </a:p>
        </p:txBody>
      </p:sp>
      <p:sp>
        <p:nvSpPr>
          <p:cNvPr id="402" name="R4C2"/>
          <p:cNvSpPr/>
          <p:nvPr/>
        </p:nvSpPr>
        <p:spPr>
          <a:xfrm>
            <a:off x="654320" y="2050000"/>
            <a:ext cx="19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I и II Закон на Кирхоф — нова тема</a:t>
            </a:r>
          </a:p>
        </p:txBody>
      </p:sp>
      <p:sp>
        <p:nvSpPr>
          <p:cNvPr id="403" name="R4C3"/>
          <p:cNvSpPr/>
          <p:nvPr/>
        </p:nvSpPr>
        <p:spPr>
          <a:xfrm>
            <a:off x="2554320" y="2050000"/>
            <a:ext cx="115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Разказ, Беседа, Илюстрация</a:t>
            </a:r>
          </a:p>
        </p:txBody>
      </p:sp>
      <p:sp>
        <p:nvSpPr>
          <p:cNvPr id="404" name="R4C4"/>
          <p:cNvSpPr/>
          <p:nvPr/>
        </p:nvSpPr>
        <p:spPr>
          <a:xfrm>
            <a:off x="3704320" y="2050000"/>
            <a:ext cx="22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bg-BG" sz="750" dirty="0">
                <a:solidFill>
                  <a:srgbClr val="CBD5E1"/>
                </a:solidFill>
              </a:rPr>
              <a:t>Какво е клон, възел и контур? В какво се състои I ЗК? В какво се състои II ЗК?</a:t>
            </a:r>
          </a:p>
        </p:txBody>
      </p:sp>
      <p:sp>
        <p:nvSpPr>
          <p:cNvPr id="405" name="R4C5"/>
          <p:cNvSpPr/>
          <p:nvPr/>
        </p:nvSpPr>
        <p:spPr>
          <a:xfrm>
            <a:off x="5904320" y="2050000"/>
            <a:ext cx="9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406" name="R4C6"/>
          <p:cNvSpPr/>
          <p:nvPr/>
        </p:nvSpPr>
        <p:spPr>
          <a:xfrm>
            <a:off x="6804320" y="2050000"/>
            <a:ext cx="12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Фиг. 1, 2</a:t>
            </a:r>
          </a:p>
        </p:txBody>
      </p:sp>
      <p:sp>
        <p:nvSpPr>
          <p:cNvPr id="407" name="R4C7"/>
          <p:cNvSpPr/>
          <p:nvPr/>
        </p:nvSpPr>
        <p:spPr>
          <a:xfrm>
            <a:off x="8004320" y="2050000"/>
            <a:ext cx="86536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15 мин</a:t>
            </a:r>
          </a:p>
        </p:txBody>
      </p:sp>
      <p:sp>
        <p:nvSpPr>
          <p:cNvPr id="500" name="R5Bg"/>
          <p:cNvSpPr/>
          <p:nvPr/>
        </p:nvSpPr>
        <p:spPr>
          <a:xfrm>
            <a:off x="274320" y="2470000"/>
            <a:ext cx="8595360" cy="4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501" name="R5C1"/>
          <p:cNvSpPr/>
          <p:nvPr/>
        </p:nvSpPr>
        <p:spPr>
          <a:xfrm>
            <a:off x="274320" y="2470000"/>
            <a:ext cx="38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0D9488"/>
                </a:solidFill>
              </a:rPr>
              <a:t>5</a:t>
            </a:r>
          </a:p>
        </p:txBody>
      </p:sp>
      <p:sp>
        <p:nvSpPr>
          <p:cNvPr id="502" name="R5C2"/>
          <p:cNvSpPr/>
          <p:nvPr/>
        </p:nvSpPr>
        <p:spPr>
          <a:xfrm>
            <a:off x="654320" y="2470000"/>
            <a:ext cx="19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Неразклонена ел. верига — посл. свързване</a:t>
            </a:r>
          </a:p>
        </p:txBody>
      </p:sp>
      <p:sp>
        <p:nvSpPr>
          <p:cNvPr id="503" name="R5C3"/>
          <p:cNvSpPr/>
          <p:nvPr/>
        </p:nvSpPr>
        <p:spPr>
          <a:xfrm>
            <a:off x="2554320" y="2470000"/>
            <a:ext cx="115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Разказ, Беседа, Илюстрация</a:t>
            </a:r>
          </a:p>
        </p:txBody>
      </p:sp>
      <p:sp>
        <p:nvSpPr>
          <p:cNvPr id="504" name="R5C4"/>
          <p:cNvSpPr/>
          <p:nvPr/>
        </p:nvSpPr>
        <p:spPr>
          <a:xfrm>
            <a:off x="3704320" y="2470000"/>
            <a:ext cx="22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bg-BG" sz="750" dirty="0">
                <a:solidFill>
                  <a:srgbClr val="CBD5E1"/>
                </a:solidFill>
              </a:rPr>
              <a:t>Какво е неразклонена верига? Еквивалентно съпротивление? Потенциална диаграма?</a:t>
            </a:r>
          </a:p>
        </p:txBody>
      </p:sp>
      <p:sp>
        <p:nvSpPr>
          <p:cNvPr id="505" name="R5C5"/>
          <p:cNvSpPr/>
          <p:nvPr/>
        </p:nvSpPr>
        <p:spPr>
          <a:xfrm>
            <a:off x="5904320" y="2470000"/>
            <a:ext cx="9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Зад. 1–6</a:t>
            </a:r>
          </a:p>
        </p:txBody>
      </p:sp>
      <p:sp>
        <p:nvSpPr>
          <p:cNvPr id="506" name="R5C6"/>
          <p:cNvSpPr/>
          <p:nvPr/>
        </p:nvSpPr>
        <p:spPr>
          <a:xfrm>
            <a:off x="6804320" y="2470000"/>
            <a:ext cx="12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Фиг. 3, 4, 5</a:t>
            </a:r>
          </a:p>
        </p:txBody>
      </p:sp>
      <p:sp>
        <p:nvSpPr>
          <p:cNvPr id="507" name="R5C7"/>
          <p:cNvSpPr/>
          <p:nvPr/>
        </p:nvSpPr>
        <p:spPr>
          <a:xfrm>
            <a:off x="8004320" y="2470000"/>
            <a:ext cx="86536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15 мин</a:t>
            </a:r>
          </a:p>
        </p:txBody>
      </p:sp>
      <p:sp>
        <p:nvSpPr>
          <p:cNvPr id="600" name="R6Bg"/>
          <p:cNvSpPr/>
          <p:nvPr/>
        </p:nvSpPr>
        <p:spPr>
          <a:xfrm>
            <a:off x="274320" y="2890000"/>
            <a:ext cx="8595360" cy="400000"/>
          </a:xfrm>
          <a:prstGeom prst="rect">
            <a:avLst/>
          </a:prstGeom>
          <a:solidFill>
            <a:srgbClr val="112855"/>
          </a:solidFill>
          <a:ln/>
        </p:spPr>
      </p:sp>
      <p:sp>
        <p:nvSpPr>
          <p:cNvPr id="601" name="R6C1"/>
          <p:cNvSpPr/>
          <p:nvPr/>
        </p:nvSpPr>
        <p:spPr>
          <a:xfrm>
            <a:off x="274320" y="2890000"/>
            <a:ext cx="38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0D9488"/>
                </a:solidFill>
              </a:rPr>
              <a:t>6</a:t>
            </a:r>
          </a:p>
        </p:txBody>
      </p:sp>
      <p:sp>
        <p:nvSpPr>
          <p:cNvPr id="602" name="R6C2"/>
          <p:cNvSpPr/>
          <p:nvPr/>
        </p:nvSpPr>
        <p:spPr>
          <a:xfrm>
            <a:off x="654320" y="2890000"/>
            <a:ext cx="19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Разклонена ел. верига — паралелно свързване</a:t>
            </a:r>
          </a:p>
        </p:txBody>
      </p:sp>
      <p:sp>
        <p:nvSpPr>
          <p:cNvPr id="603" name="R6C3"/>
          <p:cNvSpPr/>
          <p:nvPr/>
        </p:nvSpPr>
        <p:spPr>
          <a:xfrm>
            <a:off x="2554320" y="2890000"/>
            <a:ext cx="115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Беседа, Разказ, Илюстрация</a:t>
            </a:r>
          </a:p>
        </p:txBody>
      </p:sp>
      <p:sp>
        <p:nvSpPr>
          <p:cNvPr id="604" name="R6C4"/>
          <p:cNvSpPr/>
          <p:nvPr/>
        </p:nvSpPr>
        <p:spPr>
          <a:xfrm>
            <a:off x="3704320" y="2890000"/>
            <a:ext cx="22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bg-BG" sz="750" dirty="0">
                <a:solidFill>
                  <a:srgbClr val="CBD5E1"/>
                </a:solidFill>
              </a:rPr>
              <a:t>Какво е разклонена верига? Паралелно свързване? Уравнение на баланса на токовете?</a:t>
            </a:r>
          </a:p>
        </p:txBody>
      </p:sp>
      <p:sp>
        <p:nvSpPr>
          <p:cNvPr id="605" name="R6C5"/>
          <p:cNvSpPr/>
          <p:nvPr/>
        </p:nvSpPr>
        <p:spPr>
          <a:xfrm>
            <a:off x="5904320" y="2890000"/>
            <a:ext cx="9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Зад. 7–11</a:t>
            </a:r>
          </a:p>
        </p:txBody>
      </p:sp>
      <p:sp>
        <p:nvSpPr>
          <p:cNvPr id="606" name="R6C6"/>
          <p:cNvSpPr/>
          <p:nvPr/>
        </p:nvSpPr>
        <p:spPr>
          <a:xfrm>
            <a:off x="6804320" y="2890000"/>
            <a:ext cx="120000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Фиг. 6, 7, 8, 9</a:t>
            </a:r>
          </a:p>
        </p:txBody>
      </p:sp>
      <p:sp>
        <p:nvSpPr>
          <p:cNvPr id="607" name="R6C7"/>
          <p:cNvSpPr/>
          <p:nvPr/>
        </p:nvSpPr>
        <p:spPr>
          <a:xfrm>
            <a:off x="8004320" y="2890000"/>
            <a:ext cx="865360" cy="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15 мин</a:t>
            </a:r>
          </a:p>
        </p:txBody>
      </p:sp>
      <p:sp>
        <p:nvSpPr>
          <p:cNvPr id="700" name="R7Bg"/>
          <p:cNvSpPr/>
          <p:nvPr/>
        </p:nvSpPr>
        <p:spPr>
          <a:xfrm>
            <a:off x="274320" y="3310000"/>
            <a:ext cx="8595360" cy="38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701" name="R7AccentBar"/>
          <p:cNvSpPr/>
          <p:nvPr/>
        </p:nvSpPr>
        <p:spPr>
          <a:xfrm>
            <a:off x="274320" y="3310000"/>
            <a:ext cx="8595360" cy="60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02" name="R7C1"/>
          <p:cNvSpPr/>
          <p:nvPr/>
        </p:nvSpPr>
        <p:spPr>
          <a:xfrm>
            <a:off x="274320" y="3370000"/>
            <a:ext cx="380000" cy="32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7</a:t>
            </a:r>
          </a:p>
        </p:txBody>
      </p:sp>
      <p:sp>
        <p:nvSpPr>
          <p:cNvPr id="703" name="R7C2"/>
          <p:cNvSpPr/>
          <p:nvPr/>
        </p:nvSpPr>
        <p:spPr>
          <a:xfrm>
            <a:off x="654320" y="3370000"/>
            <a:ext cx="1900000" cy="32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Обобщение и въпроси за обратна връзка</a:t>
            </a:r>
          </a:p>
        </p:txBody>
      </p:sp>
      <p:sp>
        <p:nvSpPr>
          <p:cNvPr id="704" name="R7C3"/>
          <p:cNvSpPr/>
          <p:nvPr/>
        </p:nvSpPr>
        <p:spPr>
          <a:xfrm>
            <a:off x="2554320" y="3370000"/>
            <a:ext cx="1150000" cy="32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Беседа</a:t>
            </a:r>
          </a:p>
        </p:txBody>
      </p:sp>
      <p:sp>
        <p:nvSpPr>
          <p:cNvPr id="705" name="R7C4"/>
          <p:cNvSpPr/>
          <p:nvPr/>
        </p:nvSpPr>
        <p:spPr>
          <a:xfrm>
            <a:off x="3704320" y="3370000"/>
            <a:ext cx="2200000" cy="32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bg-BG" sz="750" dirty="0">
                <a:solidFill>
                  <a:srgbClr val="CBD5E1"/>
                </a:solidFill>
              </a:rPr>
              <a:t>Особености на посл. и пар. свързване? Домашна работа.</a:t>
            </a:r>
          </a:p>
        </p:txBody>
      </p:sp>
      <p:sp>
        <p:nvSpPr>
          <p:cNvPr id="706" name="R7C5"/>
          <p:cNvSpPr/>
          <p:nvPr/>
        </p:nvSpPr>
        <p:spPr>
          <a:xfrm>
            <a:off x="5904320" y="3370000"/>
            <a:ext cx="900000" cy="32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Зад. 12, 13</a:t>
            </a:r>
          </a:p>
        </p:txBody>
      </p:sp>
      <p:sp>
        <p:nvSpPr>
          <p:cNvPr id="707" name="R7C6"/>
          <p:cNvSpPr/>
          <p:nvPr/>
        </p:nvSpPr>
        <p:spPr>
          <a:xfrm>
            <a:off x="6804320" y="3370000"/>
            <a:ext cx="1200000" cy="32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Фиг. 9а</a:t>
            </a:r>
          </a:p>
        </p:txBody>
      </p:sp>
      <p:sp>
        <p:nvSpPr>
          <p:cNvPr id="708" name="R7C7"/>
          <p:cNvSpPr/>
          <p:nvPr/>
        </p:nvSpPr>
        <p:spPr>
          <a:xfrm>
            <a:off x="8004320" y="3370000"/>
            <a:ext cx="865360" cy="32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8 мин</a:t>
            </a:r>
          </a:p>
        </p:txBody>
      </p:sp>
      <p:sp>
        <p:nvSpPr>
          <p:cNvPr id="800" name="TotalBg"/>
          <p:cNvSpPr/>
          <p:nvPr/>
        </p:nvSpPr>
        <p:spPr>
          <a:xfrm>
            <a:off x="274320" y="3750000"/>
            <a:ext cx="8595360" cy="30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01" name="TotalTxt"/>
          <p:cNvSpPr/>
          <p:nvPr/>
        </p:nvSpPr>
        <p:spPr>
          <a:xfrm>
            <a:off x="274320" y="3750000"/>
            <a:ext cx="8595360" cy="3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bg-BG" sz="1100" b="1" dirty="0">
                <a:solidFill>
                  <a:srgbClr val="0F2044"/>
                </a:solidFill>
              </a:rPr>
              <a:t>ОБЩО ВРЕМЕ: 2 учебни часа (90 мин)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Принципи на обучение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2400" b="1" dirty="0">
                <a:solidFill>
                  <a:srgbClr val="F59E0B"/>
                </a:solidFill>
              </a:rPr>
              <a:t>ПРИНЦИПИ НА ОБУЧЕНИЕ — МЕТОДИКА НА УРОКА</a:t>
            </a:r>
          </a:p>
        </p:txBody>
      </p:sp>
      <p:sp>
        <p:nvSpPr>
          <p:cNvPr id="3" name="Subtitle"/>
          <p:cNvSpPr/>
          <p:nvPr/>
        </p:nvSpPr>
        <p:spPr>
          <a:xfrm>
            <a:off x="365760" y="640000"/>
            <a:ext cx="841248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000" i="1" dirty="0">
                <a:solidFill>
                  <a:srgbClr val="CBD5E1"/>
                </a:solidFill>
              </a:rPr>
              <a:t>Дидактическите принципи насочват и ръководят учебния процес по темата за участниците в движението</a:t>
            </a:r>
          </a:p>
        </p:txBody>
      </p:sp>
      <p:sp>
        <p:nvSpPr>
          <p:cNvPr id="10" name="Card1Bg"/>
          <p:cNvSpPr/>
          <p:nvPr/>
        </p:nvSpPr>
        <p:spPr>
          <a:xfrm>
            <a:off x="274320" y="1000000"/>
            <a:ext cx="2700000" cy="17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1" name="Card1Accent"/>
          <p:cNvSpPr/>
          <p:nvPr/>
        </p:nvSpPr>
        <p:spPr>
          <a:xfrm>
            <a:off x="274320" y="1000000"/>
            <a:ext cx="2700000" cy="120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Card1Text"/>
          <p:cNvSpPr/>
          <p:nvPr/>
        </p:nvSpPr>
        <p:spPr>
          <a:xfrm>
            <a:off x="365760" y="1180000"/>
            <a:ext cx="2500000" cy="14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400" b="1" dirty="0">
                <a:solidFill>
                  <a:srgbClr val="0D9488"/>
                </a:solidFill>
              </a:rPr>
              <a:t>Нагледност</a:t>
            </a:r>
          </a:p>
          <a:p>
            <a:pPr marL="0" indent="0">
              <a:buNone/>
            </a:pPr>
            <a:r>
              <a:rPr lang="bg-BG" sz="1000" dirty="0">
                <a:solidFill>
                  <a:srgbClr val="CBD5E1"/>
                </a:solidFill>
              </a:rPr>
              <a:t>Схеми на кръстовища, видеоклипове с реални ситуации, нагледни табла с участниците в движението</a:t>
            </a:r>
          </a:p>
        </p:txBody>
      </p:sp>
      <p:sp>
        <p:nvSpPr>
          <p:cNvPr id="20" name="Card2Bg"/>
          <p:cNvSpPr/>
          <p:nvPr/>
        </p:nvSpPr>
        <p:spPr>
          <a:xfrm>
            <a:off x="3122640" y="1000000"/>
            <a:ext cx="2700000" cy="17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1" name="Card2Accent"/>
          <p:cNvSpPr/>
          <p:nvPr/>
        </p:nvSpPr>
        <p:spPr>
          <a:xfrm>
            <a:off x="3122640" y="1000000"/>
            <a:ext cx="2700000" cy="12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Card2Text"/>
          <p:cNvSpPr/>
          <p:nvPr/>
        </p:nvSpPr>
        <p:spPr>
          <a:xfrm>
            <a:off x="3214080" y="1180000"/>
            <a:ext cx="2500000" cy="14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400" b="1" dirty="0">
                <a:solidFill>
                  <a:srgbClr val="F59E0B"/>
                </a:solidFill>
              </a:rPr>
              <a:t>Съзнателност и активност</a:t>
            </a:r>
          </a:p>
          <a:p>
            <a:pPr marL="0" indent="0">
              <a:buNone/>
            </a:pPr>
            <a:r>
              <a:rPr lang="bg-BG" sz="1000" dirty="0">
                <a:solidFill>
                  <a:srgbClr val="CBD5E1"/>
                </a:solidFill>
              </a:rPr>
              <a:t>Обучаемите осмислят ролята и отговорността на всеки участник чрез анализ и дискусия</a:t>
            </a:r>
          </a:p>
        </p:txBody>
      </p:sp>
      <p:sp>
        <p:nvSpPr>
          <p:cNvPr id="30" name="Card3Bg"/>
          <p:cNvSpPr/>
          <p:nvPr/>
        </p:nvSpPr>
        <p:spPr>
          <a:xfrm>
            <a:off x="5970960" y="1000000"/>
            <a:ext cx="2700000" cy="17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31" name="Card3Accent"/>
          <p:cNvSpPr/>
          <p:nvPr/>
        </p:nvSpPr>
        <p:spPr>
          <a:xfrm>
            <a:off x="5970960" y="1000000"/>
            <a:ext cx="2700000" cy="120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Card3Text"/>
          <p:cNvSpPr/>
          <p:nvPr/>
        </p:nvSpPr>
        <p:spPr>
          <a:xfrm>
            <a:off x="6062400" y="1180000"/>
            <a:ext cx="2500000" cy="14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400" b="1" dirty="0">
                <a:solidFill>
                  <a:srgbClr val="059669"/>
                </a:solidFill>
              </a:rPr>
              <a:t>Достъпност</a:t>
            </a:r>
          </a:p>
          <a:p>
            <a:pPr marL="0" indent="0">
              <a:buNone/>
            </a:pPr>
            <a:r>
              <a:rPr lang="bg-BG" sz="1000" dirty="0">
                <a:solidFill>
                  <a:srgbClr val="CBD5E1"/>
                </a:solidFill>
              </a:rPr>
              <a:t>От познатото към непознатото, от простото към сложното — надграждане върху познати ситуации</a:t>
            </a:r>
          </a:p>
        </p:txBody>
      </p:sp>
      <p:sp>
        <p:nvSpPr>
          <p:cNvPr id="40" name="Card4Bg"/>
          <p:cNvSpPr/>
          <p:nvPr/>
        </p:nvSpPr>
        <p:spPr>
          <a:xfrm>
            <a:off x="274320" y="2850000"/>
            <a:ext cx="4100000" cy="17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1" name="Card4Accent"/>
          <p:cNvSpPr/>
          <p:nvPr/>
        </p:nvSpPr>
        <p:spPr>
          <a:xfrm>
            <a:off x="274320" y="2850000"/>
            <a:ext cx="4100000" cy="120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Card4Text"/>
          <p:cNvSpPr/>
          <p:nvPr/>
        </p:nvSpPr>
        <p:spPr>
          <a:xfrm>
            <a:off x="365760" y="3030000"/>
            <a:ext cx="3900000" cy="14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400" b="1" dirty="0">
                <a:solidFill>
                  <a:srgbClr val="0D9488"/>
                </a:solidFill>
              </a:rPr>
              <a:t>Трайност на знанията</a:t>
            </a:r>
          </a:p>
          <a:p>
            <a:pPr marL="0" indent="0">
              <a:buNone/>
            </a:pPr>
            <a:r>
              <a:rPr lang="bg-BG" sz="1000" dirty="0">
                <a:solidFill>
                  <a:srgbClr val="CBD5E1"/>
                </a:solidFill>
              </a:rPr>
              <a:t>Повторение и затвърдяване чрез казуси и упражнения, домашна работа с реални ситуации</a:t>
            </a:r>
          </a:p>
        </p:txBody>
      </p:sp>
      <p:sp>
        <p:nvSpPr>
          <p:cNvPr id="50" name="Card5Bg"/>
          <p:cNvSpPr/>
          <p:nvPr/>
        </p:nvSpPr>
        <p:spPr>
          <a:xfrm>
            <a:off x="4570640" y="2850000"/>
            <a:ext cx="4100000" cy="17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51" name="Card5Accent"/>
          <p:cNvSpPr/>
          <p:nvPr/>
        </p:nvSpPr>
        <p:spPr>
          <a:xfrm>
            <a:off x="4570640" y="2850000"/>
            <a:ext cx="4100000" cy="12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Card5Text"/>
          <p:cNvSpPr/>
          <p:nvPr/>
        </p:nvSpPr>
        <p:spPr>
          <a:xfrm>
            <a:off x="4662080" y="3030000"/>
            <a:ext cx="3900000" cy="14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400" b="1" dirty="0">
                <a:solidFill>
                  <a:srgbClr val="F59E0B"/>
                </a:solidFill>
              </a:rPr>
              <a:t>Практическа насоченост</a:t>
            </a:r>
          </a:p>
          <a:p>
            <a:pPr marL="0" indent="0">
              <a:buNone/>
            </a:pPr>
            <a:r>
              <a:rPr lang="bg-BG" sz="1000" dirty="0">
                <a:solidFill>
                  <a:srgbClr val="CBD5E1"/>
                </a:solidFill>
              </a:rPr>
              <a:t>Прилагане на знанията в реални пътни ситуации — симулации, анализ, безопасно поведение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Методи за контрол и оценка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2400" b="1" dirty="0">
                <a:solidFill>
                  <a:srgbClr val="F59E0B"/>
                </a:solidFill>
              </a:rPr>
              <a:t>МЕТОДИ ЗА КОНТРОЛ И ОЦЕНКА</a:t>
            </a:r>
          </a:p>
        </p:txBody>
      </p:sp>
      <p:sp>
        <p:nvSpPr>
          <p:cNvPr id="10" name="Col1Header"/>
          <p:cNvSpPr/>
          <p:nvPr/>
        </p:nvSpPr>
        <p:spPr>
          <a:xfrm>
            <a:off x="274320" y="730000"/>
            <a:ext cx="4100000" cy="480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Col1HeaderTxt"/>
          <p:cNvSpPr/>
          <p:nvPr/>
        </p:nvSpPr>
        <p:spPr>
          <a:xfrm>
            <a:off x="274320" y="730000"/>
            <a:ext cx="4100000" cy="4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bg-BG" sz="1600" b="1" dirty="0">
                <a:solidFill>
                  <a:srgbClr val="FFFFFF"/>
                </a:solidFill>
              </a:rPr>
              <a:t>ТЕКУЩ КОНТРОЛ</a:t>
            </a:r>
          </a:p>
        </p:txBody>
      </p:sp>
      <p:sp>
        <p:nvSpPr>
          <p:cNvPr id="12" name="Col1Body"/>
          <p:cNvSpPr/>
          <p:nvPr/>
        </p:nvSpPr>
        <p:spPr>
          <a:xfrm>
            <a:off x="274320" y="1260000"/>
            <a:ext cx="4100000" cy="355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3" name="Col1BodyTxt"/>
          <p:cNvSpPr/>
          <p:nvPr/>
        </p:nvSpPr>
        <p:spPr>
          <a:xfrm>
            <a:off x="365760" y="1350000"/>
            <a:ext cx="3900000" cy="33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200" b="1" dirty="0">
                <a:solidFill>
                  <a:srgbClr val="0D9488"/>
                </a:solidFill>
              </a:rPr>
              <a:t>Устен изпит / Беседа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Фронтални въпроси в началото на урока за проверка на предходни знания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 </a:t>
            </a:r>
          </a:p>
          <a:p>
            <a:pPr marL="0" indent="0">
              <a:buNone/>
            </a:pPr>
            <a:r>
              <a:rPr lang="bg-BG" sz="1200" b="1" dirty="0">
                <a:solidFill>
                  <a:srgbClr val="0D9488"/>
                </a:solidFill>
              </a:rPr>
              <a:t>Анализ на казуси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Разпознаване на участника, избор на поведение, аргументация на решението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 </a:t>
            </a:r>
          </a:p>
          <a:p>
            <a:pPr marL="0" indent="0">
              <a:buNone/>
            </a:pPr>
            <a:r>
              <a:rPr lang="bg-BG" sz="1200" b="1" dirty="0">
                <a:solidFill>
                  <a:srgbClr val="0D9488"/>
                </a:solidFill>
              </a:rPr>
              <a:t>Групова работа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Наблюдение на участието, сътрудничество и качество на аргументите</a:t>
            </a:r>
          </a:p>
        </p:txBody>
      </p:sp>
      <p:sp>
        <p:nvSpPr>
          <p:cNvPr id="20" name="Col2Header"/>
          <p:cNvSpPr/>
          <p:nvPr/>
        </p:nvSpPr>
        <p:spPr>
          <a:xfrm>
            <a:off x="4570640" y="730000"/>
            <a:ext cx="4100000" cy="48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Col2HeaderTxt"/>
          <p:cNvSpPr/>
          <p:nvPr/>
        </p:nvSpPr>
        <p:spPr>
          <a:xfrm>
            <a:off x="4570640" y="730000"/>
            <a:ext cx="4100000" cy="4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bg-BG" sz="1600" b="1" dirty="0">
                <a:solidFill>
                  <a:srgbClr val="0F2044"/>
                </a:solidFill>
              </a:rPr>
              <a:t>ЗАКЛЮЧИТЕЛЕН КОНТРОЛ</a:t>
            </a:r>
          </a:p>
        </p:txBody>
      </p:sp>
      <p:sp>
        <p:nvSpPr>
          <p:cNvPr id="22" name="Col2Body"/>
          <p:cNvSpPr/>
          <p:nvPr/>
        </p:nvSpPr>
        <p:spPr>
          <a:xfrm>
            <a:off x="4570640" y="1260000"/>
            <a:ext cx="4100000" cy="355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3" name="Col2BodyTxt"/>
          <p:cNvSpPr/>
          <p:nvPr/>
        </p:nvSpPr>
        <p:spPr>
          <a:xfrm>
            <a:off x="4662080" y="1350000"/>
            <a:ext cx="3900000" cy="33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200" b="1" dirty="0">
                <a:solidFill>
                  <a:srgbClr val="F59E0B"/>
                </a:solidFill>
              </a:rPr>
              <a:t>Писмен тест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Въпроси с избор, верно/грешно и кратък отговор за видовете участници и техните права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 </a:t>
            </a:r>
          </a:p>
          <a:p>
            <a:pPr marL="0" indent="0">
              <a:buNone/>
            </a:pPr>
            <a:r>
              <a:rPr lang="bg-BG" sz="1200" b="1" dirty="0">
                <a:solidFill>
                  <a:srgbClr val="F59E0B"/>
                </a:solidFill>
              </a:rPr>
              <a:t>Домашна работа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Описание на реална пътна ситуация — идентификация, анализ на риска, предложение за безопасно решение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 </a:t>
            </a:r>
          </a:p>
          <a:p>
            <a:pPr marL="0" indent="0">
              <a:buNone/>
            </a:pPr>
            <a:r>
              <a:rPr lang="bg-BG" sz="1200" b="1" dirty="0">
                <a:solidFill>
                  <a:srgbClr val="F59E0B"/>
                </a:solidFill>
              </a:rPr>
              <a:t>Критерии за оценяване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Точност, аргументираност, приложение на ЗДвП, транспортна култура и толерантност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82880"/>
            <a:ext cx="4114800" cy="40233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82880"/>
            <a:ext cx="4114800" cy="5943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182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</a:rPr>
              <a:t>ДОМАШНА РАБОТА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" y="9144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Опишете реална пътна ситуация с участие на поне двама различни участници.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178308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17556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Идентифицирайте вида участници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233172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23042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Опишете тяхното поведение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288036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28529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Анализирайте риска в ситуацията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342900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41148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" y="34015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Предложете по-безопасно решение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800600" y="182880"/>
            <a:ext cx="4114800" cy="40233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7" name="Shape 24"/>
          <p:cNvSpPr/>
          <p:nvPr/>
        </p:nvSpPr>
        <p:spPr>
          <a:xfrm>
            <a:off x="4800600" y="182880"/>
            <a:ext cx="4114800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6032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94960" y="182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ЗАКЛЮЧЕНИЕ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4983480" y="960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Урокът формира цялостно разбиране за взаимодействието между участниците и изгражда умения за безопасно поведение.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983480" y="1965960"/>
            <a:ext cx="3749040" cy="5486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2" name="Shape 28"/>
          <p:cNvSpPr/>
          <p:nvPr/>
        </p:nvSpPr>
        <p:spPr>
          <a:xfrm>
            <a:off x="5029200" y="2002536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2020824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532120" y="1965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Познаване на всички участници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983480" y="2624328"/>
            <a:ext cx="3749040" cy="5486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6" name="Shape 31"/>
          <p:cNvSpPr/>
          <p:nvPr/>
        </p:nvSpPr>
        <p:spPr>
          <a:xfrm>
            <a:off x="5029200" y="2660904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679192"/>
            <a:ext cx="347472" cy="34747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532120" y="26243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Предиктивно безопасно поведение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983480" y="3282696"/>
            <a:ext cx="3749040" cy="5486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40" name="Shape 34"/>
          <p:cNvSpPr/>
          <p:nvPr/>
        </p:nvSpPr>
        <p:spPr>
          <a:xfrm>
            <a:off x="5029200" y="331927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3337560"/>
            <a:ext cx="347472" cy="34747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532120" y="328269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Толерантност и отговорност на пътя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4983480" y="3611880"/>
            <a:ext cx="374904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37"/>
          <p:cNvSpPr/>
          <p:nvPr/>
        </p:nvSpPr>
        <p:spPr>
          <a:xfrm>
            <a:off x="4983480" y="3611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D34D"/>
                </a:solidFill>
              </a:rPr>
              <a:t>📍 Кабинет по БДП / Теоретична зала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857</Words>
  <Application>Microsoft Office PowerPoint</Application>
  <PresentationFormat>On-screen Show (16:9)</PresentationFormat>
  <Paragraphs>215</Paragraphs>
  <Slides>12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Участници в движението по пътищата</dc:title>
  <dc:subject>PptxGenJS Presentation</dc:subject>
  <dc:creator>PptxGenJS</dc:creator>
  <cp:lastModifiedBy>Home</cp:lastModifiedBy>
  <cp:revision>3</cp:revision>
  <dcterms:created xsi:type="dcterms:W3CDTF">2026-05-27T06:51:09Z</dcterms:created>
  <dcterms:modified xsi:type="dcterms:W3CDTF">2026-05-27T21:48:23Z</dcterms:modified>
</cp:coreProperties>
</file>