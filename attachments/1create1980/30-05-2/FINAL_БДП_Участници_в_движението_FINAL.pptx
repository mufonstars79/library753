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4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-35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Shape 4"/>
          <p:cNvSpPr/>
          <p:nvPr/>
        </p:nvSpPr>
        <p:spPr>
          <a:xfrm>
            <a:off x="356616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0" y="4818888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457200"/>
            <a:ext cx="2926080" cy="36576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CD34D"/>
                </a:solidFill>
              </a:rPr>
              <a:t>БЕЗОПАСНОСТ НА ДВИЖЕНИЕТО ПО ПЪТИЩАТА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Участниците в движението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CD34D"/>
                </a:solidFill>
              </a:rPr>
              <a:t>и техните специфични особености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2606040" cy="502920"/>
          </a:xfrm>
          <a:prstGeom prst="rect">
            <a:avLst/>
          </a:prstGeom>
          <a:solidFill>
            <a:srgbClr val="1A3366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44368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2 учебни часа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474720" y="2880360"/>
            <a:ext cx="2606040" cy="502920"/>
          </a:xfrm>
          <a:prstGeom prst="rect">
            <a:avLst/>
          </a:prstGeom>
          <a:solidFill>
            <a:srgbClr val="1A3366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944368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7764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Комбиниран урок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309360" y="2880360"/>
            <a:ext cx="2606040" cy="502920"/>
          </a:xfrm>
          <a:prstGeom prst="rect">
            <a:avLst/>
          </a:prstGeom>
          <a:solidFill>
            <a:srgbClr val="1A3366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944368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12280" y="2880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БДП — Теория и практика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6858000" y="9144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274"/>
            <a:ext cx="9144000" cy="10058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І. МЕТОДИЧЕСКА ОБОСНОВКА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" y="1207131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44"/>
                </a:solidFill>
              </a:rPr>
              <a:t>ЗАЩО ТАЗИ ТЕМА?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2044"/>
                </a:solidFill>
              </a:rPr>
              <a:t>Фундаментална за обучението на бъдещи водачи — изгражда базово разбиране за всички субекти в пътната среда.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8346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788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Теоретично усвояване на ролите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649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331927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200" dirty="0" smtClean="0"/>
              <a:t>Вземане на решения в критични моменти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89534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384962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200" dirty="0" smtClean="0"/>
              <a:t>Реакция при нестандартни ситуации в движението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4480560" y="1200994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663440" y="118872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1"/>
          <p:cNvSpPr/>
          <p:nvPr/>
        </p:nvSpPr>
        <p:spPr>
          <a:xfrm>
            <a:off x="4663440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МЕТОДИЧЕСКИ ПОДХОД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800600" y="18745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1892808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0352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bg-BG" sz="1400" dirty="0" smtClean="0"/>
              <a:t>Разпознаване на опасността предварително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800600" y="26974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715768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03520" y="2651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400" dirty="0" smtClean="0"/>
              <a:t>Разчитане на намеренията на участниците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4800600" y="35204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3538728"/>
            <a:ext cx="347472" cy="34747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303520" y="3474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044"/>
                </a:solidFill>
              </a:rPr>
              <a:t>Безопасно поведение в динамична среда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</a:rPr>
              <a:t>ІІ. ЦЕЛИ НА УРОКА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32811"/>
            <a:ext cx="2743200" cy="393192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2743200" cy="6400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914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ОБРАЗОВАТЕЛНИ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" y="169164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69164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1691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100" dirty="0" smtClean="0">
                <a:solidFill>
                  <a:srgbClr val="FFFFFF"/>
                </a:solidFill>
              </a:rPr>
              <a:t>Изброява в</a:t>
            </a:r>
            <a:r>
              <a:rPr lang="en-US" sz="1100" dirty="0" err="1" smtClean="0">
                <a:solidFill>
                  <a:srgbClr val="FFFFFF"/>
                </a:solidFill>
              </a:rPr>
              <a:t>идове</a:t>
            </a:r>
            <a:r>
              <a:rPr lang="bg-BG" sz="1100" dirty="0" smtClean="0">
                <a:solidFill>
                  <a:srgbClr val="FFFFFF"/>
                </a:solidFill>
              </a:rPr>
              <a:t>те</a:t>
            </a:r>
            <a:r>
              <a:rPr lang="en-US" sz="1100" dirty="0" smtClean="0">
                <a:solidFill>
                  <a:srgbClr val="FFFFFF"/>
                </a:solidFill>
              </a:rPr>
              <a:t> </a:t>
            </a:r>
            <a:r>
              <a:rPr lang="en-US" sz="1100" dirty="0">
                <a:solidFill>
                  <a:srgbClr val="FFFFFF"/>
                </a:solidFill>
              </a:rPr>
              <a:t>участници в движението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256032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1" name="Shape 8"/>
          <p:cNvSpPr/>
          <p:nvPr/>
        </p:nvSpPr>
        <p:spPr>
          <a:xfrm>
            <a:off x="411480" y="256032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30352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100" dirty="0" smtClean="0">
                <a:solidFill>
                  <a:srgbClr val="FFFFFF"/>
                </a:solidFill>
              </a:rPr>
              <a:t>Изброява техните </a:t>
            </a:r>
            <a:r>
              <a:rPr lang="en-US" sz="1100" dirty="0" err="1" smtClean="0">
                <a:solidFill>
                  <a:srgbClr val="FFFFFF"/>
                </a:solidFill>
              </a:rPr>
              <a:t>Права</a:t>
            </a:r>
            <a:r>
              <a:rPr lang="en-US" sz="1100" dirty="0">
                <a:solidFill>
                  <a:srgbClr val="FFFFFF"/>
                </a:solidFill>
              </a:rPr>
              <a:t>, задължения и поведение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342900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4" name="Shape 11"/>
          <p:cNvSpPr/>
          <p:nvPr/>
        </p:nvSpPr>
        <p:spPr>
          <a:xfrm>
            <a:off x="411480" y="342900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30352" y="34290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Разпознаване на рискови ситуации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46120" y="914400"/>
            <a:ext cx="2743200" cy="393192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7" name="Shape 14"/>
          <p:cNvSpPr/>
          <p:nvPr/>
        </p:nvSpPr>
        <p:spPr>
          <a:xfrm>
            <a:off x="3246120" y="914400"/>
            <a:ext cx="2743200" cy="64008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00584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40480" y="914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ПРАКТИЧЕСКИ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383280" y="169164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1" name="Shape 17"/>
          <p:cNvSpPr/>
          <p:nvPr/>
        </p:nvSpPr>
        <p:spPr>
          <a:xfrm>
            <a:off x="3383280" y="169164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18"/>
          <p:cNvSpPr/>
          <p:nvPr/>
        </p:nvSpPr>
        <p:spPr>
          <a:xfrm>
            <a:off x="3502152" y="1691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100" dirty="0" smtClean="0">
                <a:solidFill>
                  <a:srgbClr val="FFFFFF"/>
                </a:solidFill>
              </a:rPr>
              <a:t>Умение за разпознаване </a:t>
            </a:r>
            <a:r>
              <a:rPr lang="en-US" sz="1100" dirty="0" smtClean="0">
                <a:solidFill>
                  <a:srgbClr val="FFFFFF"/>
                </a:solidFill>
              </a:rPr>
              <a:t> </a:t>
            </a:r>
            <a:r>
              <a:rPr lang="en-US" sz="1100" dirty="0" err="1">
                <a:solidFill>
                  <a:srgbClr val="FFFFFF"/>
                </a:solidFill>
              </a:rPr>
              <a:t>на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r>
              <a:rPr lang="en-US" sz="1100" dirty="0" err="1" smtClean="0">
                <a:solidFill>
                  <a:srgbClr val="FFFFFF"/>
                </a:solidFill>
              </a:rPr>
              <a:t>поведение</a:t>
            </a:r>
            <a:r>
              <a:rPr lang="bg-BG" sz="1100" dirty="0" smtClean="0">
                <a:solidFill>
                  <a:srgbClr val="FFFFFF"/>
                </a:solidFill>
              </a:rPr>
              <a:t>то</a:t>
            </a:r>
            <a:r>
              <a:rPr lang="en-US" sz="1100" dirty="0" smtClean="0">
                <a:solidFill>
                  <a:srgbClr val="FFFFFF"/>
                </a:solidFill>
              </a:rPr>
              <a:t> </a:t>
            </a:r>
            <a:r>
              <a:rPr lang="en-US" sz="1100" dirty="0">
                <a:solidFill>
                  <a:srgbClr val="FFFFFF"/>
                </a:solidFill>
              </a:rPr>
              <a:t>на участниците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383280" y="256032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4" name="Shape 20"/>
          <p:cNvSpPr/>
          <p:nvPr/>
        </p:nvSpPr>
        <p:spPr>
          <a:xfrm>
            <a:off x="3383280" y="256032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1"/>
          <p:cNvSpPr/>
          <p:nvPr/>
        </p:nvSpPr>
        <p:spPr>
          <a:xfrm>
            <a:off x="3502152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100" dirty="0" smtClean="0">
                <a:solidFill>
                  <a:srgbClr val="FFFFFF"/>
                </a:solidFill>
              </a:rPr>
              <a:t>Разпознаване </a:t>
            </a:r>
            <a:r>
              <a:rPr lang="en-US" sz="1100" dirty="0" smtClean="0">
                <a:solidFill>
                  <a:srgbClr val="FFFFFF"/>
                </a:solidFill>
              </a:rPr>
              <a:t> </a:t>
            </a:r>
            <a:r>
              <a:rPr lang="en-US" sz="1100" dirty="0">
                <a:solidFill>
                  <a:srgbClr val="FFFFFF"/>
                </a:solidFill>
              </a:rPr>
              <a:t>на опасни ситуации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383280" y="342900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7" name="Shape 23"/>
          <p:cNvSpPr/>
          <p:nvPr/>
        </p:nvSpPr>
        <p:spPr>
          <a:xfrm>
            <a:off x="3383280" y="342900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4"/>
          <p:cNvSpPr/>
          <p:nvPr/>
        </p:nvSpPr>
        <p:spPr>
          <a:xfrm>
            <a:off x="3502152" y="34290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Избор на правилно поведение като водач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217920" y="914400"/>
            <a:ext cx="2743200" cy="393192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30" name="Shape 26"/>
          <p:cNvSpPr/>
          <p:nvPr/>
        </p:nvSpPr>
        <p:spPr>
          <a:xfrm>
            <a:off x="6217920" y="914400"/>
            <a:ext cx="2743200" cy="6400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005840"/>
            <a:ext cx="411480" cy="4114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812280" y="914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ВЪЗПИТАТЕЛНИ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355080" y="169164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4" name="Shape 29"/>
          <p:cNvSpPr/>
          <p:nvPr/>
        </p:nvSpPr>
        <p:spPr>
          <a:xfrm>
            <a:off x="6355080" y="1691640"/>
            <a:ext cx="54864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0"/>
          <p:cNvSpPr/>
          <p:nvPr/>
        </p:nvSpPr>
        <p:spPr>
          <a:xfrm>
            <a:off x="6473952" y="1691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Формиране на толерантност на пътя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355080" y="2560320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7" name="Shape 32"/>
          <p:cNvSpPr/>
          <p:nvPr/>
        </p:nvSpPr>
        <p:spPr>
          <a:xfrm>
            <a:off x="6355080" y="2560320"/>
            <a:ext cx="54864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3"/>
          <p:cNvSpPr/>
          <p:nvPr/>
        </p:nvSpPr>
        <p:spPr>
          <a:xfrm>
            <a:off x="6473952" y="25603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100" dirty="0" smtClean="0">
                <a:solidFill>
                  <a:srgbClr val="FFFFFF"/>
                </a:solidFill>
              </a:rPr>
              <a:t>Поемане </a:t>
            </a:r>
            <a:r>
              <a:rPr lang="en-US" sz="1100" dirty="0" err="1" smtClean="0">
                <a:solidFill>
                  <a:srgbClr val="FFFFFF"/>
                </a:solidFill>
              </a:rPr>
              <a:t>на</a:t>
            </a:r>
            <a:r>
              <a:rPr lang="en-US" sz="1100" dirty="0" smtClean="0">
                <a:solidFill>
                  <a:srgbClr val="FFFFFF"/>
                </a:solidFill>
              </a:rPr>
              <a:t> </a:t>
            </a:r>
            <a:r>
              <a:rPr lang="en-US" sz="1100" dirty="0" err="1" smtClean="0">
                <a:solidFill>
                  <a:srgbClr val="FFFFFF"/>
                </a:solidFill>
              </a:rPr>
              <a:t>отговорност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355080" y="3441274"/>
            <a:ext cx="2468880" cy="6858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40" name="Shape 35"/>
          <p:cNvSpPr/>
          <p:nvPr/>
        </p:nvSpPr>
        <p:spPr>
          <a:xfrm>
            <a:off x="6355080" y="3429000"/>
            <a:ext cx="54864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6"/>
          <p:cNvSpPr/>
          <p:nvPr/>
        </p:nvSpPr>
        <p:spPr>
          <a:xfrm>
            <a:off x="6473952" y="342900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FFFFFF"/>
                </a:solidFill>
              </a:rPr>
              <a:t>Из</a:t>
            </a:r>
            <a:r>
              <a:rPr lang="bg-BG" sz="1100" dirty="0" smtClean="0">
                <a:solidFill>
                  <a:srgbClr val="FFFFFF"/>
                </a:solidFill>
              </a:rPr>
              <a:t>брояване на елементите на транспортната </a:t>
            </a:r>
            <a:r>
              <a:rPr lang="en-US" sz="1100" dirty="0" err="1" smtClean="0">
                <a:solidFill>
                  <a:srgbClr val="FFFFFF"/>
                </a:solidFill>
              </a:rPr>
              <a:t>култура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82880"/>
            <a:ext cx="841248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2600" b="1" dirty="0">
                <a:solidFill>
                  <a:srgbClr val="F59E0B"/>
                </a:solidFill>
              </a:rPr>
              <a:t>ІІ.А ЦЕЛИ НА ОБУЧЕНИЕТО — УЧЕБНА ДОКУМЕНТАЦИЯ (МОН, 2025)</a:t>
            </a:r>
          </a:p>
        </p:txBody>
      </p:sp>
      <p:sp>
        <p:nvSpPr>
          <p:cNvPr id="3" name="Col1Header"/>
          <p:cNvSpPr/>
          <p:nvPr/>
        </p:nvSpPr>
        <p:spPr>
          <a:xfrm>
            <a:off x="274320" y="868680"/>
            <a:ext cx="274320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Col1HeaderTxt"/>
          <p:cNvSpPr/>
          <p:nvPr/>
        </p:nvSpPr>
        <p:spPr>
          <a:xfrm>
            <a:off x="274320" y="868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bg-BG" sz="1400" b="1" dirty="0">
                <a:solidFill>
                  <a:srgbClr val="FFFFFF"/>
                </a:solidFill>
              </a:rPr>
              <a:t>ЗНАНИЯ</a:t>
            </a:r>
          </a:p>
        </p:txBody>
      </p:sp>
      <p:sp>
        <p:nvSpPr>
          <p:cNvPr id="5" name="Col1Body"/>
          <p:cNvSpPr/>
          <p:nvPr/>
        </p:nvSpPr>
        <p:spPr>
          <a:xfrm>
            <a:off x="274320" y="1417320"/>
            <a:ext cx="2743200" cy="345288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6" name="Col1BodyTxt"/>
          <p:cNvSpPr/>
          <p:nvPr/>
        </p:nvSpPr>
        <p:spPr>
          <a:xfrm>
            <a:off x="320040" y="1463040"/>
            <a:ext cx="2651760" cy="336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>
              <a:buChar char="•"/>
            </a:pPr>
            <a:r>
              <a:rPr lang="bg-BG" sz="960" dirty="0">
                <a:solidFill>
                  <a:srgbClr val="FFFFFF"/>
                </a:solidFill>
              </a:rPr>
              <a:t>Специфичните особености на другите участници в движението</a:t>
            </a:r>
          </a:p>
          <a:p>
            <a:pPr marL="114300" indent="-114300">
              <a:buChar char="•"/>
            </a:pPr>
            <a:r>
              <a:rPr lang="bg-BG" sz="960" dirty="0">
                <a:solidFill>
                  <a:srgbClr val="FFFFFF"/>
                </a:solidFill>
              </a:rPr>
              <a:t>Характеристиките на различните видове пътища и нормативните изисквания за движение по тях</a:t>
            </a:r>
          </a:p>
          <a:p>
            <a:pPr marL="114300" indent="-114300">
              <a:buChar char="•"/>
            </a:pPr>
            <a:r>
              <a:rPr lang="bg-BG" sz="960" dirty="0">
                <a:solidFill>
                  <a:srgbClr val="FFFFFF"/>
                </a:solidFill>
              </a:rPr>
              <a:t>Особеностите при движение на двуколесни ППС и рисковете от уязвимите участници — деца, пешеходци, хора с ограничена подвижност</a:t>
            </a:r>
          </a:p>
          <a:p>
            <a:pPr marL="114300" indent="-114300">
              <a:buChar char="•"/>
            </a:pPr>
            <a:r>
              <a:rPr lang="bg-BG" sz="960" dirty="0">
                <a:solidFill>
                  <a:srgbClr val="FFFFFF"/>
                </a:solidFill>
              </a:rPr>
              <a:t>Правилата относно МПС със специален режим на движение и произтичащите задължения за останалите участници</a:t>
            </a:r>
          </a:p>
          <a:p>
            <a:pPr marL="114300" indent="-114300">
              <a:buChar char="•"/>
            </a:pPr>
            <a:r>
              <a:rPr lang="bg-BG" sz="960" dirty="0">
                <a:solidFill>
                  <a:srgbClr val="FFFFFF"/>
                </a:solidFill>
              </a:rPr>
              <a:t>Различните видове пътни превозни средства и участници в движението</a:t>
            </a:r>
          </a:p>
        </p:txBody>
      </p:sp>
      <p:sp>
        <p:nvSpPr>
          <p:cNvPr id="7" name="Col2Header"/>
          <p:cNvSpPr/>
          <p:nvPr/>
        </p:nvSpPr>
        <p:spPr>
          <a:xfrm>
            <a:off x="3200400" y="868680"/>
            <a:ext cx="274320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Col2HeaderTxt"/>
          <p:cNvSpPr/>
          <p:nvPr/>
        </p:nvSpPr>
        <p:spPr>
          <a:xfrm>
            <a:off x="3200400" y="868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bg-BG" sz="1400" b="1" dirty="0">
                <a:solidFill>
                  <a:srgbClr val="0F2044"/>
                </a:solidFill>
              </a:rPr>
              <a:t>УМЕНИЯ</a:t>
            </a:r>
          </a:p>
        </p:txBody>
      </p:sp>
      <p:sp>
        <p:nvSpPr>
          <p:cNvPr id="9" name="Col2Body"/>
          <p:cNvSpPr/>
          <p:nvPr/>
        </p:nvSpPr>
        <p:spPr>
          <a:xfrm>
            <a:off x="3200400" y="1417320"/>
            <a:ext cx="2743200" cy="345288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0" name="Col2BodyTxt"/>
          <p:cNvSpPr/>
          <p:nvPr/>
        </p:nvSpPr>
        <p:spPr>
          <a:xfrm>
            <a:off x="3246120" y="1463040"/>
            <a:ext cx="2651760" cy="336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>
              <a:buChar char="•"/>
            </a:pPr>
            <a:r>
              <a:rPr lang="bg-BG" sz="960" dirty="0">
                <a:solidFill>
                  <a:srgbClr val="FFFFFF"/>
                </a:solidFill>
              </a:rPr>
              <a:t>Да оценяват рисковете, свързани с характерните особености в поведението на другите участници — особено на децата, пешеходците, лицата с намалени двигателни възможности и велосипедистите</a:t>
            </a:r>
          </a:p>
          <a:p>
            <a:pPr marL="114300" indent="-114300">
              <a:buChar char="•"/>
            </a:pPr>
            <a:r>
              <a:rPr lang="bg-BG" sz="960" dirty="0">
                <a:solidFill>
                  <a:srgbClr val="FFFFFF"/>
                </a:solidFill>
              </a:rPr>
              <a:t>Да оценяват рисковете, свързани с различния обхват на видимостта на водачите на различни видове ППС</a:t>
            </a:r>
          </a:p>
          <a:p>
            <a:pPr marL="114300" indent="-114300">
              <a:buChar char="•"/>
            </a:pPr>
            <a:r>
              <a:rPr lang="bg-BG" sz="960" dirty="0">
                <a:solidFill>
                  <a:srgbClr val="FFFFFF"/>
                </a:solidFill>
              </a:rPr>
              <a:t>Да разпознават различните видове участници в движението и да предвиждат рисковете, свързани с тях</a:t>
            </a:r>
          </a:p>
          <a:p>
            <a:pPr marL="114300" indent="-114300">
              <a:buChar char="•"/>
            </a:pPr>
            <a:r>
              <a:rPr lang="bg-BG" sz="960" dirty="0">
                <a:solidFill>
                  <a:srgbClr val="FFFFFF"/>
                </a:solidFill>
              </a:rPr>
              <a:t>Да разпознават сигналите, подавани от участниците в движението</a:t>
            </a:r>
          </a:p>
        </p:txBody>
      </p:sp>
      <p:sp>
        <p:nvSpPr>
          <p:cNvPr id="11" name="Col3Header"/>
          <p:cNvSpPr/>
          <p:nvPr/>
        </p:nvSpPr>
        <p:spPr>
          <a:xfrm>
            <a:off x="6126480" y="868680"/>
            <a:ext cx="274320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Col3HeaderTxt"/>
          <p:cNvSpPr/>
          <p:nvPr/>
        </p:nvSpPr>
        <p:spPr>
          <a:xfrm>
            <a:off x="6126480" y="868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bg-BG" sz="1400" b="1" dirty="0">
                <a:solidFill>
                  <a:srgbClr val="FFFFFF"/>
                </a:solidFill>
              </a:rPr>
              <a:t>ПОВЕДЕНИЕ</a:t>
            </a:r>
          </a:p>
        </p:txBody>
      </p:sp>
      <p:sp>
        <p:nvSpPr>
          <p:cNvPr id="13" name="Col3Body"/>
          <p:cNvSpPr/>
          <p:nvPr/>
        </p:nvSpPr>
        <p:spPr>
          <a:xfrm>
            <a:off x="6126480" y="1417320"/>
            <a:ext cx="2743200" cy="345288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4" name="Col3BodyTxt"/>
          <p:cNvSpPr/>
          <p:nvPr/>
        </p:nvSpPr>
        <p:spPr>
          <a:xfrm>
            <a:off x="6172200" y="1463040"/>
            <a:ext cx="2651760" cy="336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14300" indent="-114300">
              <a:buChar char="•"/>
            </a:pPr>
            <a:r>
              <a:rPr lang="bg-BG" sz="960" dirty="0">
                <a:solidFill>
                  <a:srgbClr val="FFFFFF"/>
                </a:solidFill>
              </a:rPr>
              <a:t>Да не застрашават сигурността на участниците в движението и да бъдат внимателни и предпазливи към уязвимите участници</a:t>
            </a:r>
          </a:p>
          <a:p>
            <a:pPr marL="114300" indent="-114300">
              <a:buChar char="•"/>
            </a:pPr>
            <a:r>
              <a:rPr lang="bg-BG" sz="960" dirty="0">
                <a:solidFill>
                  <a:srgbClr val="FFFFFF"/>
                </a:solidFill>
              </a:rPr>
              <a:t>Да предвиждат и разпознават опасните ситуации в пътното движение и да реагират адекватно при възникването им</a:t>
            </a:r>
          </a:p>
          <a:p>
            <a:pPr marL="114300" indent="-114300">
              <a:buChar char="•"/>
            </a:pPr>
            <a:r>
              <a:rPr lang="bg-BG" sz="960" dirty="0">
                <a:solidFill>
                  <a:srgbClr val="FFFFFF"/>
                </a:solidFill>
              </a:rPr>
              <a:t>Да се съобразяват с всички фактори, влияещи върху поведението, за да осигуряват максимална сигурност за себе си и останалите участници</a:t>
            </a:r>
          </a:p>
          <a:p>
            <a:pPr marL="114300" indent="-114300">
              <a:buChar char="•"/>
            </a:pPr>
            <a:r>
              <a:rPr lang="bg-BG" sz="960" dirty="0">
                <a:solidFill>
                  <a:srgbClr val="FFFFFF"/>
                </a:solidFill>
              </a:rPr>
              <a:t>Да спазват правилата за движение и общоприетите норми на поведение на пътя</a:t>
            </a:r>
          </a:p>
        </p:txBody>
      </p:sp>
      <p:sp>
        <p:nvSpPr>
          <p:cNvPr id="15" name="Source"/>
          <p:cNvSpPr/>
          <p:nvPr/>
        </p:nvSpPr>
        <p:spPr>
          <a:xfrm>
            <a:off x="274320" y="491688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bg-BG" sz="800" i="1" dirty="0">
                <a:solidFill>
                  <a:srgbClr val="888888"/>
                </a:solidFill>
              </a:rPr>
              <a:t>Източник: Учебна документация за категория В, МОН, Заповед № РД09-3444/05.11.2025 г., т. 7 и Програма БДП, т. II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ІІІ. УЧАСТНИЦИТЕ В ДВИЖЕНИЕТО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914400" cy="1783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907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143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ВОДАЧИ НА МПС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1554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Отговорни за управление на превозното средство. Имат задължения по ЗДвП.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234440" y="2331720"/>
            <a:ext cx="3063240" cy="347472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239572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331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400E"/>
                </a:solidFill>
              </a:rPr>
              <a:t>Превишена скорост, разсеяност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800600" y="105156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00600" y="1051560"/>
            <a:ext cx="914400" cy="17830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719072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06440" y="11430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ПЕШЕХОДЦИ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806440" y="15544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Уязвими участници — без защитна обвивка. Движат се по тротоари и пешеходни пътеки.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806440" y="2331720"/>
            <a:ext cx="3063240" cy="347472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2395728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126480" y="2331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400E"/>
                </a:solidFill>
              </a:rPr>
              <a:t>Пресичане на необозначено място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228600" y="301752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228600" y="3017520"/>
            <a:ext cx="914400" cy="178308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85032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3108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ПЪТНИЦИ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234440" y="35204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Намират се в МПС. Отговорни за собствената си безопасност в превозното средство.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1234440" y="4297680"/>
            <a:ext cx="3063240" cy="347472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4361688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554480" y="4297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400E"/>
                </a:solidFill>
              </a:rPr>
              <a:t>Непоставен колан, разсейване на водача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800600" y="301752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4800600" y="3017520"/>
            <a:ext cx="914400" cy="17830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685032"/>
            <a:ext cx="502920" cy="5029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806440" y="3108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ВЕЛОСИПЕДИСТИ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5806440" y="35204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Участват в уличното движение. Специфични правила и зони на движение.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5806440" y="4297680"/>
            <a:ext cx="3063240" cy="347472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4361688"/>
            <a:ext cx="228600" cy="2286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126480" y="4297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400E"/>
                </a:solidFill>
              </a:rPr>
              <a:t>Слепи ъгли, липса на каска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</a:rPr>
              <a:t>ІV. СТРУКТУРА — ПЪРВИ ЧАС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949440" y="137160"/>
            <a:ext cx="18288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949440" y="137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</a:rPr>
              <a:t>45 минути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841248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640080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9601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Организационен момент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2588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Проверка на присъствие · Подготовка за работа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0" y="1097280"/>
            <a:ext cx="91440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10972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 мин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8595360" cy="841248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920240"/>
            <a:ext cx="640080" cy="8412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92024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19659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Актуализация на знанията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3317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Фронтална беседа · Устен тест · Въпроси за предимство и пътен риск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63840" y="2103120"/>
            <a:ext cx="91440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21031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 мин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8595360" cy="841248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2926080"/>
            <a:ext cx="640080" cy="8412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92608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5840" y="29718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Въведение в новата тема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33756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Проблемна ситуация: Защо най-много ПТП възникват между различни участници?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63840" y="3108960"/>
            <a:ext cx="91440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310896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 мин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931920"/>
            <a:ext cx="8595360" cy="841248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3931920"/>
            <a:ext cx="640080" cy="8412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93192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05840" y="39776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Нов материал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434340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1"/>
                </a:solidFill>
              </a:rPr>
              <a:t>Водачи · Пешеходци · Пътници · Велосипедисти — поведение и отговорност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63840" y="4114800"/>
            <a:ext cx="914400" cy="4389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41148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25 мин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ІV. СТРУКТУРА — ВТОРИ ЧАС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49440" y="164592"/>
            <a:ext cx="18288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</a:rPr>
              <a:t>45 минути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828800"/>
          </a:xfrm>
          <a:prstGeom prst="rect">
            <a:avLst/>
          </a:prstGeom>
          <a:solidFill>
            <a:srgbClr val="E6FAFA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0058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960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Затвърдяване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52704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15087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Анализ на реални ситуации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92938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19110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Решаване на казуси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800600" y="960120"/>
            <a:ext cx="4206240" cy="1828800"/>
          </a:xfrm>
          <a:prstGeom prst="rect">
            <a:avLst/>
          </a:prstGeom>
          <a:solidFill>
            <a:srgbClr val="FFFBEB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800600" y="960120"/>
            <a:ext cx="4206240" cy="4572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00584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03520" y="960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Практически анализ</a:t>
            </a:r>
            <a:endParaRPr lang="en-US" sz="14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27048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15087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Пешеходец на необозначено място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929384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57800" y="19110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Велосипедист в градски трафик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331720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57800" y="23134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Водач на кръстовище без светофар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228600" y="2971800"/>
            <a:ext cx="4206240" cy="1828800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228600" y="2971800"/>
            <a:ext cx="4206240" cy="4572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" y="3017520"/>
            <a:ext cx="347472" cy="34747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31520" y="2971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Упражнение</a:t>
            </a:r>
            <a:endParaRPr lang="en-US" sz="14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538728"/>
            <a:ext cx="228600" cy="2286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85800" y="35204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Разпознаване на участника</a:t>
            </a:r>
            <a:endParaRPr lang="en-US" sz="110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41064"/>
            <a:ext cx="228600" cy="2286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85800" y="39227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Избор на правилно поведение</a:t>
            </a:r>
            <a:endParaRPr lang="en-US" sz="11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343400"/>
            <a:ext cx="228600" cy="2286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85800" y="43251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Аргументация</a:t>
            </a:r>
            <a:endParaRPr lang="en-US" sz="1100" dirty="0"/>
          </a:p>
        </p:txBody>
      </p:sp>
      <p:sp>
        <p:nvSpPr>
          <p:cNvPr id="34" name="Shape 21"/>
          <p:cNvSpPr/>
          <p:nvPr/>
        </p:nvSpPr>
        <p:spPr>
          <a:xfrm>
            <a:off x="4800600" y="2971800"/>
            <a:ext cx="4206240" cy="1828800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2"/>
          <p:cNvSpPr/>
          <p:nvPr/>
        </p:nvSpPr>
        <p:spPr>
          <a:xfrm>
            <a:off x="4800600" y="2971800"/>
            <a:ext cx="4206240" cy="457200"/>
          </a:xfrm>
          <a:prstGeom prst="rect">
            <a:avLst/>
          </a:prstGeom>
          <a:solidFill>
            <a:srgbClr val="0F2044"/>
          </a:solidFill>
          <a:ln/>
        </p:spPr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017520"/>
            <a:ext cx="347472" cy="347472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5303520" y="2971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Обобщение</a:t>
            </a:r>
            <a:endParaRPr lang="en-US" sz="140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538728"/>
            <a:ext cx="228600" cy="2286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5257800" y="35204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Систематизация</a:t>
            </a:r>
            <a:endParaRPr lang="en-US" sz="1100" dirty="0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941064"/>
            <a:ext cx="228600" cy="2286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5257800" y="392277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Изводи</a:t>
            </a:r>
            <a:endParaRPr lang="en-US" sz="1100" dirty="0"/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343400"/>
            <a:ext cx="228600" cy="2286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5257800" y="43251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2044"/>
                </a:solidFill>
              </a:rPr>
              <a:t>Домашна работа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</a:rPr>
              <a:t>V–VІ. МЕТОДИ И ДИДАКТИЧЕСКИ ПРИНЦИПИ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28600" y="868680"/>
            <a:ext cx="4160520" cy="397764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868680"/>
            <a:ext cx="41605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8686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МЕТОДИ НА ОБУЧЕНИЕ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52704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Обяснение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2112264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13055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0665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Беседа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11480" y="2715768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734056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6700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Анализ на ситуации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11480" y="331927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3375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2735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Решаване на казуси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11480" y="392277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" y="3941064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387705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Упражнение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4754880" y="868680"/>
            <a:ext cx="4160520" cy="397764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22" name="Shape 15"/>
          <p:cNvSpPr/>
          <p:nvPr/>
        </p:nvSpPr>
        <p:spPr>
          <a:xfrm>
            <a:off x="4754880" y="868680"/>
            <a:ext cx="41605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16"/>
          <p:cNvSpPr/>
          <p:nvPr/>
        </p:nvSpPr>
        <p:spPr>
          <a:xfrm>
            <a:off x="4754880" y="8686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44"/>
                </a:solidFill>
              </a:rPr>
              <a:t>ДИДАКТИЧЕСКИ ПРИНЦИПИ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4892040" y="15087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892040" y="1508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Нагледност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903720" y="15087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903720" y="15087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Съзнателност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892040" y="24231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892040" y="2423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Активност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903720" y="24231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903720" y="2423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Достъпност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892040" y="33375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89204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Трайност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903720" y="3337560"/>
            <a:ext cx="1828800" cy="731520"/>
          </a:xfrm>
          <a:prstGeom prst="rect">
            <a:avLst/>
          </a:prstGeom>
          <a:solidFill>
            <a:srgbClr val="0F20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903720" y="3337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Практическа насоченост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VІІ. ТЕХНИЧЕСКО ОСИГУРЯВАНЕ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2801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2984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80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Схеми на пътни ситуации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691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Нагледни планове на кръстовища и пешеходни пътеки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09728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097280"/>
            <a:ext cx="27432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Shape 9"/>
          <p:cNvSpPr/>
          <p:nvPr/>
        </p:nvSpPr>
        <p:spPr>
          <a:xfrm>
            <a:off x="3383280" y="12801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2984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69080" y="1280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Видео клипове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069080" y="1691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Реални записи от пътни ситуации за анализ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09728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097280"/>
            <a:ext cx="27432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4"/>
          <p:cNvSpPr/>
          <p:nvPr/>
        </p:nvSpPr>
        <p:spPr>
          <a:xfrm>
            <a:off x="6355080" y="12801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29844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40880" y="1280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Презентация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040880" y="1691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Мултимедийна подкрепа на теоретичния материал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74320" y="301752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4320" y="3017520"/>
            <a:ext cx="4114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19"/>
          <p:cNvSpPr/>
          <p:nvPr/>
        </p:nvSpPr>
        <p:spPr>
          <a:xfrm>
            <a:off x="411480" y="32004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21868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Учебни табла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097280" y="36118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Нагледни материали с правила и участници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846320" y="3017520"/>
            <a:ext cx="41148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846320" y="3017520"/>
            <a:ext cx="411480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Shape 24"/>
          <p:cNvSpPr/>
          <p:nvPr/>
        </p:nvSpPr>
        <p:spPr>
          <a:xfrm>
            <a:off x="4983480" y="320040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768" y="3218688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66928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44"/>
                </a:solidFill>
              </a:rPr>
              <a:t>Казусни карти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669280" y="36118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Практически задачи за групова работа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Ход на урока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80000"/>
            <a:ext cx="859536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2000" b="1" dirty="0">
                <a:solidFill>
                  <a:srgbClr val="F59E0B"/>
                </a:solidFill>
              </a:rPr>
              <a:t>ХОД НА УРОКА</a:t>
            </a:r>
          </a:p>
        </p:txBody>
      </p:sp>
      <p:sp>
        <p:nvSpPr>
          <p:cNvPr id="3" name="HeaderBg"/>
          <p:cNvSpPr/>
          <p:nvPr/>
        </p:nvSpPr>
        <p:spPr>
          <a:xfrm>
            <a:off x="274320" y="530000"/>
            <a:ext cx="8595360" cy="380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H1"/>
          <p:cNvSpPr/>
          <p:nvPr/>
        </p:nvSpPr>
        <p:spPr>
          <a:xfrm>
            <a:off x="274320" y="530000"/>
            <a:ext cx="380000" cy="380000"/>
          </a:xfrm>
          <a:prstGeom prst="rect">
            <a:avLst/>
          </a:prstGeom>
          <a:noFill/>
          <a:ln/>
        </p:spPr>
        <p:txBody>
          <a:bodyPr wrap="square" lIns="60000" tIns="0" rIns="60000" bIns="0" rtlCol="0" anchor="ctr"/>
          <a:lstStyle/>
          <a:p>
            <a:pPr marL="0" indent="0" algn="ctr">
              <a:buNone/>
            </a:pPr>
            <a:r>
              <a:rPr lang="bg-BG" sz="1000" b="1" dirty="0">
                <a:solidFill>
                  <a:srgbClr val="0F2044"/>
                </a:solidFill>
              </a:rPr>
              <a:t>№</a:t>
            </a:r>
          </a:p>
        </p:txBody>
      </p:sp>
      <p:sp>
        <p:nvSpPr>
          <p:cNvPr id="11" name="H2"/>
          <p:cNvSpPr/>
          <p:nvPr/>
        </p:nvSpPr>
        <p:spPr>
          <a:xfrm>
            <a:off x="654320" y="530000"/>
            <a:ext cx="1900000" cy="380000"/>
          </a:xfrm>
          <a:prstGeom prst="rect">
            <a:avLst/>
          </a:prstGeom>
          <a:noFill/>
          <a:ln/>
        </p:spPr>
        <p:txBody>
          <a:bodyPr wrap="square" lIns="60000" tIns="0" rIns="60000" bIns="0" rtlCol="0" anchor="ctr"/>
          <a:lstStyle/>
          <a:p>
            <a:pPr marL="0" indent="0">
              <a:buNone/>
            </a:pPr>
            <a:r>
              <a:rPr lang="bg-BG" sz="1000" b="1" dirty="0">
                <a:solidFill>
                  <a:srgbClr val="0F2044"/>
                </a:solidFill>
              </a:rPr>
              <a:t>План на съдържанието</a:t>
            </a:r>
          </a:p>
        </p:txBody>
      </p:sp>
      <p:sp>
        <p:nvSpPr>
          <p:cNvPr id="12" name="H3"/>
          <p:cNvSpPr/>
          <p:nvPr/>
        </p:nvSpPr>
        <p:spPr>
          <a:xfrm>
            <a:off x="2554320" y="530000"/>
            <a:ext cx="1150000" cy="380000"/>
          </a:xfrm>
          <a:prstGeom prst="rect">
            <a:avLst/>
          </a:prstGeom>
          <a:noFill/>
          <a:ln/>
        </p:spPr>
        <p:txBody>
          <a:bodyPr wrap="square" lIns="60000" tIns="0" rIns="60000" bIns="0" rtlCol="0" anchor="ctr"/>
          <a:lstStyle/>
          <a:p>
            <a:pPr marL="0" indent="0">
              <a:buNone/>
            </a:pPr>
            <a:r>
              <a:rPr lang="bg-BG" sz="1000" b="1" dirty="0">
                <a:solidFill>
                  <a:srgbClr val="0F2044"/>
                </a:solidFill>
              </a:rPr>
              <a:t>Методи</a:t>
            </a:r>
          </a:p>
        </p:txBody>
      </p:sp>
      <p:sp>
        <p:nvSpPr>
          <p:cNvPr id="13" name="H4"/>
          <p:cNvSpPr/>
          <p:nvPr/>
        </p:nvSpPr>
        <p:spPr>
          <a:xfrm>
            <a:off x="3704320" y="530000"/>
            <a:ext cx="2200000" cy="380000"/>
          </a:xfrm>
          <a:prstGeom prst="rect">
            <a:avLst/>
          </a:prstGeom>
          <a:noFill/>
          <a:ln/>
        </p:spPr>
        <p:txBody>
          <a:bodyPr wrap="square" lIns="60000" tIns="0" rIns="60000" bIns="0" rtlCol="0" anchor="ctr"/>
          <a:lstStyle/>
          <a:p>
            <a:pPr marL="0" indent="0">
              <a:buNone/>
            </a:pPr>
            <a:r>
              <a:rPr lang="bg-BG" sz="1000" b="1" dirty="0">
                <a:solidFill>
                  <a:srgbClr val="0F2044"/>
                </a:solidFill>
              </a:rPr>
              <a:t>Въпроси към ученика</a:t>
            </a:r>
          </a:p>
        </p:txBody>
      </p:sp>
      <p:sp>
        <p:nvSpPr>
          <p:cNvPr id="14" name="H5"/>
          <p:cNvSpPr/>
          <p:nvPr/>
        </p:nvSpPr>
        <p:spPr>
          <a:xfrm>
            <a:off x="5904320" y="530000"/>
            <a:ext cx="900000" cy="380000"/>
          </a:xfrm>
          <a:prstGeom prst="rect">
            <a:avLst/>
          </a:prstGeom>
          <a:noFill/>
          <a:ln/>
        </p:spPr>
        <p:txBody>
          <a:bodyPr wrap="square" lIns="60000" tIns="0" rIns="60000" bIns="0" rtlCol="0" anchor="ctr"/>
          <a:lstStyle/>
          <a:p>
            <a:pPr marL="0" indent="0" algn="ctr">
              <a:buNone/>
            </a:pPr>
            <a:r>
              <a:rPr lang="bg-BG" sz="1000" b="1" dirty="0">
                <a:solidFill>
                  <a:srgbClr val="0F2044"/>
                </a:solidFill>
              </a:rPr>
              <a:t>Задачи</a:t>
            </a:r>
          </a:p>
        </p:txBody>
      </p:sp>
      <p:sp>
        <p:nvSpPr>
          <p:cNvPr id="15" name="H6"/>
          <p:cNvSpPr/>
          <p:nvPr/>
        </p:nvSpPr>
        <p:spPr>
          <a:xfrm>
            <a:off x="6804320" y="530000"/>
            <a:ext cx="1200000" cy="380000"/>
          </a:xfrm>
          <a:prstGeom prst="rect">
            <a:avLst/>
          </a:prstGeom>
          <a:noFill/>
          <a:ln/>
        </p:spPr>
        <p:txBody>
          <a:bodyPr wrap="square" lIns="60000" tIns="0" rIns="60000" bIns="0" rtlCol="0" anchor="ctr"/>
          <a:lstStyle/>
          <a:p>
            <a:pPr marL="0" indent="0" algn="ctr">
              <a:buNone/>
            </a:pPr>
            <a:r>
              <a:rPr lang="bg-BG" sz="1000" b="1" dirty="0">
                <a:solidFill>
                  <a:srgbClr val="0F2044"/>
                </a:solidFill>
              </a:rPr>
              <a:t>Нагл. средства</a:t>
            </a:r>
          </a:p>
        </p:txBody>
      </p:sp>
      <p:sp>
        <p:nvSpPr>
          <p:cNvPr id="16" name="H7"/>
          <p:cNvSpPr/>
          <p:nvPr/>
        </p:nvSpPr>
        <p:spPr>
          <a:xfrm>
            <a:off x="8004320" y="530000"/>
            <a:ext cx="865360" cy="380000"/>
          </a:xfrm>
          <a:prstGeom prst="rect">
            <a:avLst/>
          </a:prstGeom>
          <a:noFill/>
          <a:ln/>
        </p:spPr>
        <p:txBody>
          <a:bodyPr wrap="square" lIns="60000" tIns="0" rIns="60000" bIns="0" rtlCol="0" anchor="ctr"/>
          <a:lstStyle/>
          <a:p>
            <a:pPr marL="0" indent="0" algn="ctr">
              <a:buNone/>
            </a:pPr>
            <a:r>
              <a:rPr lang="bg-BG" sz="1000" b="1" dirty="0">
                <a:solidFill>
                  <a:srgbClr val="0F2044"/>
                </a:solidFill>
              </a:rPr>
              <a:t>Време</a:t>
            </a:r>
          </a:p>
        </p:txBody>
      </p:sp>
      <p:sp>
        <p:nvSpPr>
          <p:cNvPr id="100" name="R1Bg"/>
          <p:cNvSpPr/>
          <p:nvPr/>
        </p:nvSpPr>
        <p:spPr>
          <a:xfrm>
            <a:off x="274320" y="910000"/>
            <a:ext cx="8595360" cy="33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01" name="R1N"/>
          <p:cNvSpPr/>
          <p:nvPr/>
        </p:nvSpPr>
        <p:spPr>
          <a:xfrm>
            <a:off x="274320" y="910000"/>
            <a:ext cx="380000" cy="33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1</a:t>
            </a:r>
          </a:p>
        </p:txBody>
      </p:sp>
      <p:sp>
        <p:nvSpPr>
          <p:cNvPr id="102" name="R1P"/>
          <p:cNvSpPr/>
          <p:nvPr/>
        </p:nvSpPr>
        <p:spPr>
          <a:xfrm>
            <a:off x="654320" y="910000"/>
            <a:ext cx="1900000" cy="33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50" b="1" dirty="0">
                <a:solidFill>
                  <a:srgbClr val="FFFFFF"/>
                </a:solidFill>
              </a:rPr>
              <a:t>Организация за работа</a:t>
            </a:r>
          </a:p>
        </p:txBody>
      </p:sp>
      <p:sp>
        <p:nvSpPr>
          <p:cNvPr id="103" name="R1M"/>
          <p:cNvSpPr/>
          <p:nvPr/>
        </p:nvSpPr>
        <p:spPr>
          <a:xfrm>
            <a:off x="2554320" y="910000"/>
            <a:ext cx="1150000" cy="33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104" name="R1V"/>
          <p:cNvSpPr/>
          <p:nvPr/>
        </p:nvSpPr>
        <p:spPr>
          <a:xfrm>
            <a:off x="3704320" y="910000"/>
            <a:ext cx="2200000" cy="33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105" name="R1Z"/>
          <p:cNvSpPr/>
          <p:nvPr/>
        </p:nvSpPr>
        <p:spPr>
          <a:xfrm>
            <a:off x="5904320" y="910000"/>
            <a:ext cx="900000" cy="33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106" name="R1NS"/>
          <p:cNvSpPr/>
          <p:nvPr/>
        </p:nvSpPr>
        <p:spPr>
          <a:xfrm>
            <a:off x="6804320" y="910000"/>
            <a:ext cx="1200000" cy="33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107" name="R1T"/>
          <p:cNvSpPr/>
          <p:nvPr/>
        </p:nvSpPr>
        <p:spPr>
          <a:xfrm>
            <a:off x="8004320" y="910000"/>
            <a:ext cx="865360" cy="33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5 мин</a:t>
            </a:r>
          </a:p>
        </p:txBody>
      </p:sp>
      <p:sp>
        <p:nvSpPr>
          <p:cNvPr id="200" name="R2Bg"/>
          <p:cNvSpPr/>
          <p:nvPr/>
        </p:nvSpPr>
        <p:spPr>
          <a:xfrm>
            <a:off x="274320" y="1260000"/>
            <a:ext cx="8595360" cy="330000"/>
          </a:xfrm>
          <a:prstGeom prst="rect">
            <a:avLst/>
          </a:prstGeom>
          <a:solidFill>
            <a:srgbClr val="112855"/>
          </a:solidFill>
          <a:ln/>
        </p:spPr>
      </p:sp>
      <p:sp>
        <p:nvSpPr>
          <p:cNvPr id="201" name="R2N"/>
          <p:cNvSpPr/>
          <p:nvPr/>
        </p:nvSpPr>
        <p:spPr>
          <a:xfrm>
            <a:off x="274320" y="1260000"/>
            <a:ext cx="380000" cy="33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202" name="R2P"/>
          <p:cNvSpPr/>
          <p:nvPr/>
        </p:nvSpPr>
        <p:spPr>
          <a:xfrm>
            <a:off x="654320" y="1260000"/>
            <a:ext cx="1900000" cy="33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50" b="1" dirty="0">
                <a:solidFill>
                  <a:srgbClr val="FFFFFF"/>
                </a:solidFill>
              </a:rPr>
              <a:t>Проверка на домашната работа</a:t>
            </a:r>
          </a:p>
        </p:txBody>
      </p:sp>
      <p:sp>
        <p:nvSpPr>
          <p:cNvPr id="203" name="R2M"/>
          <p:cNvSpPr/>
          <p:nvPr/>
        </p:nvSpPr>
        <p:spPr>
          <a:xfrm>
            <a:off x="2554320" y="1260000"/>
            <a:ext cx="1150000" cy="33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Репродуктивен</a:t>
            </a:r>
          </a:p>
        </p:txBody>
      </p:sp>
      <p:sp>
        <p:nvSpPr>
          <p:cNvPr id="204" name="R2V"/>
          <p:cNvSpPr/>
          <p:nvPr/>
        </p:nvSpPr>
        <p:spPr>
          <a:xfrm>
            <a:off x="3704320" y="1260000"/>
            <a:ext cx="2200000" cy="33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205" name="R2Z"/>
          <p:cNvSpPr/>
          <p:nvPr/>
        </p:nvSpPr>
        <p:spPr>
          <a:xfrm>
            <a:off x="5904320" y="1260000"/>
            <a:ext cx="900000" cy="33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Реф. работа</a:t>
            </a:r>
          </a:p>
        </p:txBody>
      </p:sp>
      <p:sp>
        <p:nvSpPr>
          <p:cNvPr id="206" name="R2NS"/>
          <p:cNvSpPr/>
          <p:nvPr/>
        </p:nvSpPr>
        <p:spPr>
          <a:xfrm>
            <a:off x="6804320" y="1260000"/>
            <a:ext cx="1200000" cy="33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207" name="R2T"/>
          <p:cNvSpPr/>
          <p:nvPr/>
        </p:nvSpPr>
        <p:spPr>
          <a:xfrm>
            <a:off x="8004320" y="1260000"/>
            <a:ext cx="865360" cy="33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10 мин</a:t>
            </a:r>
          </a:p>
        </p:txBody>
      </p:sp>
      <p:sp>
        <p:nvSpPr>
          <p:cNvPr id="300" name="R3Bg"/>
          <p:cNvSpPr/>
          <p:nvPr/>
        </p:nvSpPr>
        <p:spPr>
          <a:xfrm>
            <a:off x="274320" y="1610000"/>
            <a:ext cx="8595360" cy="39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301" name="R3N"/>
          <p:cNvSpPr/>
          <p:nvPr/>
        </p:nvSpPr>
        <p:spPr>
          <a:xfrm>
            <a:off x="274320" y="1610000"/>
            <a:ext cx="38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302" name="R3P"/>
          <p:cNvSpPr/>
          <p:nvPr/>
        </p:nvSpPr>
        <p:spPr>
          <a:xfrm>
            <a:off x="654320" y="1610000"/>
            <a:ext cx="190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50" b="1" dirty="0">
                <a:solidFill>
                  <a:srgbClr val="FFFFFF"/>
                </a:solidFill>
              </a:rPr>
              <a:t>Преговор: Участници в движението</a:t>
            </a:r>
          </a:p>
        </p:txBody>
      </p:sp>
      <p:sp>
        <p:nvSpPr>
          <p:cNvPr id="303" name="R3M"/>
          <p:cNvSpPr/>
          <p:nvPr/>
        </p:nvSpPr>
        <p:spPr>
          <a:xfrm>
            <a:off x="2554320" y="1610000"/>
            <a:ext cx="115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Беседа</a:t>
            </a:r>
          </a:p>
        </p:txBody>
      </p:sp>
      <p:sp>
        <p:nvSpPr>
          <p:cNvPr id="304" name="R3V"/>
          <p:cNvSpPr/>
          <p:nvPr/>
        </p:nvSpPr>
        <p:spPr>
          <a:xfrm>
            <a:off x="3704320" y="1610000"/>
            <a:ext cx="220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0" indent="0">
              <a:buNone/>
            </a:pPr>
            <a:r>
              <a:rPr lang="bg-BG" sz="750" dirty="0">
                <a:solidFill>
                  <a:srgbClr val="CBD5E1"/>
                </a:solidFill>
              </a:rPr>
              <a:t>Кои са участниците в движението? Какви видове участници познавате?</a:t>
            </a:r>
          </a:p>
        </p:txBody>
      </p:sp>
      <p:sp>
        <p:nvSpPr>
          <p:cNvPr id="305" name="R3Z"/>
          <p:cNvSpPr/>
          <p:nvPr/>
        </p:nvSpPr>
        <p:spPr>
          <a:xfrm>
            <a:off x="5904320" y="1610000"/>
            <a:ext cx="90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—</a:t>
            </a:r>
          </a:p>
        </p:txBody>
      </p:sp>
      <p:sp>
        <p:nvSpPr>
          <p:cNvPr id="306" name="R3NS"/>
          <p:cNvSpPr/>
          <p:nvPr/>
        </p:nvSpPr>
        <p:spPr>
          <a:xfrm>
            <a:off x="6804320" y="1610000"/>
            <a:ext cx="120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Табло</a:t>
            </a:r>
          </a:p>
        </p:txBody>
      </p:sp>
      <p:sp>
        <p:nvSpPr>
          <p:cNvPr id="307" name="R3T"/>
          <p:cNvSpPr/>
          <p:nvPr/>
        </p:nvSpPr>
        <p:spPr>
          <a:xfrm>
            <a:off x="8004320" y="1610000"/>
            <a:ext cx="86536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5 мин</a:t>
            </a:r>
          </a:p>
        </p:txBody>
      </p:sp>
      <p:sp>
        <p:nvSpPr>
          <p:cNvPr id="400" name="R4Bg"/>
          <p:cNvSpPr/>
          <p:nvPr/>
        </p:nvSpPr>
        <p:spPr>
          <a:xfrm>
            <a:off x="274320" y="2020000"/>
            <a:ext cx="8595360" cy="390000"/>
          </a:xfrm>
          <a:prstGeom prst="rect">
            <a:avLst/>
          </a:prstGeom>
          <a:solidFill>
            <a:srgbClr val="112855"/>
          </a:solidFill>
          <a:ln/>
        </p:spPr>
      </p:sp>
      <p:sp>
        <p:nvSpPr>
          <p:cNvPr id="401" name="R4N"/>
          <p:cNvSpPr/>
          <p:nvPr/>
        </p:nvSpPr>
        <p:spPr>
          <a:xfrm>
            <a:off x="274320" y="2020000"/>
            <a:ext cx="38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0D9488"/>
                </a:solidFill>
              </a:rPr>
              <a:t>4</a:t>
            </a:r>
          </a:p>
        </p:txBody>
      </p:sp>
      <p:sp>
        <p:nvSpPr>
          <p:cNvPr id="402" name="R4P"/>
          <p:cNvSpPr/>
          <p:nvPr/>
        </p:nvSpPr>
        <p:spPr>
          <a:xfrm>
            <a:off x="654320" y="2020000"/>
            <a:ext cx="190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50" b="1" dirty="0">
                <a:solidFill>
                  <a:srgbClr val="FFFFFF"/>
                </a:solidFill>
              </a:rPr>
              <a:t>Водачи на ППС — права, задължения, особености</a:t>
            </a:r>
          </a:p>
        </p:txBody>
      </p:sp>
      <p:sp>
        <p:nvSpPr>
          <p:cNvPr id="403" name="R4M"/>
          <p:cNvSpPr/>
          <p:nvPr/>
        </p:nvSpPr>
        <p:spPr>
          <a:xfrm>
            <a:off x="2554320" y="2020000"/>
            <a:ext cx="115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Разказ, Беседа, Илюстрация</a:t>
            </a:r>
          </a:p>
        </p:txBody>
      </p:sp>
      <p:sp>
        <p:nvSpPr>
          <p:cNvPr id="404" name="R4V"/>
          <p:cNvSpPr/>
          <p:nvPr/>
        </p:nvSpPr>
        <p:spPr>
          <a:xfrm>
            <a:off x="3704320" y="2020000"/>
            <a:ext cx="220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0" indent="0">
              <a:buNone/>
            </a:pPr>
            <a:r>
              <a:rPr lang="bg-BG" sz="750" dirty="0">
                <a:solidFill>
                  <a:srgbClr val="CBD5E1"/>
                </a:solidFill>
              </a:rPr>
              <a:t>Кой е водач на ППС? Какви са задълженията му по ЗДвП? Какви рискове носи превишената скорост?</a:t>
            </a:r>
          </a:p>
        </p:txBody>
      </p:sp>
      <p:sp>
        <p:nvSpPr>
          <p:cNvPr id="405" name="R4Z"/>
          <p:cNvSpPr/>
          <p:nvPr/>
        </p:nvSpPr>
        <p:spPr>
          <a:xfrm>
            <a:off x="5904320" y="2020000"/>
            <a:ext cx="90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Казус 1, 2</a:t>
            </a:r>
          </a:p>
        </p:txBody>
      </p:sp>
      <p:sp>
        <p:nvSpPr>
          <p:cNvPr id="406" name="R4NS"/>
          <p:cNvSpPr/>
          <p:nvPr/>
        </p:nvSpPr>
        <p:spPr>
          <a:xfrm>
            <a:off x="6804320" y="2020000"/>
            <a:ext cx="120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Схема, Видео</a:t>
            </a:r>
          </a:p>
        </p:txBody>
      </p:sp>
      <p:sp>
        <p:nvSpPr>
          <p:cNvPr id="407" name="R4T"/>
          <p:cNvSpPr/>
          <p:nvPr/>
        </p:nvSpPr>
        <p:spPr>
          <a:xfrm>
            <a:off x="8004320" y="2020000"/>
            <a:ext cx="86536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20 мин</a:t>
            </a:r>
          </a:p>
        </p:txBody>
      </p:sp>
      <p:sp>
        <p:nvSpPr>
          <p:cNvPr id="500" name="R5Bg"/>
          <p:cNvSpPr/>
          <p:nvPr/>
        </p:nvSpPr>
        <p:spPr>
          <a:xfrm>
            <a:off x="274320" y="2430000"/>
            <a:ext cx="8595360" cy="39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501" name="R5N"/>
          <p:cNvSpPr/>
          <p:nvPr/>
        </p:nvSpPr>
        <p:spPr>
          <a:xfrm>
            <a:off x="274320" y="2430000"/>
            <a:ext cx="38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0D9488"/>
                </a:solidFill>
              </a:rPr>
              <a:t>5</a:t>
            </a:r>
          </a:p>
        </p:txBody>
      </p:sp>
      <p:sp>
        <p:nvSpPr>
          <p:cNvPr id="502" name="R5P"/>
          <p:cNvSpPr/>
          <p:nvPr/>
        </p:nvSpPr>
        <p:spPr>
          <a:xfrm>
            <a:off x="654320" y="2430000"/>
            <a:ext cx="190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50" b="1" dirty="0">
                <a:solidFill>
                  <a:srgbClr val="FFFFFF"/>
                </a:solidFill>
              </a:rPr>
              <a:t>Пешеходци — права, задължения, уязвимост</a:t>
            </a:r>
          </a:p>
        </p:txBody>
      </p:sp>
      <p:sp>
        <p:nvSpPr>
          <p:cNvPr id="503" name="R5M"/>
          <p:cNvSpPr/>
          <p:nvPr/>
        </p:nvSpPr>
        <p:spPr>
          <a:xfrm>
            <a:off x="2554320" y="2430000"/>
            <a:ext cx="115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Разказ, Беседа, Илюстрация</a:t>
            </a:r>
          </a:p>
        </p:txBody>
      </p:sp>
      <p:sp>
        <p:nvSpPr>
          <p:cNvPr id="504" name="R5V"/>
          <p:cNvSpPr/>
          <p:nvPr/>
        </p:nvSpPr>
        <p:spPr>
          <a:xfrm>
            <a:off x="3704320" y="2430000"/>
            <a:ext cx="220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0" indent="0">
              <a:buNone/>
            </a:pPr>
            <a:r>
              <a:rPr lang="bg-BG" sz="750" dirty="0">
                <a:solidFill>
                  <a:srgbClr val="CBD5E1"/>
                </a:solidFill>
              </a:rPr>
              <a:t>Защо пешеходците са уязвими? Как трябва да пресичат? Какви грешки допускат?</a:t>
            </a:r>
          </a:p>
        </p:txBody>
      </p:sp>
      <p:sp>
        <p:nvSpPr>
          <p:cNvPr id="505" name="R5Z"/>
          <p:cNvSpPr/>
          <p:nvPr/>
        </p:nvSpPr>
        <p:spPr>
          <a:xfrm>
            <a:off x="5904320" y="2430000"/>
            <a:ext cx="90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Казус 3, 4</a:t>
            </a:r>
          </a:p>
        </p:txBody>
      </p:sp>
      <p:sp>
        <p:nvSpPr>
          <p:cNvPr id="506" name="R5NS"/>
          <p:cNvSpPr/>
          <p:nvPr/>
        </p:nvSpPr>
        <p:spPr>
          <a:xfrm>
            <a:off x="6804320" y="2430000"/>
            <a:ext cx="120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Схема, Видео</a:t>
            </a:r>
          </a:p>
        </p:txBody>
      </p:sp>
      <p:sp>
        <p:nvSpPr>
          <p:cNvPr id="507" name="R5T"/>
          <p:cNvSpPr/>
          <p:nvPr/>
        </p:nvSpPr>
        <p:spPr>
          <a:xfrm>
            <a:off x="8004320" y="2430000"/>
            <a:ext cx="86536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20 мин</a:t>
            </a:r>
          </a:p>
        </p:txBody>
      </p:sp>
      <p:sp>
        <p:nvSpPr>
          <p:cNvPr id="600" name="R6Bg"/>
          <p:cNvSpPr/>
          <p:nvPr/>
        </p:nvSpPr>
        <p:spPr>
          <a:xfrm>
            <a:off x="274320" y="2840000"/>
            <a:ext cx="8595360" cy="390000"/>
          </a:xfrm>
          <a:prstGeom prst="rect">
            <a:avLst/>
          </a:prstGeom>
          <a:solidFill>
            <a:srgbClr val="112855"/>
          </a:solidFill>
          <a:ln/>
        </p:spPr>
      </p:sp>
      <p:sp>
        <p:nvSpPr>
          <p:cNvPr id="601" name="R6N"/>
          <p:cNvSpPr/>
          <p:nvPr/>
        </p:nvSpPr>
        <p:spPr>
          <a:xfrm>
            <a:off x="274320" y="2840000"/>
            <a:ext cx="38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0D9488"/>
                </a:solidFill>
              </a:rPr>
              <a:t>6</a:t>
            </a:r>
          </a:p>
        </p:txBody>
      </p:sp>
      <p:sp>
        <p:nvSpPr>
          <p:cNvPr id="602" name="R6P"/>
          <p:cNvSpPr/>
          <p:nvPr/>
        </p:nvSpPr>
        <p:spPr>
          <a:xfrm>
            <a:off x="654320" y="2840000"/>
            <a:ext cx="190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50" b="1" dirty="0">
                <a:solidFill>
                  <a:srgbClr val="FFFFFF"/>
                </a:solidFill>
              </a:rPr>
              <a:t>Пътници — безопасност и отговорност в МПС</a:t>
            </a:r>
          </a:p>
        </p:txBody>
      </p:sp>
      <p:sp>
        <p:nvSpPr>
          <p:cNvPr id="603" name="R6M"/>
          <p:cNvSpPr/>
          <p:nvPr/>
        </p:nvSpPr>
        <p:spPr>
          <a:xfrm>
            <a:off x="2554320" y="2840000"/>
            <a:ext cx="115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Беседа, Разказ, Илюстрация</a:t>
            </a:r>
          </a:p>
        </p:txBody>
      </p:sp>
      <p:sp>
        <p:nvSpPr>
          <p:cNvPr id="604" name="R6V"/>
          <p:cNvSpPr/>
          <p:nvPr/>
        </p:nvSpPr>
        <p:spPr>
          <a:xfrm>
            <a:off x="3704320" y="2840000"/>
            <a:ext cx="220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0" indent="0">
              <a:buNone/>
            </a:pPr>
            <a:r>
              <a:rPr lang="bg-BG" sz="750" dirty="0">
                <a:solidFill>
                  <a:srgbClr val="CBD5E1"/>
                </a:solidFill>
              </a:rPr>
              <a:t>Какви са задълженията на пътника? Защо колaнът е задължителен? Как пътникът може да разсее водача?</a:t>
            </a:r>
          </a:p>
        </p:txBody>
      </p:sp>
      <p:sp>
        <p:nvSpPr>
          <p:cNvPr id="605" name="R6Z"/>
          <p:cNvSpPr/>
          <p:nvPr/>
        </p:nvSpPr>
        <p:spPr>
          <a:xfrm>
            <a:off x="5904320" y="2840000"/>
            <a:ext cx="90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Казус 5, 6</a:t>
            </a:r>
          </a:p>
        </p:txBody>
      </p:sp>
      <p:sp>
        <p:nvSpPr>
          <p:cNvPr id="606" name="R6NS"/>
          <p:cNvSpPr/>
          <p:nvPr/>
        </p:nvSpPr>
        <p:spPr>
          <a:xfrm>
            <a:off x="6804320" y="2840000"/>
            <a:ext cx="120000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Схема, Видео</a:t>
            </a:r>
          </a:p>
        </p:txBody>
      </p:sp>
      <p:sp>
        <p:nvSpPr>
          <p:cNvPr id="607" name="R6T"/>
          <p:cNvSpPr/>
          <p:nvPr/>
        </p:nvSpPr>
        <p:spPr>
          <a:xfrm>
            <a:off x="8004320" y="2840000"/>
            <a:ext cx="865360" cy="39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15 мин</a:t>
            </a:r>
          </a:p>
        </p:txBody>
      </p:sp>
      <p:sp>
        <p:nvSpPr>
          <p:cNvPr id="700" name="R7Bg"/>
          <p:cNvSpPr/>
          <p:nvPr/>
        </p:nvSpPr>
        <p:spPr>
          <a:xfrm>
            <a:off x="274320" y="3250000"/>
            <a:ext cx="8595360" cy="39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701" name="R7Bar"/>
          <p:cNvSpPr/>
          <p:nvPr/>
        </p:nvSpPr>
        <p:spPr>
          <a:xfrm>
            <a:off x="274320" y="3250000"/>
            <a:ext cx="8595360" cy="55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02" name="R7N"/>
          <p:cNvSpPr/>
          <p:nvPr/>
        </p:nvSpPr>
        <p:spPr>
          <a:xfrm>
            <a:off x="274320" y="3305000"/>
            <a:ext cx="380000" cy="335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7</a:t>
            </a:r>
          </a:p>
        </p:txBody>
      </p:sp>
      <p:sp>
        <p:nvSpPr>
          <p:cNvPr id="703" name="R7P"/>
          <p:cNvSpPr/>
          <p:nvPr/>
        </p:nvSpPr>
        <p:spPr>
          <a:xfrm>
            <a:off x="654320" y="3305000"/>
            <a:ext cx="1900000" cy="335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50" b="1" dirty="0">
                <a:solidFill>
                  <a:srgbClr val="FFFFFF"/>
                </a:solidFill>
              </a:rPr>
              <a:t>Обобщение и въпроси за обратна връзка</a:t>
            </a:r>
          </a:p>
        </p:txBody>
      </p:sp>
      <p:sp>
        <p:nvSpPr>
          <p:cNvPr id="704" name="R7M"/>
          <p:cNvSpPr/>
          <p:nvPr/>
        </p:nvSpPr>
        <p:spPr>
          <a:xfrm>
            <a:off x="2554320" y="3305000"/>
            <a:ext cx="1150000" cy="335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bg-BG" sz="800" dirty="0">
                <a:solidFill>
                  <a:srgbClr val="CBD5E1"/>
                </a:solidFill>
              </a:rPr>
              <a:t>Беседа</a:t>
            </a:r>
          </a:p>
        </p:txBody>
      </p:sp>
      <p:sp>
        <p:nvSpPr>
          <p:cNvPr id="705" name="R7V"/>
          <p:cNvSpPr/>
          <p:nvPr/>
        </p:nvSpPr>
        <p:spPr>
          <a:xfrm>
            <a:off x="3704320" y="3305000"/>
            <a:ext cx="2200000" cy="335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0" indent="0">
              <a:buNone/>
            </a:pPr>
            <a:r>
              <a:rPr lang="bg-BG" sz="750" dirty="0">
                <a:solidFill>
                  <a:srgbClr val="CBD5E1"/>
                </a:solidFill>
              </a:rPr>
              <a:t>Какви са особеностите на всеки участник? Домашна работа.</a:t>
            </a:r>
          </a:p>
        </p:txBody>
      </p:sp>
      <p:sp>
        <p:nvSpPr>
          <p:cNvPr id="706" name="R7Z"/>
          <p:cNvSpPr/>
          <p:nvPr/>
        </p:nvSpPr>
        <p:spPr>
          <a:xfrm>
            <a:off x="5904320" y="3305000"/>
            <a:ext cx="900000" cy="335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Казус 7</a:t>
            </a:r>
          </a:p>
        </p:txBody>
      </p:sp>
      <p:sp>
        <p:nvSpPr>
          <p:cNvPr id="707" name="R7NS"/>
          <p:cNvSpPr/>
          <p:nvPr/>
        </p:nvSpPr>
        <p:spPr>
          <a:xfrm>
            <a:off x="6804320" y="3305000"/>
            <a:ext cx="1200000" cy="335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800" dirty="0">
                <a:solidFill>
                  <a:srgbClr val="CBD5E1"/>
                </a:solidFill>
              </a:rPr>
              <a:t>Презентация</a:t>
            </a:r>
          </a:p>
        </p:txBody>
      </p:sp>
      <p:sp>
        <p:nvSpPr>
          <p:cNvPr id="708" name="R7T"/>
          <p:cNvSpPr/>
          <p:nvPr/>
        </p:nvSpPr>
        <p:spPr>
          <a:xfrm>
            <a:off x="8004320" y="3305000"/>
            <a:ext cx="865360" cy="335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 algn="ctr">
              <a:buNone/>
            </a:pPr>
            <a:r>
              <a:rPr lang="bg-BG" sz="900" b="1" dirty="0">
                <a:solidFill>
                  <a:srgbClr val="F59E0B"/>
                </a:solidFill>
              </a:rPr>
              <a:t>10 мин</a:t>
            </a:r>
          </a:p>
        </p:txBody>
      </p:sp>
      <p:sp>
        <p:nvSpPr>
          <p:cNvPr id="800" name="TotalBg"/>
          <p:cNvSpPr/>
          <p:nvPr/>
        </p:nvSpPr>
        <p:spPr>
          <a:xfrm>
            <a:off x="274320" y="3700000"/>
            <a:ext cx="8595360" cy="290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01" name="TotalTxt"/>
          <p:cNvSpPr/>
          <p:nvPr/>
        </p:nvSpPr>
        <p:spPr>
          <a:xfrm>
            <a:off x="274320" y="3700000"/>
            <a:ext cx="8595360" cy="29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bg-BG" sz="1100" b="1" dirty="0">
                <a:solidFill>
                  <a:srgbClr val="0F2044"/>
                </a:solidFill>
              </a:rPr>
              <a:t>ОБЩО ВРЕМЕ: 2 учебни часа (90 мин)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Принципи на обучение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2400" b="1" dirty="0">
                <a:solidFill>
                  <a:srgbClr val="F59E0B"/>
                </a:solidFill>
              </a:rPr>
              <a:t>ПРИНЦИПИ НА ОБУЧЕНИЕ — МЕТОДИКА НА УРОКА</a:t>
            </a:r>
          </a:p>
        </p:txBody>
      </p:sp>
      <p:sp>
        <p:nvSpPr>
          <p:cNvPr id="3" name="Subtitle"/>
          <p:cNvSpPr/>
          <p:nvPr/>
        </p:nvSpPr>
        <p:spPr>
          <a:xfrm>
            <a:off x="365760" y="640000"/>
            <a:ext cx="841248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1000" i="1" dirty="0">
                <a:solidFill>
                  <a:srgbClr val="CBD5E1"/>
                </a:solidFill>
              </a:rPr>
              <a:t>Дидактическите принципи насочват и ръководят учебния процес по темата за участниците в движението</a:t>
            </a:r>
          </a:p>
        </p:txBody>
      </p:sp>
      <p:sp>
        <p:nvSpPr>
          <p:cNvPr id="10" name="Card1Bg"/>
          <p:cNvSpPr/>
          <p:nvPr/>
        </p:nvSpPr>
        <p:spPr>
          <a:xfrm>
            <a:off x="274320" y="1000000"/>
            <a:ext cx="2700000" cy="170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1" name="Card1Accent"/>
          <p:cNvSpPr/>
          <p:nvPr/>
        </p:nvSpPr>
        <p:spPr>
          <a:xfrm>
            <a:off x="274320" y="1000000"/>
            <a:ext cx="2700000" cy="120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Card1Text"/>
          <p:cNvSpPr/>
          <p:nvPr/>
        </p:nvSpPr>
        <p:spPr>
          <a:xfrm>
            <a:off x="365760" y="1180000"/>
            <a:ext cx="2500000" cy="145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bg-BG" sz="1400" b="1" dirty="0">
                <a:solidFill>
                  <a:srgbClr val="0D9488"/>
                </a:solidFill>
              </a:rPr>
              <a:t>Нагледност</a:t>
            </a:r>
          </a:p>
          <a:p>
            <a:pPr marL="0" indent="0">
              <a:buNone/>
            </a:pPr>
            <a:r>
              <a:rPr lang="bg-BG" sz="1000" dirty="0">
                <a:solidFill>
                  <a:srgbClr val="CBD5E1"/>
                </a:solidFill>
              </a:rPr>
              <a:t>Схеми на кръстовища, видеоклипове с реални ситуации, нагледни табла с участниците в движението</a:t>
            </a:r>
          </a:p>
        </p:txBody>
      </p:sp>
      <p:sp>
        <p:nvSpPr>
          <p:cNvPr id="20" name="Card2Bg"/>
          <p:cNvSpPr/>
          <p:nvPr/>
        </p:nvSpPr>
        <p:spPr>
          <a:xfrm>
            <a:off x="3122640" y="1000000"/>
            <a:ext cx="2700000" cy="170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21" name="Card2Accent"/>
          <p:cNvSpPr/>
          <p:nvPr/>
        </p:nvSpPr>
        <p:spPr>
          <a:xfrm>
            <a:off x="3122640" y="1000000"/>
            <a:ext cx="2700000" cy="120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Card2Text"/>
          <p:cNvSpPr/>
          <p:nvPr/>
        </p:nvSpPr>
        <p:spPr>
          <a:xfrm>
            <a:off x="3214080" y="1180000"/>
            <a:ext cx="2500000" cy="145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bg-BG" sz="1400" b="1" dirty="0">
                <a:solidFill>
                  <a:srgbClr val="F59E0B"/>
                </a:solidFill>
              </a:rPr>
              <a:t>Съзнателност и активност</a:t>
            </a:r>
          </a:p>
          <a:p>
            <a:pPr marL="0" indent="0">
              <a:buNone/>
            </a:pPr>
            <a:r>
              <a:rPr lang="bg-BG" sz="1000" dirty="0">
                <a:solidFill>
                  <a:srgbClr val="CBD5E1"/>
                </a:solidFill>
              </a:rPr>
              <a:t>Обучаемите осмислят ролята и отговорността на всеки участник чрез анализ и дискусия</a:t>
            </a:r>
          </a:p>
        </p:txBody>
      </p:sp>
      <p:sp>
        <p:nvSpPr>
          <p:cNvPr id="30" name="Card3Bg"/>
          <p:cNvSpPr/>
          <p:nvPr/>
        </p:nvSpPr>
        <p:spPr>
          <a:xfrm>
            <a:off x="5970960" y="1000000"/>
            <a:ext cx="2700000" cy="170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31" name="Card3Accent"/>
          <p:cNvSpPr/>
          <p:nvPr/>
        </p:nvSpPr>
        <p:spPr>
          <a:xfrm>
            <a:off x="5970960" y="1000000"/>
            <a:ext cx="2700000" cy="120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Card3Text"/>
          <p:cNvSpPr/>
          <p:nvPr/>
        </p:nvSpPr>
        <p:spPr>
          <a:xfrm>
            <a:off x="6062400" y="1180000"/>
            <a:ext cx="2500000" cy="145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bg-BG" sz="1400" b="1" dirty="0">
                <a:solidFill>
                  <a:srgbClr val="059669"/>
                </a:solidFill>
              </a:rPr>
              <a:t>Достъпност</a:t>
            </a:r>
          </a:p>
          <a:p>
            <a:pPr marL="0" indent="0">
              <a:buNone/>
            </a:pPr>
            <a:r>
              <a:rPr lang="bg-BG" sz="1000" dirty="0">
                <a:solidFill>
                  <a:srgbClr val="CBD5E1"/>
                </a:solidFill>
              </a:rPr>
              <a:t>От познатото към непознатото, от простото към сложното — надграждане върху познати ситуации</a:t>
            </a:r>
          </a:p>
        </p:txBody>
      </p:sp>
      <p:sp>
        <p:nvSpPr>
          <p:cNvPr id="40" name="Card4Bg"/>
          <p:cNvSpPr/>
          <p:nvPr/>
        </p:nvSpPr>
        <p:spPr>
          <a:xfrm>
            <a:off x="274320" y="2850000"/>
            <a:ext cx="4100000" cy="170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41" name="Card4Accent"/>
          <p:cNvSpPr/>
          <p:nvPr/>
        </p:nvSpPr>
        <p:spPr>
          <a:xfrm>
            <a:off x="274320" y="2850000"/>
            <a:ext cx="4100000" cy="120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Card4Text"/>
          <p:cNvSpPr/>
          <p:nvPr/>
        </p:nvSpPr>
        <p:spPr>
          <a:xfrm>
            <a:off x="365760" y="3030000"/>
            <a:ext cx="3900000" cy="145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bg-BG" sz="1400" b="1" dirty="0">
                <a:solidFill>
                  <a:srgbClr val="0D9488"/>
                </a:solidFill>
              </a:rPr>
              <a:t>Трайност на знанията</a:t>
            </a:r>
          </a:p>
          <a:p>
            <a:pPr marL="0" indent="0">
              <a:buNone/>
            </a:pPr>
            <a:r>
              <a:rPr lang="bg-BG" sz="1000" dirty="0">
                <a:solidFill>
                  <a:srgbClr val="CBD5E1"/>
                </a:solidFill>
              </a:rPr>
              <a:t>Повторение и затвърдяване чрез казуси и упражнения, домашна работа с реални ситуации</a:t>
            </a:r>
          </a:p>
        </p:txBody>
      </p:sp>
      <p:sp>
        <p:nvSpPr>
          <p:cNvPr id="50" name="Card5Bg"/>
          <p:cNvSpPr/>
          <p:nvPr/>
        </p:nvSpPr>
        <p:spPr>
          <a:xfrm>
            <a:off x="4570640" y="2850000"/>
            <a:ext cx="4100000" cy="170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51" name="Card5Accent"/>
          <p:cNvSpPr/>
          <p:nvPr/>
        </p:nvSpPr>
        <p:spPr>
          <a:xfrm>
            <a:off x="4570640" y="2850000"/>
            <a:ext cx="4100000" cy="120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Card5Text"/>
          <p:cNvSpPr/>
          <p:nvPr/>
        </p:nvSpPr>
        <p:spPr>
          <a:xfrm>
            <a:off x="4662080" y="3030000"/>
            <a:ext cx="3900000" cy="145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bg-BG" sz="1400" b="1" dirty="0">
                <a:solidFill>
                  <a:srgbClr val="F59E0B"/>
                </a:solidFill>
              </a:rPr>
              <a:t>Практическа насоченост</a:t>
            </a:r>
          </a:p>
          <a:p>
            <a:pPr marL="0" indent="0">
              <a:buNone/>
            </a:pPr>
            <a:r>
              <a:rPr lang="bg-BG" sz="1000" dirty="0">
                <a:solidFill>
                  <a:srgbClr val="CBD5E1"/>
                </a:solidFill>
              </a:rPr>
              <a:t>Прилагане на знанията в реални пътни ситуации — симулации, анализ, безопасно поведение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Методи за контрол и оценка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bg-BG" sz="2400" b="1" dirty="0">
                <a:solidFill>
                  <a:srgbClr val="F59E0B"/>
                </a:solidFill>
              </a:rPr>
              <a:t>МЕТОДИ ЗА КОНТРОЛ И ОЦЕНКА</a:t>
            </a:r>
          </a:p>
        </p:txBody>
      </p:sp>
      <p:sp>
        <p:nvSpPr>
          <p:cNvPr id="10" name="Col1Header"/>
          <p:cNvSpPr/>
          <p:nvPr/>
        </p:nvSpPr>
        <p:spPr>
          <a:xfrm>
            <a:off x="274320" y="730000"/>
            <a:ext cx="4100000" cy="480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Col1HeaderTxt"/>
          <p:cNvSpPr/>
          <p:nvPr/>
        </p:nvSpPr>
        <p:spPr>
          <a:xfrm>
            <a:off x="274320" y="730000"/>
            <a:ext cx="4100000" cy="48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bg-BG" sz="1600" b="1" dirty="0">
                <a:solidFill>
                  <a:srgbClr val="FFFFFF"/>
                </a:solidFill>
              </a:rPr>
              <a:t>ТЕКУЩ КОНТРОЛ</a:t>
            </a:r>
          </a:p>
        </p:txBody>
      </p:sp>
      <p:sp>
        <p:nvSpPr>
          <p:cNvPr id="12" name="Col1Body"/>
          <p:cNvSpPr/>
          <p:nvPr/>
        </p:nvSpPr>
        <p:spPr>
          <a:xfrm>
            <a:off x="274320" y="1260000"/>
            <a:ext cx="4100000" cy="355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3" name="Col1BodyTxt"/>
          <p:cNvSpPr/>
          <p:nvPr/>
        </p:nvSpPr>
        <p:spPr>
          <a:xfrm>
            <a:off x="365760" y="1350000"/>
            <a:ext cx="3900000" cy="335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bg-BG" sz="1200" b="1" dirty="0">
                <a:solidFill>
                  <a:srgbClr val="0D9488"/>
                </a:solidFill>
              </a:rPr>
              <a:t>Устен изпит / Беседа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Фронтални въпроси в началото на урока за проверка на предходни знания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 </a:t>
            </a:r>
          </a:p>
          <a:p>
            <a:pPr marL="0" indent="0">
              <a:buNone/>
            </a:pPr>
            <a:r>
              <a:rPr lang="bg-BG" sz="1200" b="1" dirty="0">
                <a:solidFill>
                  <a:srgbClr val="0D9488"/>
                </a:solidFill>
              </a:rPr>
              <a:t>Анализ на казуси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Разпознаване на участника, избор на поведение, аргументация на решението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 </a:t>
            </a:r>
          </a:p>
          <a:p>
            <a:pPr marL="0" indent="0">
              <a:buNone/>
            </a:pPr>
            <a:r>
              <a:rPr lang="bg-BG" sz="1200" b="1" dirty="0">
                <a:solidFill>
                  <a:srgbClr val="0D9488"/>
                </a:solidFill>
              </a:rPr>
              <a:t>Групова работа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Наблюдение на участието, сътрудничество и качество на аргументите</a:t>
            </a:r>
          </a:p>
        </p:txBody>
      </p:sp>
      <p:sp>
        <p:nvSpPr>
          <p:cNvPr id="20" name="Col2Header"/>
          <p:cNvSpPr/>
          <p:nvPr/>
        </p:nvSpPr>
        <p:spPr>
          <a:xfrm>
            <a:off x="4570640" y="730000"/>
            <a:ext cx="4100000" cy="480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Col2HeaderTxt"/>
          <p:cNvSpPr/>
          <p:nvPr/>
        </p:nvSpPr>
        <p:spPr>
          <a:xfrm>
            <a:off x="4570640" y="730000"/>
            <a:ext cx="4100000" cy="48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bg-BG" sz="1600" b="1" dirty="0">
                <a:solidFill>
                  <a:srgbClr val="0F2044"/>
                </a:solidFill>
              </a:rPr>
              <a:t>ЗАКЛЮЧИТЕЛЕН КОНТРОЛ</a:t>
            </a:r>
          </a:p>
        </p:txBody>
      </p:sp>
      <p:sp>
        <p:nvSpPr>
          <p:cNvPr id="22" name="Col2Body"/>
          <p:cNvSpPr/>
          <p:nvPr/>
        </p:nvSpPr>
        <p:spPr>
          <a:xfrm>
            <a:off x="4570640" y="1260000"/>
            <a:ext cx="4100000" cy="355000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23" name="Col2BodyTxt"/>
          <p:cNvSpPr/>
          <p:nvPr/>
        </p:nvSpPr>
        <p:spPr>
          <a:xfrm>
            <a:off x="4662080" y="1350000"/>
            <a:ext cx="3900000" cy="335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bg-BG" sz="1200" b="1" dirty="0">
                <a:solidFill>
                  <a:srgbClr val="F59E0B"/>
                </a:solidFill>
              </a:rPr>
              <a:t>Писмен тест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Въпроси с избор, верно/грешно и кратък отговор за видовете участници и техните права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 </a:t>
            </a:r>
          </a:p>
          <a:p>
            <a:pPr marL="0" indent="0">
              <a:buNone/>
            </a:pPr>
            <a:r>
              <a:rPr lang="bg-BG" sz="1200" b="1" dirty="0">
                <a:solidFill>
                  <a:srgbClr val="F59E0B"/>
                </a:solidFill>
              </a:rPr>
              <a:t>Домашна работа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Описание на реална пътна ситуация — идентификация, анализ на риска, предложение за безопасно решение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 </a:t>
            </a:r>
          </a:p>
          <a:p>
            <a:pPr marL="0" indent="0">
              <a:buNone/>
            </a:pPr>
            <a:r>
              <a:rPr lang="bg-BG" sz="1200" b="1" dirty="0">
                <a:solidFill>
                  <a:srgbClr val="F59E0B"/>
                </a:solidFill>
              </a:rPr>
              <a:t>Критерии за оценяване</a:t>
            </a:r>
          </a:p>
          <a:p>
            <a:pPr marL="0" indent="0">
              <a:buNone/>
            </a:pPr>
            <a:r>
              <a:rPr lang="bg-BG" sz="950" dirty="0">
                <a:solidFill>
                  <a:srgbClr val="CBD5E1"/>
                </a:solidFill>
              </a:rPr>
              <a:t>Точност, аргументираност, приложение на ЗДвП, транспортна култура и толерантност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" name="Shape 3"/>
          <p:cNvSpPr/>
          <p:nvPr/>
        </p:nvSpPr>
        <p:spPr>
          <a:xfrm>
            <a:off x="356616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0" y="4663440"/>
            <a:ext cx="822960" cy="9144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82880"/>
            <a:ext cx="4114800" cy="402336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" y="182880"/>
            <a:ext cx="4114800" cy="5943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1828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4"/>
                </a:solidFill>
              </a:rPr>
              <a:t>ДОМАШНА РАБОТА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1480" y="9144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Опишете реална пътна ситуация с участие на поне двама различни участници.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" y="1783080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" y="17556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Идентифицирайте вида участници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" y="2331720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41148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" y="23042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Опишете тяхното поведение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11480" y="2880360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41148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" y="28529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Анализирайте риска в ситуацията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11480" y="3429000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41148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" y="34015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Предложете по-безопасно решение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800600" y="182880"/>
            <a:ext cx="4114800" cy="4023360"/>
          </a:xfrm>
          <a:prstGeom prst="rect">
            <a:avLst/>
          </a:prstGeom>
          <a:solidFill>
            <a:srgbClr val="1A3366"/>
          </a:solidFill>
          <a:ln/>
        </p:spPr>
      </p:sp>
      <p:sp>
        <p:nvSpPr>
          <p:cNvPr id="27" name="Shape 24"/>
          <p:cNvSpPr/>
          <p:nvPr/>
        </p:nvSpPr>
        <p:spPr>
          <a:xfrm>
            <a:off x="4800600" y="182880"/>
            <a:ext cx="4114800" cy="5943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56032"/>
            <a:ext cx="457200" cy="4572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94960" y="1828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ЗАКЛЮЧЕНИЕ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4983480" y="9601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</a:rPr>
              <a:t>Урокът формира цялостно разбиране за взаимодействието между участниците и изгражда умения за безопасно поведение.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983480" y="1965960"/>
            <a:ext cx="3749040" cy="5486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2" name="Shape 28"/>
          <p:cNvSpPr/>
          <p:nvPr/>
        </p:nvSpPr>
        <p:spPr>
          <a:xfrm>
            <a:off x="5029200" y="2002536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2020824"/>
            <a:ext cx="347472" cy="34747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532120" y="1965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Познаване на всички участници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4983480" y="2624328"/>
            <a:ext cx="3749040" cy="5486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6" name="Shape 31"/>
          <p:cNvSpPr/>
          <p:nvPr/>
        </p:nvSpPr>
        <p:spPr>
          <a:xfrm>
            <a:off x="5029200" y="2660904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2679192"/>
            <a:ext cx="347472" cy="34747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532120" y="262432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Предиктивно безопасно поведение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4983480" y="3282696"/>
            <a:ext cx="3749040" cy="54864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40" name="Shape 34"/>
          <p:cNvSpPr/>
          <p:nvPr/>
        </p:nvSpPr>
        <p:spPr>
          <a:xfrm>
            <a:off x="5029200" y="331927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3337560"/>
            <a:ext cx="347472" cy="34747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532120" y="328269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Толерантност и отговорност на пътя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4983480" y="3611880"/>
            <a:ext cx="374904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Text 37"/>
          <p:cNvSpPr/>
          <p:nvPr/>
        </p:nvSpPr>
        <p:spPr>
          <a:xfrm>
            <a:off x="4983480" y="3611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CD34D"/>
                </a:solidFill>
              </a:rPr>
              <a:t>📍 Кабинет по БДП / Теоретична зала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1072</Words>
  <Application>Microsoft Office PowerPoint</Application>
  <PresentationFormat>On-screen Show (16:9)</PresentationFormat>
  <Paragraphs>233</Paragraphs>
  <Slides>13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Участници в движението по пътищата</dc:title>
  <dc:subject>PptxGenJS Presentation</dc:subject>
  <dc:creator>PptxGenJS</dc:creator>
  <cp:lastModifiedBy>Home</cp:lastModifiedBy>
  <cp:revision>5</cp:revision>
  <dcterms:created xsi:type="dcterms:W3CDTF">2026-05-27T06:51:09Z</dcterms:created>
  <dcterms:modified xsi:type="dcterms:W3CDTF">2026-05-28T18:15:30Z</dcterms:modified>
</cp:coreProperties>
</file>