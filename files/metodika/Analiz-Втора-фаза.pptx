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  <p:sldMasterId id="2147483672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libri Light" panose="020F0302020204030204" pitchFamily="34" charset="0"/>
      <p:regular r:id="rId18"/>
      <p:italic r:id="rId19"/>
    </p:embeddedFon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Dela Gothic One" panose="00000500000000000000" pitchFamily="2" charset="-128"/>
      <p:regular r:id="rId24"/>
    </p:embeddedFont>
    <p:embeddedFont>
      <p:font typeface="DM Sans" panose="020B0604020202020204" charset="0"/>
      <p:regular r:id="rId25"/>
    </p:embeddedFont>
    <p:embeddedFont>
      <p:font typeface="Montserrat Subrayada" panose="02000505000000020004" pitchFamily="2" charset="0"/>
      <p:bold r:id="rId26"/>
    </p:embeddedFont>
    <p:embeddedFont>
      <p:font typeface="Wingdings 3" panose="05040102010807070707" pitchFamily="18" charset="2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1.fntdata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291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3CC3-D197-4500-B63E-636A77BB4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200"/>
            <a:ext cx="10972800" cy="286543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F1A27F-F371-4B4A-8E3E-54E153281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763"/>
            <a:ext cx="10972800" cy="19859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3901C-0DC7-46E1-B60D-AA74F04ED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27CC-E349-4A06-AD51-112AD7BF2563}" type="datetimeFigureOut">
              <a:rPr lang="en-US" smtClean="0"/>
              <a:t>24.04.2026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48C91-0247-4C1B-97B4-8C5EC997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33E4B-0805-4AB1-A2DC-816EF0AF3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83B1-570E-4D6A-97D9-29C5AB493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364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10107-AAE4-46E3-9F8F-95F71DCB5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0667E-505F-4630-A0D1-781EFECF8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42FBE-03A2-4D6C-9CF8-4023675B6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27CC-E349-4A06-AD51-112AD7BF2563}" type="datetimeFigureOut">
              <a:rPr lang="en-US" smtClean="0"/>
              <a:t>24.04.2026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7C36F-790F-4A05-AD2F-DA841FCED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2E1A4-2781-42C0-9055-999AD5FDB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83B1-570E-4D6A-97D9-29C5AB493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0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D238B-22AC-4A96-AEF8-98E0DC2AD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538" y="2051050"/>
            <a:ext cx="12619037" cy="34242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0A198-D7DC-4AA4-8011-EB301E790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538" y="5507038"/>
            <a:ext cx="12619037" cy="18002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85A99-0767-434B-AB2C-0FB179FC6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27CC-E349-4A06-AD51-112AD7BF2563}" type="datetimeFigureOut">
              <a:rPr lang="en-US" smtClean="0"/>
              <a:t>24.04.2026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0CFB1-9D4C-4B05-A37A-6448D85E1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06C86-F5E4-4AF1-AF8F-23CC7CE88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83B1-570E-4D6A-97D9-29C5AB493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0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065C0-BA5C-436F-BA4D-DAC14D8B5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1ECBF-0DCF-4D54-AD67-C4C413610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6475" y="2190750"/>
            <a:ext cx="6232525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14C53-8FDD-4AEF-9B1D-7F4980148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91400" y="2190750"/>
            <a:ext cx="6232525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4140A-2116-4439-B7CA-D2C6A7429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27CC-E349-4A06-AD51-112AD7BF2563}" type="datetimeFigureOut">
              <a:rPr lang="en-US" smtClean="0"/>
              <a:t>24.04.2026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AA928-3689-48B1-B497-88F86D22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48C31-80B5-45DB-969F-226855A88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83B1-570E-4D6A-97D9-29C5AB493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3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B1C66-F67F-41DC-ABCD-00462B930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438150"/>
            <a:ext cx="12619037" cy="15906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AB140-94E2-4A54-BAC4-2B684C797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8063" y="2017713"/>
            <a:ext cx="6189662" cy="989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8159D-6B8C-487A-B775-ED0DEEDE1C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8063" y="3006725"/>
            <a:ext cx="6189662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6C5A13-5680-423D-B1AB-6A2B5B5DB9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7275" y="2017713"/>
            <a:ext cx="6219825" cy="989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6CF29-7A76-4EED-908F-80D993CC6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7275" y="3006725"/>
            <a:ext cx="6219825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8ABCA5-DDF7-4A91-8479-202ECEEDE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27CC-E349-4A06-AD51-112AD7BF2563}" type="datetimeFigureOut">
              <a:rPr lang="en-US" smtClean="0"/>
              <a:t>24.04.2026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B2D1A3-FD10-447C-A411-7FA776252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2FE4BA-D827-4A86-B52E-63B4CF52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83B1-570E-4D6A-97D9-29C5AB493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939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04AA6-941B-4551-8EA2-014075288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B5B9FE-0574-47E9-B277-9C5A16390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27CC-E349-4A06-AD51-112AD7BF2563}" type="datetimeFigureOut">
              <a:rPr lang="en-US" smtClean="0"/>
              <a:t>24.04.2026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71DD23-22DA-450E-8F47-A3D3F86A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A46CC-49FC-4EC5-9D6B-39B409D84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83B1-570E-4D6A-97D9-29C5AB493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527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02B8DB-DC35-47A6-BB43-3D3BA007A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27CC-E349-4A06-AD51-112AD7BF2563}" type="datetimeFigureOut">
              <a:rPr lang="en-US" smtClean="0"/>
              <a:t>24.04.2026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883C62-2DBD-4F4C-973F-2202BFC41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8FF03-5388-4E03-B996-BA50256A2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83B1-570E-4D6A-97D9-29C5AB493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1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6DCBB-F2B6-49C4-B618-2B2C9A31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549275"/>
            <a:ext cx="4718050" cy="19192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40C69-8386-4902-B520-1D235B48D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5" y="1184275"/>
            <a:ext cx="7407275" cy="58483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4801F1-921F-472A-A7CA-79159A53F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8063" y="2468563"/>
            <a:ext cx="4718050" cy="4573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C6FD9-FF40-49F0-A0EB-FDA4A6657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27CC-E349-4A06-AD51-112AD7BF2563}" type="datetimeFigureOut">
              <a:rPr lang="en-US" smtClean="0"/>
              <a:t>24.04.2026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77ABE-6B3E-4038-A6CA-F01A35853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0413A-622B-4FF0-8454-3618AADC8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83B1-570E-4D6A-97D9-29C5AB493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76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A36EE-8C57-4D3A-B5F8-B47C0FA6A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549275"/>
            <a:ext cx="4718050" cy="19192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C62E4-7785-4625-B0F1-43BC8D584D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5" y="1184275"/>
            <a:ext cx="7407275" cy="58483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C9795-1AC5-4BD9-8852-2A64A96B1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8063" y="2468563"/>
            <a:ext cx="4718050" cy="4573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E7962-D3A6-4C53-BA16-78CAA5B9B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27CC-E349-4A06-AD51-112AD7BF2563}" type="datetimeFigureOut">
              <a:rPr lang="en-US" smtClean="0"/>
              <a:t>24.04.2026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80C1D-71CD-4AED-82EB-638AEA98A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1EC2C-D0A1-4940-BEC2-F2B65187A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83B1-570E-4D6A-97D9-29C5AB493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2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D53E2-C306-4306-BA87-34145C324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A5078E-4C46-4584-939D-09F54FC67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9C2B6-D6BB-4997-940A-B70CA3E00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27CC-E349-4A06-AD51-112AD7BF2563}" type="datetimeFigureOut">
              <a:rPr lang="en-US" smtClean="0"/>
              <a:t>24.04.2026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46FF8-B56A-4403-A1C4-9F4D44ED0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997C2-F835-4E45-A1A0-92BC1F1FC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83B1-570E-4D6A-97D9-29C5AB493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14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4B5797-3D12-46CB-B1C0-C4B978D299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563" y="438150"/>
            <a:ext cx="3154362" cy="6973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88511B-F245-4997-8157-2A0C5D071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6475" y="438150"/>
            <a:ext cx="9310688" cy="6973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10EA7-7814-4DFD-B499-FEDFDA45A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27CC-E349-4A06-AD51-112AD7BF2563}" type="datetimeFigureOut">
              <a:rPr lang="en-US" smtClean="0"/>
              <a:t>24.04.2026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F6E9A-012D-47DF-A1FA-CCD791AB9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C150A-4A73-4BC3-A836-F6889BC5C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83B1-570E-4D6A-97D9-29C5AB493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439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1737361"/>
            <a:ext cx="10590790" cy="3995497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/>
              <a:t>24.04.2026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8962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24.04.2026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6584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3434080"/>
            <a:ext cx="10590788" cy="229877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5732857"/>
            <a:ext cx="10590790" cy="1032480"/>
          </a:xfrm>
        </p:spPr>
        <p:txBody>
          <a:bodyPr anchor="t"/>
          <a:lstStyle>
            <a:lvl1pPr marL="0" indent="0" algn="l">
              <a:buNone/>
              <a:defRPr sz="24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/>
              <a:t>24.04.2026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7776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3975" y="2472690"/>
            <a:ext cx="5275607" cy="503491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5392" y="2467311"/>
            <a:ext cx="5275609" cy="5040294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/>
              <a:t>24.04.2026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0537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286000"/>
            <a:ext cx="527560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397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85395" y="2286000"/>
            <a:ext cx="5275607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8539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/>
              <a:t>24.04.2026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9148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24.04.2026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7182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24.04.2026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1309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4" y="1737360"/>
            <a:ext cx="4081277" cy="1737360"/>
          </a:xfrm>
        </p:spPr>
        <p:txBody>
          <a:bodyPr anchor="b"/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540" y="1737360"/>
            <a:ext cx="6235196" cy="5486400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4" y="3755137"/>
            <a:ext cx="4081276" cy="3474719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24.04.2026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39658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689" y="2225030"/>
            <a:ext cx="6111487" cy="1889770"/>
          </a:xfrm>
        </p:spPr>
        <p:txBody>
          <a:bodyPr anchor="b">
            <a:normAutofit/>
          </a:bodyPr>
          <a:lstStyle>
            <a:lvl1pPr algn="l">
              <a:defRPr sz="43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39455" y="1371600"/>
            <a:ext cx="3840480" cy="548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6101975" cy="164592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24.04.2026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76035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5760704"/>
            <a:ext cx="10590788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6" y="822960"/>
            <a:ext cx="10590790" cy="436879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7" y="6440790"/>
            <a:ext cx="10590787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24.04.2026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5460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737360"/>
            <a:ext cx="10590791" cy="2377440"/>
          </a:xfrm>
        </p:spPr>
        <p:txBody>
          <a:bodyPr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10590791" cy="283464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24.04.2026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2832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762" y="1737360"/>
            <a:ext cx="9599178" cy="2788049"/>
          </a:xfrm>
        </p:spPr>
        <p:txBody>
          <a:bodyPr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2316481" y="4525409"/>
            <a:ext cx="8735579" cy="41060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68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5220788"/>
            <a:ext cx="10590791" cy="201168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24.04.2026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77954" y="1165504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6588" y="3136545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924257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3749041"/>
            <a:ext cx="10590792" cy="198381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5732857"/>
            <a:ext cx="10590791" cy="1032480"/>
          </a:xfrm>
        </p:spPr>
        <p:txBody>
          <a:bodyPr anchor="t"/>
          <a:lstStyle>
            <a:lvl1pPr marL="0" indent="0" algn="l">
              <a:buNone/>
              <a:defRPr sz="24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24.04.2026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51170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9537" y="2377440"/>
            <a:ext cx="353623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782956" y="3200400"/>
            <a:ext cx="3512820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0392" y="2377440"/>
            <a:ext cx="352348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647727" y="3200400"/>
            <a:ext cx="3536153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2377440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8549640" y="3200400"/>
            <a:ext cx="3518536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24.04.2026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0031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956" y="5101139"/>
            <a:ext cx="352806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82956" y="2651760"/>
            <a:ext cx="352806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782956" y="5792654"/>
            <a:ext cx="3528060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7251" y="5101139"/>
            <a:ext cx="351663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667249" y="2651760"/>
            <a:ext cx="351663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665627" y="5792653"/>
            <a:ext cx="3521287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5101139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549639" y="2651760"/>
            <a:ext cx="3518536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8549491" y="5792650"/>
            <a:ext cx="3523196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24.04.2026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4329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24.04.2026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11793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65055" y="516256"/>
            <a:ext cx="2103121" cy="699135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2956" y="1064897"/>
            <a:ext cx="8907779" cy="64427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/>
              <a:t>24.04.2026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68991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8200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5865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3056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58784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4816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60762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6963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98762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5582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4913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image" Target="../media/image5.png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image" Target="../media/image4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2DB516-5666-47AC-ADB0-5181F306F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475" y="438150"/>
            <a:ext cx="12617450" cy="1590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19C82-64DA-4F18-900E-517C6AE64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6475" y="2190750"/>
            <a:ext cx="12617450" cy="5221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BC155-3D1A-4246-AC0E-90885A7EA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6475" y="7627938"/>
            <a:ext cx="329088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A527CC-E349-4A06-AD51-112AD7BF2563}" type="datetimeFigureOut">
              <a:rPr lang="en-US" smtClean="0"/>
              <a:t>24.04.2026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F9B47-5A07-4B84-A4AA-A4227DA0A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638" y="7627938"/>
            <a:ext cx="493712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0EC04-1C17-4D5A-A65E-5D1561A6CF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283B1-570E-4D6A-97D9-29C5AB493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9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203623"/>
            <a:ext cx="4844414" cy="50259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470817"/>
            <a:ext cx="1826894" cy="2838544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0330814" y="2011680"/>
            <a:ext cx="3383280" cy="33832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9599295" y="1"/>
            <a:ext cx="1924064" cy="13696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0327054" y="7315200"/>
            <a:ext cx="1192481" cy="914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5334" y="543262"/>
            <a:ext cx="11285668" cy="16806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463502"/>
            <a:ext cx="10735849" cy="503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2186767" y="2148842"/>
            <a:ext cx="1188719" cy="3657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/>
              <a:t>24.04.2026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0741888" y="3870357"/>
            <a:ext cx="4631754" cy="36576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2423049" y="354876"/>
            <a:ext cx="1005839" cy="921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36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6638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504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6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2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0072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8309" y="2734032"/>
            <a:ext cx="7627382" cy="1870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Анализ на швейцарската „</a:t>
            </a:r>
            <a:r>
              <a:rPr lang="en-US" sz="3900" err="1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Втора</a:t>
            </a:r>
            <a:r>
              <a:rPr lang="en-US" sz="390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</a:t>
            </a:r>
            <a:r>
              <a:rPr lang="en-US" sz="3900" err="1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фаза</a:t>
            </a:r>
            <a:r>
              <a:rPr lang="en-US" sz="390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„</a:t>
            </a:r>
            <a:r>
              <a:rPr lang="bg-BG" sz="390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- </a:t>
            </a:r>
            <a:r>
              <a:rPr lang="en-US" sz="390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WAB</a:t>
            </a:r>
            <a:r>
              <a:rPr lang="bg-BG" sz="390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курс</a:t>
            </a:r>
            <a:r>
              <a:rPr lang="en-US" sz="390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за обучение на автоводачи</a:t>
            </a:r>
            <a:endParaRPr lang="en-US" sz="3900"/>
          </a:p>
        </p:txBody>
      </p:sp>
      <p:sp>
        <p:nvSpPr>
          <p:cNvPr id="4" name="Text 1"/>
          <p:cNvSpPr/>
          <p:nvPr/>
        </p:nvSpPr>
        <p:spPr>
          <a:xfrm>
            <a:off x="758309" y="5260156"/>
            <a:ext cx="7627382" cy="127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32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Психологически инструменти за превенция на рисковото поведение при млади водачи</a:t>
            </a:r>
            <a:endParaRPr lang="en-US" sz="32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5A8FDD-69DA-4259-9406-D47B6A3D8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254" y="2422632"/>
            <a:ext cx="556996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31258" y="1982076"/>
            <a:ext cx="5486400" cy="37120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805464"/>
            <a:ext cx="76273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Психология на младия водач</a:t>
            </a:r>
            <a:endParaRPr lang="en-US" sz="3900"/>
          </a:p>
        </p:txBody>
      </p:sp>
      <p:sp>
        <p:nvSpPr>
          <p:cNvPr id="4" name="Text 1"/>
          <p:cNvSpPr/>
          <p:nvPr/>
        </p:nvSpPr>
        <p:spPr>
          <a:xfrm>
            <a:off x="758309" y="3526393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u="sng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Рисков профил</a:t>
            </a:r>
            <a:endParaRPr lang="en-US" sz="1950" u="sng"/>
          </a:p>
        </p:txBody>
      </p:sp>
      <p:sp>
        <p:nvSpPr>
          <p:cNvPr id="5" name="Text 2"/>
          <p:cNvSpPr/>
          <p:nvPr/>
        </p:nvSpPr>
        <p:spPr>
          <a:xfrm>
            <a:off x="758309" y="4027646"/>
            <a:ext cx="3474326" cy="2580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Рисковият</a:t>
            </a:r>
            <a:r>
              <a:rPr lang="en-US" sz="24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4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профил</a:t>
            </a:r>
            <a:r>
              <a:rPr lang="en-US" sz="24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bg-BG" sz="24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обединява психология,навици и среда, които водят до ПТП. </a:t>
            </a:r>
          </a:p>
          <a:p>
            <a:pPr marL="342900" indent="-342900" algn="l">
              <a:lnSpc>
                <a:spcPts val="2350"/>
              </a:lnSpc>
              <a:buFont typeface="Arial" panose="020B0604020202020204" pitchFamily="34" charset="0"/>
              <a:buChar char="•"/>
            </a:pPr>
            <a:r>
              <a:rPr lang="bg-BG" sz="24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Водачите между 18 и 25 г. са най-рисковата група поради комплекс от причини.</a:t>
            </a:r>
            <a:endParaRPr lang="en-US" sz="2400"/>
          </a:p>
        </p:txBody>
      </p:sp>
      <p:sp>
        <p:nvSpPr>
          <p:cNvPr id="6" name="Text 3"/>
          <p:cNvSpPr/>
          <p:nvPr/>
        </p:nvSpPr>
        <p:spPr>
          <a:xfrm>
            <a:off x="4810839" y="3526393"/>
            <a:ext cx="3582472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u="sng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Ключови характеристики</a:t>
            </a:r>
            <a:endParaRPr lang="en-US" sz="1950" u="sng"/>
          </a:p>
        </p:txBody>
      </p:sp>
      <p:sp>
        <p:nvSpPr>
          <p:cNvPr id="7" name="Text 4"/>
          <p:cNvSpPr/>
          <p:nvPr/>
        </p:nvSpPr>
        <p:spPr>
          <a:xfrm>
            <a:off x="4810839" y="4339352"/>
            <a:ext cx="3582472" cy="2018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Надценяване</a:t>
            </a:r>
            <a:r>
              <a:rPr lang="en-US" sz="24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4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</a:t>
            </a:r>
            <a:r>
              <a:rPr lang="en-US" sz="24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4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собствените</a:t>
            </a:r>
            <a:r>
              <a:rPr lang="en-US" sz="24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4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умения</a:t>
            </a:r>
            <a:r>
              <a:rPr lang="bg-BG" sz="24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400"/>
          </a:p>
          <a:p>
            <a:pPr marL="342900" indent="-342900" algn="l">
              <a:lnSpc>
                <a:spcPts val="23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Склонност към риск и </a:t>
            </a:r>
            <a:r>
              <a:rPr lang="en-US" sz="24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импулсивност</a:t>
            </a:r>
            <a:r>
              <a:rPr lang="bg-BG" sz="24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400"/>
          </a:p>
          <a:p>
            <a:pPr marL="342900" indent="-342900" algn="l">
              <a:lnSpc>
                <a:spcPts val="23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Влияние на групата</a:t>
            </a:r>
            <a:endParaRPr lang="en-US" sz="2400"/>
          </a:p>
          <a:p>
            <a:pPr marL="342900" indent="-342900" algn="l">
              <a:lnSpc>
                <a:spcPts val="23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Понижено възприятие на риска</a:t>
            </a:r>
            <a:endParaRPr 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82648"/>
            <a:ext cx="10232946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Основни психологически фактори</a:t>
            </a:r>
            <a:endParaRPr lang="en-US" sz="3900"/>
          </a:p>
        </p:txBody>
      </p:sp>
      <p:sp>
        <p:nvSpPr>
          <p:cNvPr id="3" name="Shape 1"/>
          <p:cNvSpPr/>
          <p:nvPr/>
        </p:nvSpPr>
        <p:spPr>
          <a:xfrm>
            <a:off x="758309" y="2185273"/>
            <a:ext cx="6462117" cy="2487692"/>
          </a:xfrm>
          <a:prstGeom prst="roundRect">
            <a:avLst>
              <a:gd name="adj" fmla="val 3201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5477" y="2382441"/>
            <a:ext cx="568643" cy="568643"/>
          </a:xfrm>
          <a:prstGeom prst="roundRect">
            <a:avLst>
              <a:gd name="adj" fmla="val 16078780"/>
            </a:avLst>
          </a:prstGeom>
          <a:solidFill>
            <a:srgbClr val="C9131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806" y="2538770"/>
            <a:ext cx="255865" cy="2558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5477" y="3140631"/>
            <a:ext cx="3580686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Надценяване на умения</a:t>
            </a:r>
            <a:endParaRPr lang="en-US" sz="1950"/>
          </a:p>
        </p:txBody>
      </p:sp>
      <p:sp>
        <p:nvSpPr>
          <p:cNvPr id="7" name="Text 4"/>
          <p:cNvSpPr/>
          <p:nvPr/>
        </p:nvSpPr>
        <p:spPr>
          <a:xfrm>
            <a:off x="955477" y="3566041"/>
            <a:ext cx="606778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Младите шофьори системно оценяват уменията си като средни или над средните, дори когато обективните данни показват обратното</a:t>
            </a:r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409974" y="2185273"/>
            <a:ext cx="6462117" cy="2487692"/>
          </a:xfrm>
          <a:prstGeom prst="roundRect">
            <a:avLst>
              <a:gd name="adj" fmla="val 3201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07141" y="2382441"/>
            <a:ext cx="568643" cy="568643"/>
          </a:xfrm>
          <a:prstGeom prst="roundRect">
            <a:avLst>
              <a:gd name="adj" fmla="val 16078780"/>
            </a:avLst>
          </a:prstGeom>
          <a:solidFill>
            <a:srgbClr val="C9131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63470" y="2538770"/>
            <a:ext cx="255865" cy="2558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07141" y="3140631"/>
            <a:ext cx="3021806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Склонност към риск</a:t>
            </a:r>
            <a:endParaRPr lang="en-US" sz="1950"/>
          </a:p>
        </p:txBody>
      </p:sp>
      <p:sp>
        <p:nvSpPr>
          <p:cNvPr id="12" name="Text 8"/>
          <p:cNvSpPr/>
          <p:nvPr/>
        </p:nvSpPr>
        <p:spPr>
          <a:xfrm>
            <a:off x="7607141" y="3566041"/>
            <a:ext cx="6067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Импулсивно поведение, скорост и игнориране на опасност при шофиране</a:t>
            </a:r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58309" y="4829294"/>
            <a:ext cx="6462117" cy="2184440"/>
          </a:xfrm>
          <a:prstGeom prst="roundRect">
            <a:avLst>
              <a:gd name="adj" fmla="val 3645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55477" y="5059680"/>
            <a:ext cx="568643" cy="568643"/>
          </a:xfrm>
          <a:prstGeom prst="roundRect">
            <a:avLst>
              <a:gd name="adj" fmla="val 16078780"/>
            </a:avLst>
          </a:prstGeom>
          <a:solidFill>
            <a:srgbClr val="C9131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1806" y="5216009"/>
            <a:ext cx="255865" cy="2558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55477" y="5817870"/>
            <a:ext cx="2946202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Влияние на групата</a:t>
            </a:r>
            <a:endParaRPr lang="en-US" sz="1950"/>
          </a:p>
        </p:txBody>
      </p:sp>
      <p:sp>
        <p:nvSpPr>
          <p:cNvPr id="17" name="Text 12"/>
          <p:cNvSpPr/>
          <p:nvPr/>
        </p:nvSpPr>
        <p:spPr>
          <a:xfrm>
            <a:off x="955477" y="6243280"/>
            <a:ext cx="6067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Шофиране под натиск, нощно шофиране с приятели, социално влияние</a:t>
            </a:r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409974" y="4862512"/>
            <a:ext cx="6462117" cy="2184440"/>
          </a:xfrm>
          <a:prstGeom prst="roundRect">
            <a:avLst>
              <a:gd name="adj" fmla="val 3645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07141" y="5059680"/>
            <a:ext cx="568643" cy="568643"/>
          </a:xfrm>
          <a:prstGeom prst="roundRect">
            <a:avLst>
              <a:gd name="adj" fmla="val 16078780"/>
            </a:avLst>
          </a:prstGeom>
          <a:solidFill>
            <a:srgbClr val="C9131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63470" y="5216009"/>
            <a:ext cx="255865" cy="25586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07141" y="5817870"/>
            <a:ext cx="3365063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Подценяване на риска</a:t>
            </a:r>
            <a:endParaRPr lang="en-US" sz="1950"/>
          </a:p>
        </p:txBody>
      </p:sp>
      <p:sp>
        <p:nvSpPr>
          <p:cNvPr id="22" name="Text 16"/>
          <p:cNvSpPr/>
          <p:nvPr/>
        </p:nvSpPr>
        <p:spPr>
          <a:xfrm>
            <a:off x="7607141" y="6243280"/>
            <a:ext cx="6067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Недооценяване на опасни ситуации и надценяване на собствените реакции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4206" y="2158738"/>
            <a:ext cx="5486400" cy="39121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0837" y="1184501"/>
            <a:ext cx="7485578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WAB курсът в Швейцария</a:t>
            </a:r>
            <a:endParaRPr lang="en-US" sz="3900"/>
          </a:p>
        </p:txBody>
      </p:sp>
      <p:sp>
        <p:nvSpPr>
          <p:cNvPr id="4" name="Text 1"/>
          <p:cNvSpPr/>
          <p:nvPr/>
        </p:nvSpPr>
        <p:spPr>
          <a:xfrm>
            <a:off x="6339483" y="1934205"/>
            <a:ext cx="762738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Швейцарската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система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за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двуфазово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обучение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включва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ключов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инструмент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за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диагностика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самооценъчния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въпросник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Чрез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него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участникът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осъзнава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собствените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си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нагласи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рисково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поведение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и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потенциални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слаби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200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места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000"/>
          </a:p>
        </p:txBody>
      </p:sp>
      <p:sp>
        <p:nvSpPr>
          <p:cNvPr id="5" name="Text 2"/>
          <p:cNvSpPr/>
          <p:nvPr/>
        </p:nvSpPr>
        <p:spPr>
          <a:xfrm>
            <a:off x="6244709" y="3417332"/>
            <a:ext cx="189548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01</a:t>
            </a:r>
            <a:endParaRPr lang="en-US" sz="1450"/>
          </a:p>
        </p:txBody>
      </p:sp>
      <p:sp>
        <p:nvSpPr>
          <p:cNvPr id="6" name="Shape 3"/>
          <p:cNvSpPr/>
          <p:nvPr/>
        </p:nvSpPr>
        <p:spPr>
          <a:xfrm>
            <a:off x="6244709" y="3716655"/>
            <a:ext cx="3718917" cy="2286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7" name="Text 4"/>
          <p:cNvSpPr/>
          <p:nvPr/>
        </p:nvSpPr>
        <p:spPr>
          <a:xfrm>
            <a:off x="6244709" y="3857149"/>
            <a:ext cx="3718917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Самооценъчен въпросник</a:t>
            </a:r>
            <a:endParaRPr lang="en-US" sz="1950"/>
          </a:p>
        </p:txBody>
      </p:sp>
      <p:sp>
        <p:nvSpPr>
          <p:cNvPr id="8" name="Text 5"/>
          <p:cNvSpPr/>
          <p:nvPr/>
        </p:nvSpPr>
        <p:spPr>
          <a:xfrm>
            <a:off x="6244709" y="4594265"/>
            <a:ext cx="3718917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Участниците попълват въпросника преди практическата част на курса</a:t>
            </a:r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153174" y="3417332"/>
            <a:ext cx="189548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02</a:t>
            </a:r>
            <a:endParaRPr lang="en-US" sz="1450"/>
          </a:p>
        </p:txBody>
      </p:sp>
      <p:sp>
        <p:nvSpPr>
          <p:cNvPr id="10" name="Shape 7"/>
          <p:cNvSpPr/>
          <p:nvPr/>
        </p:nvSpPr>
        <p:spPr>
          <a:xfrm>
            <a:off x="10153174" y="3716655"/>
            <a:ext cx="3718917" cy="2286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1" name="Text 8"/>
          <p:cNvSpPr/>
          <p:nvPr/>
        </p:nvSpPr>
        <p:spPr>
          <a:xfrm>
            <a:off x="10153174" y="3857149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Групова работа</a:t>
            </a:r>
            <a:endParaRPr lang="en-US" sz="1950"/>
          </a:p>
        </p:txBody>
      </p:sp>
      <p:sp>
        <p:nvSpPr>
          <p:cNvPr id="12" name="Text 9"/>
          <p:cNvSpPr/>
          <p:nvPr/>
        </p:nvSpPr>
        <p:spPr>
          <a:xfrm>
            <a:off x="10153174" y="4282559"/>
            <a:ext cx="3718917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Модераторът обсъжда резултатите в групата - сравнения, реални ситуации, анализ на произшествия</a:t>
            </a:r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44709" y="5532477"/>
            <a:ext cx="189548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03</a:t>
            </a:r>
            <a:endParaRPr lang="en-US" sz="1450"/>
          </a:p>
        </p:txBody>
      </p:sp>
      <p:sp>
        <p:nvSpPr>
          <p:cNvPr id="14" name="Shape 11"/>
          <p:cNvSpPr/>
          <p:nvPr/>
        </p:nvSpPr>
        <p:spPr>
          <a:xfrm>
            <a:off x="6244709" y="5831800"/>
            <a:ext cx="7627382" cy="2286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5" name="Text 12"/>
          <p:cNvSpPr/>
          <p:nvPr/>
        </p:nvSpPr>
        <p:spPr>
          <a:xfrm>
            <a:off x="6244709" y="5972294"/>
            <a:ext cx="382404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Практически упражнения</a:t>
            </a:r>
            <a:endParaRPr lang="en-US" sz="1950"/>
          </a:p>
        </p:txBody>
      </p:sp>
      <p:sp>
        <p:nvSpPr>
          <p:cNvPr id="16" name="Text 13"/>
          <p:cNvSpPr/>
          <p:nvPr/>
        </p:nvSpPr>
        <p:spPr>
          <a:xfrm>
            <a:off x="6244709" y="6397704"/>
            <a:ext cx="76273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Участниците правят упражнения и осъзнават реални лимити чрез пряк опит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57895"/>
            <a:ext cx="7722632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Структура на въпросника</a:t>
            </a:r>
            <a:endParaRPr lang="en-US" sz="3900"/>
          </a:p>
        </p:txBody>
      </p:sp>
      <p:sp>
        <p:nvSpPr>
          <p:cNvPr id="3" name="Text 1"/>
          <p:cNvSpPr/>
          <p:nvPr/>
        </p:nvSpPr>
        <p:spPr>
          <a:xfrm>
            <a:off x="758309" y="2260521"/>
            <a:ext cx="13113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Въпросникът обхваща няколко тематични области, свързани с рисковото поведение на пътя. Целта му не е да оценява или класифицира шофьора, а да създаде основа за осъзнато обсъждане.</a:t>
            </a:r>
            <a:endParaRPr lang="en-US" sz="2000" b="1"/>
          </a:p>
        </p:txBody>
      </p:sp>
      <p:sp>
        <p:nvSpPr>
          <p:cNvPr id="4" name="Shape 2"/>
          <p:cNvSpPr/>
          <p:nvPr/>
        </p:nvSpPr>
        <p:spPr>
          <a:xfrm>
            <a:off x="758309" y="3364587"/>
            <a:ext cx="4244816" cy="1718191"/>
          </a:xfrm>
          <a:prstGeom prst="roundRect">
            <a:avLst>
              <a:gd name="adj" fmla="val 6386"/>
            </a:avLst>
          </a:prstGeom>
          <a:solidFill>
            <a:srgbClr val="0A0A0A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8309" y="3341727"/>
            <a:ext cx="4244816" cy="91440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</p:sp>
      <p:sp>
        <p:nvSpPr>
          <p:cNvPr id="6" name="Shape 4"/>
          <p:cNvSpPr/>
          <p:nvPr/>
        </p:nvSpPr>
        <p:spPr>
          <a:xfrm>
            <a:off x="2596396" y="3080266"/>
            <a:ext cx="568643" cy="568643"/>
          </a:xfrm>
          <a:prstGeom prst="roundRect">
            <a:avLst>
              <a:gd name="adj" fmla="val 160804"/>
            </a:avLst>
          </a:prstGeom>
          <a:solidFill>
            <a:srgbClr val="C91313"/>
          </a:solidFill>
          <a:ln/>
        </p:spPr>
      </p:sp>
      <p:sp>
        <p:nvSpPr>
          <p:cNvPr id="7" name="Text 5"/>
          <p:cNvSpPr/>
          <p:nvPr/>
        </p:nvSpPr>
        <p:spPr>
          <a:xfrm>
            <a:off x="2767132" y="3222428"/>
            <a:ext cx="227290" cy="210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750"/>
          </a:p>
        </p:txBody>
      </p:sp>
      <p:sp>
        <p:nvSpPr>
          <p:cNvPr id="8" name="Text 6"/>
          <p:cNvSpPr/>
          <p:nvPr/>
        </p:nvSpPr>
        <p:spPr>
          <a:xfrm>
            <a:off x="970717" y="3838456"/>
            <a:ext cx="3463290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Самооценка на умения</a:t>
            </a:r>
            <a:endParaRPr lang="en-US" sz="1950"/>
          </a:p>
        </p:txBody>
      </p:sp>
      <p:sp>
        <p:nvSpPr>
          <p:cNvPr id="9" name="Text 7"/>
          <p:cNvSpPr/>
          <p:nvPr/>
        </p:nvSpPr>
        <p:spPr>
          <a:xfrm>
            <a:off x="591621" y="4292322"/>
            <a:ext cx="4199097" cy="578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bg-BG">
                <a:solidFill>
                  <a:srgbClr val="FFE5E5"/>
                </a:solidFill>
              </a:rPr>
              <a:t>Надценяване на уменията</a:t>
            </a:r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69813" y="3391554"/>
            <a:ext cx="4244935" cy="1718191"/>
          </a:xfrm>
          <a:prstGeom prst="roundRect">
            <a:avLst>
              <a:gd name="adj" fmla="val 6386"/>
            </a:avLst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92673" y="3341727"/>
            <a:ext cx="4244935" cy="91440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</p:sp>
      <p:sp>
        <p:nvSpPr>
          <p:cNvPr id="12" name="Shape 10"/>
          <p:cNvSpPr/>
          <p:nvPr/>
        </p:nvSpPr>
        <p:spPr>
          <a:xfrm>
            <a:off x="7030760" y="3080266"/>
            <a:ext cx="568643" cy="568643"/>
          </a:xfrm>
          <a:prstGeom prst="roundRect">
            <a:avLst>
              <a:gd name="adj" fmla="val 160804"/>
            </a:avLst>
          </a:prstGeom>
          <a:solidFill>
            <a:srgbClr val="C91313"/>
          </a:solidFill>
          <a:ln/>
        </p:spPr>
      </p:sp>
      <p:sp>
        <p:nvSpPr>
          <p:cNvPr id="13" name="Text 11"/>
          <p:cNvSpPr/>
          <p:nvPr/>
        </p:nvSpPr>
        <p:spPr>
          <a:xfrm>
            <a:off x="7201376" y="3222427"/>
            <a:ext cx="227409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750"/>
          </a:p>
        </p:txBody>
      </p:sp>
      <p:sp>
        <p:nvSpPr>
          <p:cNvPr id="14" name="Text 12"/>
          <p:cNvSpPr/>
          <p:nvPr/>
        </p:nvSpPr>
        <p:spPr>
          <a:xfrm>
            <a:off x="6183984" y="3762613"/>
            <a:ext cx="1715455" cy="38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Оценка на риска</a:t>
            </a:r>
            <a:endParaRPr lang="en-US" sz="1950"/>
          </a:p>
        </p:txBody>
      </p:sp>
      <p:sp>
        <p:nvSpPr>
          <p:cNvPr id="15" name="Text 13"/>
          <p:cNvSpPr/>
          <p:nvPr/>
        </p:nvSpPr>
        <p:spPr>
          <a:xfrm>
            <a:off x="4722829" y="4263866"/>
            <a:ext cx="4502371" cy="215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bg-BG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Подценяването на рисковете от водачите</a:t>
            </a:r>
            <a:endParaRPr lang="en-US" sz="1450"/>
          </a:p>
        </p:txBody>
      </p:sp>
      <p:sp>
        <p:nvSpPr>
          <p:cNvPr id="16" name="Shape 14"/>
          <p:cNvSpPr/>
          <p:nvPr/>
        </p:nvSpPr>
        <p:spPr>
          <a:xfrm>
            <a:off x="9627156" y="3364587"/>
            <a:ext cx="4244816" cy="1718191"/>
          </a:xfrm>
          <a:prstGeom prst="roundRect">
            <a:avLst>
              <a:gd name="adj" fmla="val 6386"/>
            </a:avLst>
          </a:prstGeom>
          <a:solidFill>
            <a:srgbClr val="0A0A0A">
              <a:alpha val="9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27156" y="3341727"/>
            <a:ext cx="4244816" cy="91440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65361" y="3080266"/>
            <a:ext cx="568643" cy="568643"/>
          </a:xfrm>
          <a:prstGeom prst="roundRect">
            <a:avLst>
              <a:gd name="adj" fmla="val 160804"/>
            </a:avLst>
          </a:prstGeom>
          <a:solidFill>
            <a:srgbClr val="C91313"/>
          </a:solidFill>
          <a:ln/>
        </p:spPr>
      </p:sp>
      <p:sp>
        <p:nvSpPr>
          <p:cNvPr id="19" name="Text 17"/>
          <p:cNvSpPr/>
          <p:nvPr/>
        </p:nvSpPr>
        <p:spPr>
          <a:xfrm>
            <a:off x="11635859" y="3222427"/>
            <a:ext cx="227409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750"/>
          </a:p>
        </p:txBody>
      </p:sp>
      <p:sp>
        <p:nvSpPr>
          <p:cNvPr id="20" name="Text 18"/>
          <p:cNvSpPr/>
          <p:nvPr/>
        </p:nvSpPr>
        <p:spPr>
          <a:xfrm>
            <a:off x="10237509" y="3762613"/>
            <a:ext cx="2779951" cy="38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Нагласи към алкохол</a:t>
            </a:r>
            <a:endParaRPr lang="en-US" sz="1950"/>
          </a:p>
        </p:txBody>
      </p:sp>
      <p:sp>
        <p:nvSpPr>
          <p:cNvPr id="21" name="Text 19"/>
          <p:cNvSpPr/>
          <p:nvPr/>
        </p:nvSpPr>
        <p:spPr>
          <a:xfrm>
            <a:off x="9839563" y="4263866"/>
            <a:ext cx="3820001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Идентифицира</a:t>
            </a:r>
            <a:r>
              <a:rPr lang="en-US" sz="145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5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нормализиране</a:t>
            </a:r>
            <a:r>
              <a:rPr lang="en-US" sz="145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5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</a:t>
            </a:r>
            <a:r>
              <a:rPr lang="en-US" sz="145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5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забранено</a:t>
            </a:r>
            <a:r>
              <a:rPr lang="en-US" sz="145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50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поведение</a:t>
            </a:r>
            <a:endParaRPr lang="en-US" sz="1450"/>
          </a:p>
        </p:txBody>
      </p:sp>
      <p:sp>
        <p:nvSpPr>
          <p:cNvPr id="22" name="Shape 20"/>
          <p:cNvSpPr/>
          <p:nvPr/>
        </p:nvSpPr>
        <p:spPr>
          <a:xfrm>
            <a:off x="758309" y="5556647"/>
            <a:ext cx="6461998" cy="1414939"/>
          </a:xfrm>
          <a:prstGeom prst="roundRect">
            <a:avLst>
              <a:gd name="adj" fmla="val 7755"/>
            </a:avLst>
          </a:prstGeom>
          <a:solidFill>
            <a:srgbClr val="0A0A0A">
              <a:alpha val="9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58309" y="5533787"/>
            <a:ext cx="6461998" cy="91440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</p:sp>
      <p:sp>
        <p:nvSpPr>
          <p:cNvPr id="24" name="Shape 22"/>
          <p:cNvSpPr/>
          <p:nvPr/>
        </p:nvSpPr>
        <p:spPr>
          <a:xfrm>
            <a:off x="3704987" y="5272326"/>
            <a:ext cx="568643" cy="568643"/>
          </a:xfrm>
          <a:prstGeom prst="roundRect">
            <a:avLst>
              <a:gd name="adj" fmla="val 160804"/>
            </a:avLst>
          </a:prstGeom>
          <a:solidFill>
            <a:srgbClr val="C91313"/>
          </a:solidFill>
          <a:ln/>
        </p:spPr>
      </p:sp>
      <p:sp>
        <p:nvSpPr>
          <p:cNvPr id="25" name="Text 23"/>
          <p:cNvSpPr/>
          <p:nvPr/>
        </p:nvSpPr>
        <p:spPr>
          <a:xfrm>
            <a:off x="3875603" y="5414486"/>
            <a:ext cx="227409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750"/>
          </a:p>
        </p:txBody>
      </p:sp>
      <p:sp>
        <p:nvSpPr>
          <p:cNvPr id="26" name="Text 24"/>
          <p:cNvSpPr/>
          <p:nvPr/>
        </p:nvSpPr>
        <p:spPr>
          <a:xfrm>
            <a:off x="2366128" y="6030516"/>
            <a:ext cx="1842494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Поведение при умора</a:t>
            </a:r>
            <a:endParaRPr lang="en-US" sz="1950"/>
          </a:p>
        </p:txBody>
      </p:sp>
      <p:sp>
        <p:nvSpPr>
          <p:cNvPr id="27" name="Text 25"/>
          <p:cNvSpPr/>
          <p:nvPr/>
        </p:nvSpPr>
        <p:spPr>
          <a:xfrm>
            <a:off x="545901" y="6455926"/>
            <a:ext cx="6461999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Установява склонност към шофиране в намалена боеспособност</a:t>
            </a:r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15080" y="5556647"/>
            <a:ext cx="6462117" cy="1414939"/>
          </a:xfrm>
          <a:prstGeom prst="roundRect">
            <a:avLst>
              <a:gd name="adj" fmla="val 7755"/>
            </a:avLst>
          </a:prstGeom>
          <a:solidFill>
            <a:srgbClr val="0A0A0A">
              <a:alpha val="9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409855" y="5533787"/>
            <a:ext cx="6462117" cy="91440"/>
          </a:xfrm>
          <a:prstGeom prst="roundRect">
            <a:avLst>
              <a:gd name="adj" fmla="val 87077"/>
            </a:avLst>
          </a:prstGeom>
          <a:solidFill>
            <a:srgbClr val="C91313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56533" y="5272326"/>
            <a:ext cx="568643" cy="568643"/>
          </a:xfrm>
          <a:prstGeom prst="roundRect">
            <a:avLst>
              <a:gd name="adj" fmla="val 160804"/>
            </a:avLst>
          </a:prstGeom>
          <a:solidFill>
            <a:srgbClr val="C91313"/>
          </a:solidFill>
          <a:ln/>
        </p:spPr>
      </p:sp>
      <p:sp>
        <p:nvSpPr>
          <p:cNvPr id="31" name="Text 29"/>
          <p:cNvSpPr/>
          <p:nvPr/>
        </p:nvSpPr>
        <p:spPr>
          <a:xfrm>
            <a:off x="10527149" y="5414486"/>
            <a:ext cx="227409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</a:t>
            </a:r>
            <a:endParaRPr lang="en-US" sz="1750"/>
          </a:p>
        </p:txBody>
      </p:sp>
      <p:sp>
        <p:nvSpPr>
          <p:cNvPr id="32" name="Text 30"/>
          <p:cNvSpPr/>
          <p:nvPr/>
        </p:nvSpPr>
        <p:spPr>
          <a:xfrm>
            <a:off x="9332536" y="5940444"/>
            <a:ext cx="784085" cy="401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Социална среда</a:t>
            </a:r>
            <a:endParaRPr lang="en-US" sz="1950"/>
          </a:p>
        </p:txBody>
      </p:sp>
      <p:sp>
        <p:nvSpPr>
          <p:cNvPr id="33" name="Text 31"/>
          <p:cNvSpPr/>
          <p:nvPr/>
        </p:nvSpPr>
        <p:spPr>
          <a:xfrm>
            <a:off x="7622262" y="6455926"/>
            <a:ext cx="603730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Измерва уязвимостта към групов натиск при шофиране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8309" y="664369"/>
            <a:ext cx="76273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Психологически конструкти</a:t>
            </a:r>
            <a:endParaRPr lang="en-US" sz="3900"/>
          </a:p>
        </p:txBody>
      </p:sp>
      <p:sp>
        <p:nvSpPr>
          <p:cNvPr id="4" name="Text 1"/>
          <p:cNvSpPr/>
          <p:nvPr/>
        </p:nvSpPr>
        <p:spPr>
          <a:xfrm>
            <a:off x="758309" y="2195751"/>
            <a:ext cx="76273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Психолозите описват ключови психологически конструкти, които определят рисковия профил на младия водач:</a:t>
            </a:r>
            <a:endParaRPr lang="en-US" sz="200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015496"/>
            <a:ext cx="947857" cy="11374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95713" y="3205043"/>
            <a:ext cx="2832021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Илюзия за контрол</a:t>
            </a:r>
            <a:endParaRPr lang="en-US" sz="2400"/>
          </a:p>
        </p:txBody>
      </p:sp>
      <p:sp>
        <p:nvSpPr>
          <p:cNvPr id="7" name="Text 3"/>
          <p:cNvSpPr/>
          <p:nvPr/>
        </p:nvSpPr>
        <p:spPr>
          <a:xfrm>
            <a:off x="1895713" y="3630454"/>
            <a:ext cx="6489978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Надценяване на уменията и вяра, че шофират по-добре от средните</a:t>
            </a:r>
            <a:endParaRPr lang="en-US" sz="160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4152900"/>
            <a:ext cx="947857" cy="113740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95713" y="4342448"/>
            <a:ext cx="3216950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Търсене на усещания</a:t>
            </a:r>
            <a:endParaRPr lang="en-US" sz="2400"/>
          </a:p>
        </p:txBody>
      </p:sp>
      <p:sp>
        <p:nvSpPr>
          <p:cNvPr id="10" name="Text 5"/>
          <p:cNvSpPr/>
          <p:nvPr/>
        </p:nvSpPr>
        <p:spPr>
          <a:xfrm>
            <a:off x="1895713" y="4717173"/>
            <a:ext cx="6489978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Стремеж към адреналинови усещания, скорост и остри маневри</a:t>
            </a:r>
            <a:endParaRPr 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5290304"/>
            <a:ext cx="947857" cy="113740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95713" y="5479852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Импулсивност</a:t>
            </a:r>
            <a:endParaRPr lang="en-US" sz="2400"/>
          </a:p>
        </p:txBody>
      </p:sp>
      <p:sp>
        <p:nvSpPr>
          <p:cNvPr id="13" name="Text 7"/>
          <p:cNvSpPr/>
          <p:nvPr/>
        </p:nvSpPr>
        <p:spPr>
          <a:xfrm>
            <a:off x="1895713" y="5905262"/>
            <a:ext cx="6489978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Реакции без обмисляне на последиците, агресия</a:t>
            </a:r>
            <a:endParaRPr 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09" y="6427708"/>
            <a:ext cx="947857" cy="113740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895713" y="6617256"/>
            <a:ext cx="3153132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Възприятие на риска</a:t>
            </a:r>
            <a:endParaRPr lang="en-US" sz="2400"/>
          </a:p>
        </p:txBody>
      </p:sp>
      <p:sp>
        <p:nvSpPr>
          <p:cNvPr id="16" name="Text 9"/>
          <p:cNvSpPr/>
          <p:nvPr/>
        </p:nvSpPr>
        <p:spPr>
          <a:xfrm>
            <a:off x="1895713" y="7042666"/>
            <a:ext cx="6489978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Подценяване на вероятността за произшествие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84603"/>
            <a:ext cx="9073991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Как се използват резултатите</a:t>
            </a:r>
            <a:endParaRPr lang="en-US" sz="3900"/>
          </a:p>
        </p:txBody>
      </p:sp>
      <p:sp>
        <p:nvSpPr>
          <p:cNvPr id="3" name="Text 1"/>
          <p:cNvSpPr/>
          <p:nvPr/>
        </p:nvSpPr>
        <p:spPr>
          <a:xfrm>
            <a:off x="758309" y="2682002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err="1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Основна</a:t>
            </a:r>
            <a:r>
              <a:rPr lang="en-US" sz="195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</a:t>
            </a:r>
            <a:r>
              <a:rPr lang="en-US" sz="1950" err="1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идея</a:t>
            </a:r>
            <a:endParaRPr lang="bg-BG" sz="1950">
              <a:solidFill>
                <a:srgbClr val="FAEBEB"/>
              </a:solidFill>
              <a:latin typeface="Dela Gothic One" pitchFamily="34" charset="0"/>
              <a:ea typeface="Dela Gothic One" pitchFamily="34" charset="-122"/>
              <a:cs typeface="Dela Gothic One" pitchFamily="34" charset="-120"/>
            </a:endParaRPr>
          </a:p>
          <a:p>
            <a:pPr marL="0" indent="0" algn="l">
              <a:lnSpc>
                <a:spcPts val="2450"/>
              </a:lnSpc>
              <a:buNone/>
            </a:pPr>
            <a:endParaRPr lang="en-US" sz="1950"/>
          </a:p>
        </p:txBody>
      </p:sp>
      <p:sp>
        <p:nvSpPr>
          <p:cNvPr id="4" name="Text 2"/>
          <p:cNvSpPr/>
          <p:nvPr/>
        </p:nvSpPr>
        <p:spPr>
          <a:xfrm>
            <a:off x="758309" y="3183255"/>
            <a:ext cx="7683222" cy="109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WAB въпросникът не оценява шофьора, </a:t>
            </a:r>
            <a:r>
              <a:rPr lang="bg-BG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 насочва към осъзнаване.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bg-BG" sz="2000">
                <a:solidFill>
                  <a:srgbClr val="FFE5E5"/>
                </a:solidFill>
              </a:rPr>
              <a:t>Резултатите са лични 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bg-BG" sz="2000">
                <a:solidFill>
                  <a:srgbClr val="FFE5E5"/>
                </a:solidFill>
              </a:rPr>
              <a:t>Използват се за дискусия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758309" y="4282558"/>
            <a:ext cx="2625914" cy="63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bg-BG" sz="1950">
              <a:solidFill>
                <a:srgbClr val="FAEBEB"/>
              </a:solidFill>
              <a:latin typeface="Dela Gothic One" pitchFamily="34" charset="0"/>
              <a:ea typeface="Dela Gothic One" pitchFamily="34" charset="-122"/>
              <a:cs typeface="Dela Gothic One" pitchFamily="34" charset="-120"/>
            </a:endParaRPr>
          </a:p>
          <a:p>
            <a:pPr marL="0" indent="0" algn="l">
              <a:lnSpc>
                <a:spcPts val="2450"/>
              </a:lnSpc>
              <a:buNone/>
            </a:pPr>
            <a:r>
              <a:rPr lang="en-US" sz="1950" err="1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Ефективност</a:t>
            </a:r>
            <a:endParaRPr lang="en-US" sz="1950"/>
          </a:p>
        </p:txBody>
      </p:sp>
      <p:sp>
        <p:nvSpPr>
          <p:cNvPr id="6" name="Text 4"/>
          <p:cNvSpPr/>
          <p:nvPr/>
        </p:nvSpPr>
        <p:spPr>
          <a:xfrm>
            <a:off x="688157" y="4779390"/>
            <a:ext cx="7753373" cy="2205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bg-BG" sz="1450">
              <a:solidFill>
                <a:srgbClr val="FFE5E5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bg-BG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По-нисък риск от ПТП  след обучението. 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bg-BG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Ефект до 3 години.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bg-BG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Данни от Швейцария(</a:t>
            </a: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BFU)</a:t>
            </a:r>
            <a:endParaRPr lang="bg-BG" sz="2000">
              <a:solidFill>
                <a:srgbClr val="FFE5E5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350"/>
              </a:lnSpc>
              <a:buNone/>
            </a:pPr>
            <a:endParaRPr lang="bg-BG" sz="2000">
              <a:solidFill>
                <a:srgbClr val="FFE5E5"/>
              </a:solidFill>
            </a:endParaRPr>
          </a:p>
          <a:p>
            <a:pPr marL="0" indent="0" algn="l">
              <a:lnSpc>
                <a:spcPts val="2350"/>
              </a:lnSpc>
              <a:buNone/>
            </a:pPr>
            <a:endParaRPr lang="en-US" sz="2400">
              <a:solidFill>
                <a:srgbClr val="FFE5E5"/>
              </a:solidFill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bg-BG" sz="3200">
                <a:solidFill>
                  <a:srgbClr val="FFE5E5"/>
                </a:solidFill>
              </a:rPr>
              <a:t>Целта не е да се оцени водачът, а да се промени поведението му .</a:t>
            </a:r>
            <a:endParaRPr lang="en-US" sz="320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5F62798-EA4A-49A1-8144-3F03972C1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По-нисък риск от ПТП след обучението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Ефект до 3 години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Данни от Швейцария (bfu)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50589" y="452488"/>
            <a:ext cx="10921501" cy="1602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Приложимост за България</a:t>
            </a:r>
            <a:endParaRPr lang="en-US" sz="3900"/>
          </a:p>
        </p:txBody>
      </p:sp>
      <p:sp>
        <p:nvSpPr>
          <p:cNvPr id="4" name="Text 1"/>
          <p:cNvSpPr/>
          <p:nvPr/>
        </p:nvSpPr>
        <p:spPr>
          <a:xfrm>
            <a:off x="6244709" y="1822372"/>
            <a:ext cx="7627382" cy="1426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Наредба № 37 от 2002 г. регламентира обучението на водачи в България, но не включва инструменти за психологическа самооценка или поведенчески профил. Въвеждането на елементи от WAB модела би допълнило системата без законодателна промяна.</a:t>
            </a:r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244709" y="3461861"/>
            <a:ext cx="3718917" cy="2344460"/>
          </a:xfrm>
          <a:prstGeom prst="roundRect">
            <a:avLst>
              <a:gd name="adj" fmla="val 3396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41877" y="3659029"/>
            <a:ext cx="3324582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Част от обучението преди изпит</a:t>
            </a:r>
            <a:endParaRPr lang="en-US" sz="1950"/>
          </a:p>
        </p:txBody>
      </p:sp>
      <p:sp>
        <p:nvSpPr>
          <p:cNvPr id="7" name="Text 4"/>
          <p:cNvSpPr/>
          <p:nvPr/>
        </p:nvSpPr>
        <p:spPr>
          <a:xfrm>
            <a:off x="6441877" y="4396145"/>
            <a:ext cx="3324582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Инструментът може да помогне на инструктора да идентифицира </a:t>
            </a:r>
            <a:r>
              <a:rPr lang="en-US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рискови</a:t>
            </a: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кандидати</a:t>
            </a:r>
            <a:r>
              <a:rPr lang="bg-BG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153174" y="3461861"/>
            <a:ext cx="3718917" cy="2344460"/>
          </a:xfrm>
          <a:prstGeom prst="roundRect">
            <a:avLst>
              <a:gd name="adj" fmla="val 3396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350341" y="3659029"/>
            <a:ext cx="3324582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Задължителен курс </a:t>
            </a:r>
            <a:r>
              <a:rPr lang="en-US" sz="1950" err="1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след</a:t>
            </a:r>
            <a:r>
              <a:rPr lang="en-US" sz="195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</a:t>
            </a:r>
            <a:r>
              <a:rPr lang="en-US" sz="1950" err="1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получаване</a:t>
            </a:r>
            <a:endParaRPr lang="en-US" sz="1950"/>
          </a:p>
        </p:txBody>
      </p:sp>
      <p:sp>
        <p:nvSpPr>
          <p:cNvPr id="10" name="Text 7"/>
          <p:cNvSpPr/>
          <p:nvPr/>
        </p:nvSpPr>
        <p:spPr>
          <a:xfrm>
            <a:off x="10350341" y="4396145"/>
            <a:ext cx="332458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Подобно</a:t>
            </a: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</a:t>
            </a: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WAB, </a:t>
            </a:r>
            <a:r>
              <a:rPr lang="en-US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новият</a:t>
            </a: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шофьор</a:t>
            </a: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да</a:t>
            </a: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анализира</a:t>
            </a: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поведението</a:t>
            </a: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си</a:t>
            </a: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след</a:t>
            </a: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първите</a:t>
            </a: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месеци</a:t>
            </a: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реален</a:t>
            </a: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err="1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стаж</a:t>
            </a: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44709" y="5995868"/>
            <a:ext cx="7627382" cy="1426250"/>
          </a:xfrm>
          <a:prstGeom prst="roundRect">
            <a:avLst>
              <a:gd name="adj" fmla="val 5583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1877" y="6193036"/>
            <a:ext cx="3538895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Инструмент при аварии</a:t>
            </a:r>
            <a:endParaRPr lang="en-US" sz="1950"/>
          </a:p>
        </p:txBody>
      </p:sp>
      <p:sp>
        <p:nvSpPr>
          <p:cNvPr id="13" name="Text 10"/>
          <p:cNvSpPr/>
          <p:nvPr/>
        </p:nvSpPr>
        <p:spPr>
          <a:xfrm>
            <a:off x="6441877" y="6618446"/>
            <a:ext cx="7233047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</a:t>
            </a:r>
            <a:r>
              <a:rPr lang="bg-BG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ценка на реакции в критични ситуации</a:t>
            </a:r>
            <a:r>
              <a:rPr lang="bg-BG" sz="145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5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EC3B6ED-AFE1-4FDF-930C-D6C151936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615" y="1906683"/>
            <a:ext cx="5715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3904" y="1649690"/>
            <a:ext cx="2592371" cy="1612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440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Потенциални ползи</a:t>
            </a:r>
            <a:endParaRPr lang="en-US" sz="44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309" y="3641050"/>
            <a:ext cx="568643" cy="568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63886" y="3641050"/>
            <a:ext cx="3407688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Персонализиране</a:t>
            </a:r>
            <a:r>
              <a:rPr lang="en-US" sz="195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на обучението</a:t>
            </a:r>
            <a:endParaRPr lang="en-US" sz="1950"/>
          </a:p>
        </p:txBody>
      </p:sp>
      <p:sp>
        <p:nvSpPr>
          <p:cNvPr id="5" name="Text 2"/>
          <p:cNvSpPr/>
          <p:nvPr/>
        </p:nvSpPr>
        <p:spPr>
          <a:xfrm>
            <a:off x="1563886" y="4378166"/>
            <a:ext cx="3407688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Идентифициране на индивидуални рискови навици и адаптиране на методиката за всеки кандидат</a:t>
            </a:r>
            <a:endParaRPr lang="en-US" sz="20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8508" y="3641050"/>
            <a:ext cx="568643" cy="5686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14085" y="3641050"/>
            <a:ext cx="3407688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Подобряване на </a:t>
            </a:r>
            <a:r>
              <a:rPr lang="en-US" sz="240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безопасността</a:t>
            </a:r>
            <a:endParaRPr lang="en-US" sz="2400"/>
          </a:p>
        </p:txBody>
      </p:sp>
      <p:sp>
        <p:nvSpPr>
          <p:cNvPr id="8" name="Text 4"/>
          <p:cNvSpPr/>
          <p:nvPr/>
        </p:nvSpPr>
        <p:spPr>
          <a:xfrm>
            <a:off x="6014085" y="4378166"/>
            <a:ext cx="3407688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Намаляване на пътнотранспортните произшествия чрез ранна диагностика на рисково поведение</a:t>
            </a:r>
            <a:endParaRPr lang="en-US" sz="20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8707" y="3641050"/>
            <a:ext cx="568643" cy="5686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64284" y="3641050"/>
            <a:ext cx="3407807" cy="623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0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Ефективна</a:t>
            </a:r>
            <a:r>
              <a:rPr lang="en-US" sz="195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работа с млади водачи</a:t>
            </a:r>
            <a:endParaRPr lang="en-US" sz="1950"/>
          </a:p>
        </p:txBody>
      </p:sp>
      <p:sp>
        <p:nvSpPr>
          <p:cNvPr id="11" name="Text 6"/>
          <p:cNvSpPr/>
          <p:nvPr/>
        </p:nvSpPr>
        <p:spPr>
          <a:xfrm>
            <a:off x="10464284" y="4378166"/>
            <a:ext cx="3407807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Целенасочено обучение, базирано на психологически профил и реалистична самооценка</a:t>
            </a:r>
            <a:endParaRPr 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8309" y="1566505"/>
            <a:ext cx="4988838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>
                <a:solidFill>
                  <a:srgbClr val="FAEBEB"/>
                </a:solidFill>
                <a:latin typeface="Montserrat Subrayada" panose="02000505000000020004" pitchFamily="2" charset="0"/>
                <a:ea typeface="Dela Gothic One" pitchFamily="34" charset="-122"/>
                <a:cs typeface="Mongolian Baiti" panose="03000500000000000000" pitchFamily="66" charset="0"/>
              </a:rPr>
              <a:t>Заключение</a:t>
            </a:r>
            <a:endParaRPr lang="en-US" sz="3900">
              <a:latin typeface="Montserrat Subrayada" panose="02000505000000020004" pitchFamily="2" charset="0"/>
              <a:cs typeface="Mongolian Baiti" panose="03000500000000000000" pitchFamily="66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58310" y="2611226"/>
            <a:ext cx="7627382" cy="1289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>
                <a:solidFill>
                  <a:srgbClr val="FFE5E5"/>
                </a:solidFill>
                <a:latin typeface="Montserrat Subrayada" panose="02000505000000020004" pitchFamily="2" charset="0"/>
                <a:ea typeface="DM Sans" pitchFamily="34" charset="-122"/>
                <a:cs typeface="Mongolian Baiti" panose="03000500000000000000" pitchFamily="66" charset="0"/>
              </a:rPr>
              <a:t>WAB</a:t>
            </a:r>
            <a:r>
              <a:rPr lang="bg-BG" sz="2400">
                <a:solidFill>
                  <a:srgbClr val="FFE5E5"/>
                </a:solidFill>
                <a:latin typeface="Arial" panose="020B0604020202020204" pitchFamily="34" charset="0"/>
                <a:ea typeface="DM Sans" pitchFamily="34" charset="-122"/>
                <a:cs typeface="Mongolian Baiti" panose="03000500000000000000" pitchFamily="66" charset="0"/>
              </a:rPr>
              <a:t> моделът не оценява водача - той го променя</a:t>
            </a:r>
            <a:r>
              <a:rPr lang="en-US" sz="2400">
                <a:solidFill>
                  <a:srgbClr val="FFE5E5"/>
                </a:solidFill>
                <a:latin typeface="Montserrat Subrayada" panose="02000505000000020004" pitchFamily="2" charset="0"/>
                <a:ea typeface="DM Sans" pitchFamily="34" charset="-122"/>
                <a:cs typeface="Mongolian Baiti" panose="03000500000000000000" pitchFamily="66" charset="0"/>
              </a:rPr>
              <a:t>.</a:t>
            </a:r>
            <a:endParaRPr lang="en-US" sz="2400">
              <a:latin typeface="Montserrat Subrayada" panose="02000505000000020004" pitchFamily="2" charset="0"/>
              <a:cs typeface="Mongolian Baiti" panose="03000500000000000000" pitchFamily="66" charset="0"/>
            </a:endParaRPr>
          </a:p>
        </p:txBody>
      </p:sp>
      <p:sp>
        <p:nvSpPr>
          <p:cNvPr id="5" name="Shape 2"/>
          <p:cNvSpPr/>
          <p:nvPr/>
        </p:nvSpPr>
        <p:spPr>
          <a:xfrm flipH="1">
            <a:off x="452644" y="1632777"/>
            <a:ext cx="45719" cy="3665087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6" name="Text 3"/>
          <p:cNvSpPr/>
          <p:nvPr/>
        </p:nvSpPr>
        <p:spPr>
          <a:xfrm>
            <a:off x="758309" y="3129700"/>
            <a:ext cx="7627382" cy="2410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350"/>
              </a:lnSpc>
              <a:buSzPct val="100000"/>
            </a:pPr>
            <a:endParaRPr lang="bg-BG" sz="2400">
              <a:solidFill>
                <a:srgbClr val="FFE5E5"/>
              </a:solidFill>
              <a:latin typeface="Arial" panose="020B0604020202020204" pitchFamily="34" charset="0"/>
              <a:ea typeface="DM Sans" pitchFamily="34" charset="-122"/>
              <a:cs typeface="Mongolian Baiti" panose="03000500000000000000" pitchFamily="66" charset="0"/>
            </a:endParaRPr>
          </a:p>
          <a:p>
            <a:pPr algn="l">
              <a:lnSpc>
                <a:spcPts val="2350"/>
              </a:lnSpc>
              <a:buSzPct val="100000"/>
            </a:pPr>
            <a:r>
              <a:rPr lang="en-US" sz="2400" err="1">
                <a:solidFill>
                  <a:srgbClr val="FFE5E5"/>
                </a:solidFill>
                <a:latin typeface="Montserrat Subrayada" panose="02000505000000020004" pitchFamily="2" charset="0"/>
                <a:ea typeface="DM Sans" pitchFamily="34" charset="-122"/>
                <a:cs typeface="Mongolian Baiti" panose="03000500000000000000" pitchFamily="66" charset="0"/>
              </a:rPr>
              <a:t>Психологическият</a:t>
            </a:r>
            <a:r>
              <a:rPr lang="en-US" sz="2400">
                <a:solidFill>
                  <a:srgbClr val="FFE5E5"/>
                </a:solidFill>
                <a:latin typeface="Montserrat Subrayada" panose="02000505000000020004" pitchFamily="2" charset="0"/>
                <a:ea typeface="DM Sans" pitchFamily="34" charset="-122"/>
                <a:cs typeface="Mongolian Baiti" panose="03000500000000000000" pitchFamily="66" charset="0"/>
              </a:rPr>
              <a:t> профил е </a:t>
            </a:r>
            <a:r>
              <a:rPr lang="bg-BG" sz="2400">
                <a:solidFill>
                  <a:srgbClr val="FFE5E5"/>
                </a:solidFill>
                <a:latin typeface="Arial" panose="020B0604020202020204" pitchFamily="34" charset="0"/>
                <a:ea typeface="DM Sans" pitchFamily="34" charset="-122"/>
                <a:cs typeface="Mongolian Baiti" panose="03000500000000000000" pitchFamily="66" charset="0"/>
              </a:rPr>
              <a:t>ключов за безопасността.</a:t>
            </a:r>
          </a:p>
          <a:p>
            <a:pPr algn="l">
              <a:lnSpc>
                <a:spcPts val="2350"/>
              </a:lnSpc>
              <a:buSzPct val="100000"/>
            </a:pPr>
            <a:endParaRPr lang="bg-BG" sz="2400">
              <a:solidFill>
                <a:srgbClr val="FFE5E5"/>
              </a:solidFill>
              <a:latin typeface="Arial" panose="020B0604020202020204" pitchFamily="34" charset="0"/>
              <a:ea typeface="DM Sans" pitchFamily="34" charset="-122"/>
              <a:cs typeface="Mongolian Baiti" panose="03000500000000000000" pitchFamily="66" charset="0"/>
            </a:endParaRPr>
          </a:p>
          <a:p>
            <a:pPr algn="l">
              <a:lnSpc>
                <a:spcPts val="2350"/>
              </a:lnSpc>
              <a:buSzPct val="100000"/>
            </a:pPr>
            <a:r>
              <a:rPr lang="bg-BG" sz="2400">
                <a:solidFill>
                  <a:srgbClr val="FFE5E5"/>
                </a:solidFill>
                <a:latin typeface="Arial" panose="020B0604020202020204" pitchFamily="34" charset="0"/>
                <a:ea typeface="DM Sans" pitchFamily="34" charset="-122"/>
                <a:cs typeface="Mongolian Baiti" panose="03000500000000000000" pitchFamily="66" charset="0"/>
              </a:rPr>
              <a:t>Рисковото поведение може да се коригира.</a:t>
            </a:r>
            <a:endParaRPr lang="en-US" sz="2400">
              <a:solidFill>
                <a:srgbClr val="FFE5E5"/>
              </a:solidFill>
              <a:latin typeface="Montserrat Subrayada" panose="02000505000000020004" pitchFamily="2" charset="0"/>
              <a:ea typeface="DM Sans" pitchFamily="34" charset="-122"/>
              <a:cs typeface="Mongolian Baiti" panose="03000500000000000000" pitchFamily="66" charset="0"/>
            </a:endParaRPr>
          </a:p>
          <a:p>
            <a:pPr algn="l">
              <a:lnSpc>
                <a:spcPts val="2350"/>
              </a:lnSpc>
              <a:buSzPct val="100000"/>
            </a:pPr>
            <a:endParaRPr lang="en-US" sz="2400">
              <a:solidFill>
                <a:srgbClr val="FFE5E5"/>
              </a:solidFill>
              <a:latin typeface="Arial" panose="020B0604020202020204" pitchFamily="34" charset="0"/>
              <a:cs typeface="Mongolian Baiti" panose="03000500000000000000" pitchFamily="66" charset="0"/>
            </a:endParaRPr>
          </a:p>
          <a:p>
            <a:pPr algn="l">
              <a:lnSpc>
                <a:spcPts val="2350"/>
              </a:lnSpc>
              <a:buSzPct val="100000"/>
            </a:pPr>
            <a:r>
              <a:rPr lang="bg-BG" sz="2400">
                <a:solidFill>
                  <a:srgbClr val="FFE5E5"/>
                </a:solidFill>
                <a:latin typeface="Arial" panose="020B0604020202020204" pitchFamily="34" charset="0"/>
                <a:cs typeface="Mongolian Baiti" panose="03000500000000000000" pitchFamily="66" charset="0"/>
              </a:rPr>
              <a:t>Моделът е приложим в България.</a:t>
            </a:r>
            <a:endParaRPr lang="en-US" sz="2400">
              <a:latin typeface="Montserrat Subrayada" panose="02000505000000020004" pitchFamily="2" charset="0"/>
              <a:cs typeface="Mongolian Baiti" panose="03000500000000000000" pitchFamily="66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58309" y="5753338"/>
            <a:ext cx="762738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>
                <a:solidFill>
                  <a:srgbClr val="FFE5E5"/>
                </a:solidFill>
                <a:latin typeface="Montserrat Subrayada" panose="02000505000000020004" pitchFamily="2" charset="0"/>
                <a:ea typeface="DM Sans" pitchFamily="34" charset="-122"/>
                <a:cs typeface="Mongolian Baiti" panose="03000500000000000000" pitchFamily="66" charset="0"/>
              </a:rPr>
              <a:t> </a:t>
            </a:r>
            <a:endParaRPr lang="en-US" sz="1450">
              <a:latin typeface="Montserrat Subrayada" panose="02000505000000020004" pitchFamily="2" charset="0"/>
              <a:cs typeface="Mongolian Baiti" panose="03000500000000000000" pitchFamily="66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9EDEDE-25D5-4D0F-8AB7-82EFF7A53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871" y="2605934"/>
            <a:ext cx="5970029" cy="2691930"/>
          </a:xfrm>
          <a:prstGeom prst="rect">
            <a:avLst/>
          </a:prstGeom>
        </p:spPr>
      </p:pic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604</Words>
  <Application>Microsoft Office PowerPoint</Application>
  <PresentationFormat>Custom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Wingdings 3</vt:lpstr>
      <vt:lpstr>Dela Gothic One</vt:lpstr>
      <vt:lpstr>Calibri Light</vt:lpstr>
      <vt:lpstr>Calibri</vt:lpstr>
      <vt:lpstr>DM Sans</vt:lpstr>
      <vt:lpstr>Dela Gothic One Light</vt:lpstr>
      <vt:lpstr>Century Gothic</vt:lpstr>
      <vt:lpstr>Montserrat Subrayada</vt:lpstr>
      <vt:lpstr>Arial</vt:lpstr>
      <vt:lpstr>Custom Design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Ivaylo</dc:creator>
  <cp:lastModifiedBy>Ivaylo</cp:lastModifiedBy>
  <cp:revision>23</cp:revision>
  <dcterms:created xsi:type="dcterms:W3CDTF">2026-03-15T13:19:00Z</dcterms:created>
  <dcterms:modified xsi:type="dcterms:W3CDTF">2026-04-24T07:44:22Z</dcterms:modified>
</cp:coreProperties>
</file>