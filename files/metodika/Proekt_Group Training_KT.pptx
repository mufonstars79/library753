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66" r:id="rId4"/>
    <p:sldId id="276" r:id="rId5"/>
    <p:sldId id="277" r:id="rId6"/>
    <p:sldId id="278" r:id="rId7"/>
    <p:sldId id="279" r:id="rId8"/>
    <p:sldId id="267" r:id="rId9"/>
    <p:sldId id="280" r:id="rId10"/>
    <p:sldId id="281" r:id="rId11"/>
    <p:sldId id="282" r:id="rId12"/>
    <p:sldId id="283" r:id="rId13"/>
    <p:sldId id="284" r:id="rId14"/>
    <p:sldId id="28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spc="3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464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5011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2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 spc="3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9570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944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94860" y="1713655"/>
            <a:ext cx="336042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95380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64049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12670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1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34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155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51025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8976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02-May-26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64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spc="-7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2000" kern="1200" spc="1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90725"/>
            <a:ext cx="7332408" cy="15240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Специални </a:t>
            </a:r>
            <a:r>
              <a:rPr lang="en-US" dirty="0" err="1"/>
              <a:t>техники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групово</a:t>
            </a:r>
            <a:r>
              <a:rPr lang="en-US" dirty="0"/>
              <a:t> </a:t>
            </a:r>
            <a:r>
              <a:rPr lang="en-US" dirty="0" err="1"/>
              <a:t>обучение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3075999"/>
            <a:ext cx="6554867" cy="3767670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ru-RU" sz="2400" dirty="0"/>
              <a:t>ТУ–София </a:t>
            </a:r>
          </a:p>
          <a:p>
            <a:r>
              <a:rPr lang="ru-RU" sz="2400" dirty="0" err="1"/>
              <a:t>Колеж</a:t>
            </a:r>
            <a:r>
              <a:rPr lang="ru-RU" sz="2400" dirty="0"/>
              <a:t> – </a:t>
            </a:r>
            <a:r>
              <a:rPr lang="ru-RU" sz="2400" dirty="0" err="1"/>
              <a:t>Сливен</a:t>
            </a:r>
            <a:r>
              <a:rPr lang="ru-RU" sz="2400" dirty="0"/>
              <a:t> </a:t>
            </a:r>
            <a:endParaRPr lang="en-US" sz="2400" dirty="0"/>
          </a:p>
          <a:p>
            <a:endParaRPr lang="ru-RU" dirty="0"/>
          </a:p>
          <a:p>
            <a:r>
              <a:rPr lang="ru-RU" dirty="0" err="1"/>
              <a:t>Група</a:t>
            </a:r>
            <a:r>
              <a:rPr lang="ru-RU" dirty="0"/>
              <a:t> 753 </a:t>
            </a:r>
            <a:endParaRPr lang="en-US" dirty="0"/>
          </a:p>
          <a:p>
            <a:r>
              <a:rPr lang="ru-RU" dirty="0"/>
              <a:t>Константин Ангелов Тодоров </a:t>
            </a:r>
            <a:endParaRPr lang="en-US" dirty="0"/>
          </a:p>
          <a:p>
            <a:endParaRPr lang="bg-BG" dirty="0"/>
          </a:p>
          <a:p>
            <a:r>
              <a:rPr lang="bg-BG" dirty="0"/>
              <a:t>Май</a:t>
            </a:r>
            <a:r>
              <a:rPr lang="ru-RU" dirty="0"/>
              <a:t> 2026 г.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424A9-377D-733B-556F-73408F5CC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610" y="3230820"/>
            <a:ext cx="1956800" cy="1748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21633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Общи положения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404" y="1828801"/>
            <a:ext cx="7430680" cy="435133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Груповото</a:t>
            </a:r>
            <a:r>
              <a:rPr lang="ru-RU" dirty="0"/>
              <a:t> обучение </a:t>
            </a:r>
            <a:r>
              <a:rPr lang="ru-RU" dirty="0" err="1"/>
              <a:t>развива</a:t>
            </a:r>
            <a:r>
              <a:rPr lang="ru-RU" dirty="0"/>
              <a:t> </a:t>
            </a:r>
            <a:r>
              <a:rPr lang="ru-RU" dirty="0" err="1"/>
              <a:t>ключови</a:t>
            </a:r>
            <a:r>
              <a:rPr lang="ru-RU" dirty="0"/>
              <a:t> умения: </a:t>
            </a:r>
            <a:r>
              <a:rPr lang="ru-RU" dirty="0" err="1"/>
              <a:t>екипна</a:t>
            </a:r>
            <a:r>
              <a:rPr lang="ru-RU" dirty="0"/>
              <a:t> работа, </a:t>
            </a:r>
            <a:r>
              <a:rPr lang="ru-RU" dirty="0" err="1"/>
              <a:t>комуникация</a:t>
            </a:r>
            <a:r>
              <a:rPr lang="ru-RU" dirty="0"/>
              <a:t>, критично </a:t>
            </a:r>
            <a:r>
              <a:rPr lang="ru-RU" dirty="0" err="1"/>
              <a:t>мислене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Съвременната</a:t>
            </a:r>
            <a:r>
              <a:rPr lang="ru-RU" dirty="0"/>
              <a:t> </a:t>
            </a:r>
            <a:r>
              <a:rPr lang="ru-RU" dirty="0" err="1"/>
              <a:t>образователна</a:t>
            </a:r>
            <a:r>
              <a:rPr lang="ru-RU" dirty="0"/>
              <a:t> среда </a:t>
            </a:r>
            <a:r>
              <a:rPr lang="ru-RU" dirty="0" err="1"/>
              <a:t>изисква</a:t>
            </a:r>
            <a:r>
              <a:rPr lang="ru-RU" dirty="0"/>
              <a:t> активно участие и взаимодействие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Специалните</a:t>
            </a:r>
            <a:r>
              <a:rPr lang="ru-RU" dirty="0"/>
              <a:t> техники </a:t>
            </a:r>
            <a:r>
              <a:rPr lang="ru-RU" dirty="0" err="1"/>
              <a:t>подпомагат</a:t>
            </a:r>
            <a:r>
              <a:rPr lang="ru-RU" dirty="0"/>
              <a:t> </a:t>
            </a:r>
            <a:r>
              <a:rPr lang="ru-RU" dirty="0" err="1"/>
              <a:t>по-дълбоко</a:t>
            </a:r>
            <a:r>
              <a:rPr lang="ru-RU" dirty="0"/>
              <a:t> </a:t>
            </a:r>
            <a:r>
              <a:rPr lang="ru-RU" dirty="0" err="1"/>
              <a:t>усвояване</a:t>
            </a:r>
            <a:r>
              <a:rPr lang="ru-RU" dirty="0"/>
              <a:t> чрез </a:t>
            </a:r>
            <a:r>
              <a:rPr lang="ru-RU" dirty="0" err="1"/>
              <a:t>дискусия</a:t>
            </a:r>
            <a:r>
              <a:rPr lang="ru-RU" dirty="0"/>
              <a:t> и </a:t>
            </a:r>
            <a:r>
              <a:rPr lang="ru-RU" dirty="0" err="1"/>
              <a:t>сътрудничество</a:t>
            </a:r>
            <a:endParaRPr lang="ru-RU" b="1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Особено</a:t>
            </a:r>
            <a:r>
              <a:rPr lang="ru-RU" dirty="0"/>
              <a:t> </a:t>
            </a:r>
            <a:r>
              <a:rPr lang="ru-RU" dirty="0" err="1"/>
              <a:t>ценни</a:t>
            </a:r>
            <a:r>
              <a:rPr lang="ru-RU" dirty="0"/>
              <a:t> </a:t>
            </a:r>
            <a:r>
              <a:rPr lang="ru-RU" dirty="0" err="1"/>
              <a:t>са</a:t>
            </a:r>
            <a:r>
              <a:rPr lang="ru-RU" dirty="0"/>
              <a:t> в </a:t>
            </a:r>
            <a:r>
              <a:rPr lang="ru-RU" dirty="0" err="1"/>
              <a:t>техническите</a:t>
            </a:r>
            <a:r>
              <a:rPr lang="ru-RU" dirty="0"/>
              <a:t> </a:t>
            </a:r>
            <a:r>
              <a:rPr lang="ru-RU" dirty="0" err="1"/>
              <a:t>дисциплини</a:t>
            </a:r>
            <a:r>
              <a:rPr lang="ru-RU" dirty="0"/>
              <a:t> за </a:t>
            </a:r>
            <a:r>
              <a:rPr lang="ru-RU" dirty="0" err="1"/>
              <a:t>разбиране</a:t>
            </a:r>
            <a:r>
              <a:rPr lang="ru-RU" dirty="0"/>
              <a:t> на </a:t>
            </a:r>
            <a:r>
              <a:rPr lang="ru-RU" dirty="0" err="1"/>
              <a:t>сложни</a:t>
            </a:r>
            <a:r>
              <a:rPr lang="ru-RU" dirty="0"/>
              <a:t> концепции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81294-612A-CF70-ABCC-DA556F0C7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C719-9B2B-C8BC-4AEA-D2EF6B41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0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Кооперативно (групово) обучение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69DA7E-D424-A21A-DA89-8297E83876CE}"/>
              </a:ext>
            </a:extLst>
          </p:cNvPr>
          <p:cNvGrpSpPr/>
          <p:nvPr/>
        </p:nvGrpSpPr>
        <p:grpSpPr>
          <a:xfrm>
            <a:off x="412956" y="1674102"/>
            <a:ext cx="7895302" cy="5019220"/>
            <a:chOff x="822960" y="1674102"/>
            <a:chExt cx="7563955" cy="50192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363DE6-901B-B17A-92DA-2C280EB3597F}"/>
                </a:ext>
              </a:extLst>
            </p:cNvPr>
            <p:cNvSpPr/>
            <p:nvPr/>
          </p:nvSpPr>
          <p:spPr>
            <a:xfrm>
              <a:off x="3074250" y="1815714"/>
              <a:ext cx="5312665" cy="858661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kern="1200" baseline="0" dirty="0"/>
                <a:t> Метод, основан на </a:t>
              </a:r>
              <a:r>
                <a:rPr lang="ru-RU" sz="1600" kern="1200" baseline="0" dirty="0" err="1"/>
                <a:t>положителна</a:t>
              </a:r>
              <a:r>
                <a:rPr lang="ru-RU" sz="1600" kern="1200" baseline="0" dirty="0"/>
                <a:t> </a:t>
              </a:r>
              <a:r>
                <a:rPr lang="ru-RU" sz="1600" kern="1200" baseline="0" dirty="0" err="1"/>
                <a:t>взаимозависимост</a:t>
              </a:r>
              <a:r>
                <a:rPr lang="ru-RU" sz="1600" kern="1200" baseline="0" dirty="0"/>
                <a:t>, </a:t>
              </a:r>
              <a:r>
                <a:rPr lang="ru-RU" sz="1600" kern="1200" baseline="0" dirty="0" err="1"/>
                <a:t>индивидуална</a:t>
              </a:r>
              <a:r>
                <a:rPr lang="ru-RU" sz="1600" kern="1200" baseline="0" dirty="0"/>
                <a:t> </a:t>
              </a:r>
              <a:r>
                <a:rPr lang="ru-RU" sz="1600" kern="1200" baseline="0" dirty="0" err="1"/>
                <a:t>отговорност</a:t>
              </a:r>
              <a:r>
                <a:rPr lang="ru-RU" sz="1600" kern="1200" baseline="0" dirty="0"/>
                <a:t> и </a:t>
              </a:r>
              <a:r>
                <a:rPr lang="ru-RU" sz="1600" kern="1200" baseline="0" dirty="0" err="1"/>
                <a:t>равнопоставено</a:t>
              </a:r>
              <a:r>
                <a:rPr lang="ru-RU" sz="1600" kern="1200" baseline="0" dirty="0"/>
                <a:t> участие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78B7DD8-E74D-D5AE-B42F-35B3E0450D4D}"/>
                </a:ext>
              </a:extLst>
            </p:cNvPr>
            <p:cNvSpPr/>
            <p:nvPr/>
          </p:nvSpPr>
          <p:spPr>
            <a:xfrm>
              <a:off x="822960" y="1674102"/>
              <a:ext cx="2251290" cy="114775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E2D6C8C-5395-E8D5-A104-3B7F7FB5EDB0}"/>
                </a:ext>
              </a:extLst>
            </p:cNvPr>
            <p:cNvSpPr/>
            <p:nvPr/>
          </p:nvSpPr>
          <p:spPr>
            <a:xfrm>
              <a:off x="3074250" y="3063775"/>
              <a:ext cx="5312665" cy="2039167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b="1" kern="1200" baseline="0" dirty="0"/>
                <a:t> </a:t>
              </a:r>
              <a:r>
                <a:rPr lang="ru-RU" sz="1600" b="1" kern="1200" baseline="0" dirty="0" err="1"/>
                <a:t>Think</a:t>
              </a:r>
              <a:r>
                <a:rPr lang="ru-RU" sz="1600" b="1" kern="1200" baseline="0" dirty="0"/>
                <a:t>–</a:t>
              </a:r>
              <a:r>
                <a:rPr lang="ru-RU" sz="1600" b="1" kern="1200" baseline="0" dirty="0" err="1"/>
                <a:t>Pair</a:t>
              </a:r>
              <a:r>
                <a:rPr lang="ru-RU" sz="1600" b="1" kern="1200" baseline="0" dirty="0"/>
                <a:t>–</a:t>
              </a:r>
              <a:r>
                <a:rPr lang="ru-RU" sz="1600" b="1" kern="1200" baseline="0" dirty="0" err="1"/>
                <a:t>Share</a:t>
              </a:r>
              <a:r>
                <a:rPr lang="ru-RU" sz="1600" kern="1200" baseline="0" dirty="0"/>
                <a:t> – </a:t>
              </a:r>
              <a:r>
                <a:rPr lang="ru-RU" sz="1600" kern="1200" baseline="0" dirty="0" err="1"/>
                <a:t>индивидуално</a:t>
              </a:r>
              <a:r>
                <a:rPr lang="ru-RU" sz="1600" kern="1200" baseline="0" dirty="0"/>
                <a:t> </a:t>
              </a:r>
              <a:r>
                <a:rPr lang="ru-RU" sz="1600" kern="1200" baseline="0" dirty="0" err="1"/>
                <a:t>мислене</a:t>
              </a:r>
              <a:r>
                <a:rPr lang="ru-RU" sz="1600" kern="1200" baseline="0" dirty="0"/>
                <a:t> → работа по двойки → </a:t>
              </a:r>
              <a:r>
                <a:rPr lang="ru-RU" sz="1600" kern="1200" baseline="0" dirty="0" err="1"/>
                <a:t>споделяне</a:t>
              </a:r>
              <a:r>
                <a:rPr lang="ru-RU" sz="1600" kern="1200" baseline="0" dirty="0"/>
                <a:t> в </a:t>
              </a:r>
              <a:r>
                <a:rPr lang="ru-RU" sz="1600" kern="1200" baseline="0" dirty="0" err="1"/>
                <a:t>група</a:t>
              </a:r>
              <a:endParaRPr lang="en-US" sz="16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b="1" kern="1200" baseline="0" dirty="0"/>
                <a:t> </a:t>
              </a:r>
              <a:r>
                <a:rPr lang="ru-RU" sz="1600" b="1" kern="1200" baseline="0" dirty="0" err="1"/>
                <a:t>Jigsaw</a:t>
              </a:r>
              <a:r>
                <a:rPr lang="ru-RU" sz="1600" kern="1200" baseline="0" dirty="0"/>
                <a:t> – </a:t>
              </a:r>
              <a:r>
                <a:rPr lang="ru-RU" sz="1600" kern="1200" baseline="0" dirty="0" err="1"/>
                <a:t>всеки</a:t>
              </a:r>
              <a:r>
                <a:rPr lang="ru-RU" sz="1600" kern="1200" baseline="0" dirty="0"/>
                <a:t> става „</a:t>
              </a:r>
              <a:r>
                <a:rPr lang="ru-RU" sz="1600" kern="1200" baseline="0" dirty="0" err="1"/>
                <a:t>експерт</a:t>
              </a:r>
              <a:r>
                <a:rPr lang="ru-RU" sz="1600" kern="1200" baseline="0" dirty="0"/>
                <a:t>“ по част от материала</a:t>
              </a:r>
              <a:endParaRPr lang="en-US" sz="16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b="1" kern="1200" baseline="0" dirty="0"/>
                <a:t> </a:t>
              </a:r>
              <a:r>
                <a:rPr lang="ru-RU" sz="1600" b="1" kern="1200" baseline="0" dirty="0" err="1"/>
                <a:t>Round</a:t>
              </a:r>
              <a:r>
                <a:rPr lang="ru-RU" sz="1600" b="1" kern="1200" baseline="0" dirty="0"/>
                <a:t> </a:t>
              </a:r>
              <a:r>
                <a:rPr lang="ru-RU" sz="1600" b="1" kern="1200" baseline="0" dirty="0" err="1"/>
                <a:t>Robin</a:t>
              </a:r>
              <a:r>
                <a:rPr lang="ru-RU" sz="1600" kern="1200" baseline="0" dirty="0"/>
                <a:t> – </a:t>
              </a:r>
              <a:r>
                <a:rPr lang="ru-RU" sz="1600" kern="1200" baseline="0" dirty="0" err="1"/>
                <a:t>всеки</a:t>
              </a:r>
              <a:r>
                <a:rPr lang="ru-RU" sz="1600" kern="1200" baseline="0" dirty="0"/>
                <a:t> участник </a:t>
              </a:r>
              <a:r>
                <a:rPr lang="ru-RU" sz="1600" kern="1200" baseline="0" dirty="0" err="1"/>
                <a:t>изказва</a:t>
              </a:r>
              <a:r>
                <a:rPr lang="ru-RU" sz="1600" kern="1200" baseline="0" dirty="0"/>
                <a:t> мнение по </a:t>
              </a:r>
              <a:r>
                <a:rPr lang="ru-RU" sz="1600" kern="1200" baseline="0" dirty="0" err="1"/>
                <a:t>ред</a:t>
              </a:r>
              <a:endParaRPr lang="en-US" sz="16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b="1" kern="1200" baseline="0" dirty="0"/>
                <a:t> Team-Based Learning</a:t>
              </a:r>
              <a:r>
                <a:rPr lang="ru-RU" sz="1600" kern="1200" baseline="0" dirty="0"/>
                <a:t> – </a:t>
              </a:r>
              <a:r>
                <a:rPr lang="ru-RU" sz="1600" kern="1200" baseline="0" dirty="0" err="1"/>
                <a:t>предварителна</a:t>
              </a:r>
              <a:r>
                <a:rPr lang="ru-RU" sz="1600" kern="1200" baseline="0" dirty="0"/>
                <a:t> подготовка, </a:t>
              </a:r>
              <a:r>
                <a:rPr lang="ru-RU" sz="1600" kern="1200" baseline="0" dirty="0" err="1"/>
                <a:t>индивидуални</a:t>
              </a:r>
              <a:r>
                <a:rPr lang="ru-RU" sz="1600" kern="1200" baseline="0" dirty="0"/>
                <a:t> и </a:t>
              </a:r>
              <a:r>
                <a:rPr lang="ru-RU" sz="1600" kern="1200" baseline="0" dirty="0" err="1"/>
                <a:t>групови</a:t>
              </a:r>
              <a:r>
                <a:rPr lang="ru-RU" sz="1600" kern="1200" baseline="0" dirty="0"/>
                <a:t> </a:t>
              </a:r>
              <a:r>
                <a:rPr lang="ru-RU" sz="1600" kern="1200" baseline="0" dirty="0" err="1"/>
                <a:t>тестове</a:t>
              </a:r>
              <a:r>
                <a:rPr lang="ru-RU" sz="1600" kern="1200" baseline="0" dirty="0"/>
                <a:t>, </a:t>
              </a:r>
              <a:r>
                <a:rPr lang="ru-RU" sz="1600" kern="1200" baseline="0" dirty="0" err="1"/>
                <a:t>решаване</a:t>
              </a:r>
              <a:r>
                <a:rPr lang="ru-RU" sz="1600" kern="1200" baseline="0" dirty="0"/>
                <a:t> на задачи</a:t>
              </a:r>
              <a:endParaRPr lang="en-US" sz="16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F0B6DA-E52F-5F48-CACD-14B10CF155C4}"/>
                </a:ext>
              </a:extLst>
            </p:cNvPr>
            <p:cNvSpPr/>
            <p:nvPr/>
          </p:nvSpPr>
          <p:spPr>
            <a:xfrm>
              <a:off x="822960" y="2916290"/>
              <a:ext cx="2251290" cy="232554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bg-BG" sz="2800" b="1" kern="1200" baseline="0" dirty="0"/>
                <a:t>Основни техники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BC1C3E7-AB6F-34FE-EE1E-D8A9BBCBC60B}"/>
                </a:ext>
              </a:extLst>
            </p:cNvPr>
            <p:cNvSpPr/>
            <p:nvPr/>
          </p:nvSpPr>
          <p:spPr>
            <a:xfrm>
              <a:off x="3074250" y="5525729"/>
              <a:ext cx="5312665" cy="100631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kern="1200" baseline="0" dirty="0"/>
                <a:t> Развитие на </a:t>
              </a:r>
              <a:r>
                <a:rPr lang="ru-RU" sz="1600" kern="1200" baseline="0" dirty="0" err="1"/>
                <a:t>комуникация</a:t>
              </a:r>
              <a:r>
                <a:rPr lang="ru-RU" sz="1600" kern="1200" baseline="0" dirty="0"/>
                <a:t>, критично </a:t>
              </a:r>
              <a:r>
                <a:rPr lang="ru-RU" sz="1600" kern="1200" baseline="0" dirty="0" err="1"/>
                <a:t>мислене</a:t>
              </a:r>
              <a:r>
                <a:rPr lang="ru-RU" sz="1600" kern="1200" baseline="0" dirty="0"/>
                <a:t>, работа в </a:t>
              </a:r>
              <a:r>
                <a:rPr lang="ru-RU" sz="1600" kern="1200" baseline="0" dirty="0" err="1"/>
                <a:t>екип</a:t>
              </a:r>
              <a:r>
                <a:rPr lang="ru-RU" sz="1600" kern="1200" baseline="0" dirty="0"/>
                <a:t>.</a:t>
              </a:r>
              <a:endParaRPr lang="en-US" sz="1600" kern="1200" dirty="0"/>
            </a:p>
            <a:p>
              <a:pPr marL="114300" lvl="1" indent="-114300" algn="l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ru-RU" sz="1600" kern="1200" baseline="0" dirty="0"/>
                <a:t> </a:t>
              </a:r>
              <a:r>
                <a:rPr lang="ru-RU" sz="1600" kern="1200" baseline="0" dirty="0" err="1"/>
                <a:t>Повишена</a:t>
              </a:r>
              <a:r>
                <a:rPr lang="ru-RU" sz="1600" kern="1200" baseline="0" dirty="0"/>
                <a:t> мотивация и </a:t>
              </a:r>
              <a:r>
                <a:rPr lang="ru-RU" sz="1600" kern="1200" baseline="0" dirty="0" err="1"/>
                <a:t>ангажираност</a:t>
              </a:r>
              <a:r>
                <a:rPr lang="ru-RU" sz="1600" kern="1200" baseline="0" dirty="0"/>
                <a:t>.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5F4D370-7621-7C6D-7752-F5FC8415298D}"/>
                </a:ext>
              </a:extLst>
            </p:cNvPr>
            <p:cNvSpPr/>
            <p:nvPr/>
          </p:nvSpPr>
          <p:spPr>
            <a:xfrm>
              <a:off x="822960" y="5389323"/>
              <a:ext cx="2251290" cy="1303999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610506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44E52-2342-E45D-2CB1-1DD7EED2E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56B7-95C5-50BC-9DFD-782416996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Ролеви игри и симулации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B29EB77-CBC0-8AA1-BDC6-99D5BBA5C55E}"/>
              </a:ext>
            </a:extLst>
          </p:cNvPr>
          <p:cNvGrpSpPr/>
          <p:nvPr/>
        </p:nvGrpSpPr>
        <p:grpSpPr>
          <a:xfrm>
            <a:off x="412956" y="1674102"/>
            <a:ext cx="7895302" cy="5019220"/>
            <a:chOff x="822960" y="1674102"/>
            <a:chExt cx="7563955" cy="50192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DC6FEA9-C25D-BBA7-A039-026427B0B591}"/>
                </a:ext>
              </a:extLst>
            </p:cNvPr>
            <p:cNvSpPr/>
            <p:nvPr/>
          </p:nvSpPr>
          <p:spPr>
            <a:xfrm>
              <a:off x="3074250" y="1815714"/>
              <a:ext cx="5312665" cy="858661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</a:t>
              </a:r>
              <a:r>
                <a:rPr lang="ru-RU" sz="1600" dirty="0" err="1"/>
                <a:t>Участниците</a:t>
              </a:r>
              <a:r>
                <a:rPr lang="ru-RU" sz="1600" dirty="0"/>
                <a:t> </a:t>
              </a:r>
              <a:r>
                <a:rPr lang="ru-RU" sz="1600" dirty="0" err="1"/>
                <a:t>влизат</a:t>
              </a:r>
              <a:r>
                <a:rPr lang="ru-RU" sz="1600" dirty="0"/>
                <a:t> в роли и </a:t>
              </a:r>
              <a:r>
                <a:rPr lang="ru-RU" sz="1600" dirty="0" err="1"/>
                <a:t>преживяват</a:t>
              </a:r>
              <a:r>
                <a:rPr lang="ru-RU" sz="1600" dirty="0"/>
                <a:t> </a:t>
              </a:r>
              <a:r>
                <a:rPr lang="ru-RU" sz="1600" dirty="0" err="1"/>
                <a:t>реални</a:t>
              </a:r>
              <a:r>
                <a:rPr lang="ru-RU" sz="1600" dirty="0"/>
                <a:t> или </a:t>
              </a:r>
              <a:r>
                <a:rPr lang="ru-RU" sz="1600" dirty="0" err="1"/>
                <a:t>хипотетични</a:t>
              </a:r>
              <a:r>
                <a:rPr lang="ru-RU" sz="1600" dirty="0"/>
                <a:t> ситуации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A334D30-D6E3-B5A8-E9F0-AC32522AA707}"/>
                </a:ext>
              </a:extLst>
            </p:cNvPr>
            <p:cNvSpPr/>
            <p:nvPr/>
          </p:nvSpPr>
          <p:spPr>
            <a:xfrm>
              <a:off x="822960" y="1674102"/>
              <a:ext cx="2251290" cy="114775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09B9655-463B-6C9B-356A-E5C51C258404}"/>
                </a:ext>
              </a:extLst>
            </p:cNvPr>
            <p:cNvSpPr/>
            <p:nvPr/>
          </p:nvSpPr>
          <p:spPr>
            <a:xfrm>
              <a:off x="3074250" y="3063775"/>
              <a:ext cx="5312665" cy="2039167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Комуникация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Управление на конфликти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Лидерство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Т</a:t>
              </a:r>
              <a:r>
                <a:rPr lang="ru-RU" sz="1600" dirty="0" err="1"/>
                <a:t>ехнически</a:t>
              </a:r>
              <a:r>
                <a:rPr lang="ru-RU" sz="1600" dirty="0"/>
                <a:t> </a:t>
              </a:r>
              <a:r>
                <a:rPr lang="ru-RU" sz="1600" dirty="0" err="1"/>
                <a:t>симулации</a:t>
              </a:r>
              <a:r>
                <a:rPr lang="ru-RU" sz="1600" dirty="0"/>
                <a:t> на </a:t>
              </a:r>
              <a:r>
                <a:rPr lang="ru-RU" sz="1600" dirty="0" err="1"/>
                <a:t>процеси</a:t>
              </a:r>
              <a:r>
                <a:rPr lang="ru-RU" sz="1600" dirty="0"/>
                <a:t> и </a:t>
              </a:r>
              <a:r>
                <a:rPr lang="ru-RU" sz="1600" dirty="0" err="1"/>
                <a:t>системи</a:t>
              </a:r>
              <a:endParaRPr lang="en-US" sz="16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7EF7612-D6D5-AAB8-8D73-06E66A9D9A33}"/>
                </a:ext>
              </a:extLst>
            </p:cNvPr>
            <p:cNvSpPr/>
            <p:nvPr/>
          </p:nvSpPr>
          <p:spPr>
            <a:xfrm>
              <a:off x="822960" y="2916290"/>
              <a:ext cx="2251290" cy="232554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bg-BG" sz="2800" b="1" kern="1200" baseline="0" dirty="0"/>
                <a:t>Приложение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9C7895E-3B0E-3042-AB06-22DEE838D13D}"/>
                </a:ext>
              </a:extLst>
            </p:cNvPr>
            <p:cNvSpPr/>
            <p:nvPr/>
          </p:nvSpPr>
          <p:spPr>
            <a:xfrm>
              <a:off x="3074250" y="5525729"/>
              <a:ext cx="5312665" cy="100631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Развитие на емпатия</a:t>
              </a:r>
              <a:endParaRPr lang="en-US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По-добро вземане на решения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</a:t>
              </a:r>
              <a:r>
                <a:rPr lang="ru-RU" sz="1600" dirty="0"/>
                <a:t>Безопасно </a:t>
              </a:r>
              <a:r>
                <a:rPr lang="ru-RU" sz="1600" dirty="0" err="1"/>
                <a:t>упражняване</a:t>
              </a:r>
              <a:r>
                <a:rPr lang="ru-RU" sz="1600" dirty="0"/>
                <a:t> на </a:t>
              </a:r>
              <a:r>
                <a:rPr lang="ru-RU" sz="1600" dirty="0" err="1"/>
                <a:t>рискови</a:t>
              </a:r>
              <a:r>
                <a:rPr lang="ru-RU" sz="1600" dirty="0"/>
                <a:t> ситуации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CFFF760-9E6E-7C2D-916A-8D638AB8FEF9}"/>
                </a:ext>
              </a:extLst>
            </p:cNvPr>
            <p:cNvSpPr/>
            <p:nvPr/>
          </p:nvSpPr>
          <p:spPr>
            <a:xfrm>
              <a:off x="822960" y="5389323"/>
              <a:ext cx="2251290" cy="1303999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87132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3129-D0A9-FBAE-02EE-F33F53F55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FBA9F-B22A-166D-6672-1153D35D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Обучение чрез казуси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050B97B-5ED7-4336-8C93-EBE87C7434A8}"/>
              </a:ext>
            </a:extLst>
          </p:cNvPr>
          <p:cNvGrpSpPr/>
          <p:nvPr/>
        </p:nvGrpSpPr>
        <p:grpSpPr>
          <a:xfrm>
            <a:off x="412956" y="2106721"/>
            <a:ext cx="7895302" cy="4114652"/>
            <a:chOff x="822960" y="2106721"/>
            <a:chExt cx="7563955" cy="411465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459D633-7EA5-55D3-A03C-E9454BC162B8}"/>
                </a:ext>
              </a:extLst>
            </p:cNvPr>
            <p:cNvSpPr/>
            <p:nvPr/>
          </p:nvSpPr>
          <p:spPr>
            <a:xfrm>
              <a:off x="3074250" y="2248333"/>
              <a:ext cx="5312665" cy="1491805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Анализ на </a:t>
              </a:r>
              <a:r>
                <a:rPr lang="ru-RU" sz="1600" dirty="0" err="1"/>
                <a:t>реални</a:t>
              </a:r>
              <a:r>
                <a:rPr lang="ru-RU" sz="1600" dirty="0"/>
                <a:t> или </a:t>
              </a:r>
              <a:r>
                <a:rPr lang="ru-RU" sz="1600" dirty="0" err="1"/>
                <a:t>симулирани</a:t>
              </a:r>
              <a:r>
                <a:rPr lang="ru-RU" sz="1600" dirty="0"/>
                <a:t> ситуации вместо </a:t>
              </a:r>
              <a:r>
                <a:rPr lang="ru-RU" sz="1600" dirty="0" err="1"/>
                <a:t>пасивно</a:t>
              </a:r>
              <a:r>
                <a:rPr lang="ru-RU" sz="1600" dirty="0"/>
                <a:t> </a:t>
              </a:r>
              <a:r>
                <a:rPr lang="ru-RU" sz="1600" dirty="0" err="1"/>
                <a:t>слушане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F80AB16-EE7E-4B45-1FE8-7F020D67C039}"/>
                </a:ext>
              </a:extLst>
            </p:cNvPr>
            <p:cNvSpPr/>
            <p:nvPr/>
          </p:nvSpPr>
          <p:spPr>
            <a:xfrm>
              <a:off x="822960" y="2106721"/>
              <a:ext cx="2251290" cy="175489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903D1F0-DAAF-4451-4ACD-63A4D6DF3D95}"/>
                </a:ext>
              </a:extLst>
            </p:cNvPr>
            <p:cNvSpPr/>
            <p:nvPr/>
          </p:nvSpPr>
          <p:spPr>
            <a:xfrm>
              <a:off x="3074250" y="4227870"/>
              <a:ext cx="5312665" cy="183222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Критично мислене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Аргументация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</a:t>
              </a:r>
              <a:r>
                <a:rPr lang="bg-BG" sz="1600" dirty="0"/>
                <a:t>Работа в екип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763D4B-216E-714F-F3A9-3EE992057DFE}"/>
                </a:ext>
              </a:extLst>
            </p:cNvPr>
            <p:cNvSpPr/>
            <p:nvPr/>
          </p:nvSpPr>
          <p:spPr>
            <a:xfrm>
              <a:off x="822960" y="3991896"/>
              <a:ext cx="2251290" cy="2229477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42827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DE181-FD48-C9DC-CAC6-DB36FD6E3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8D7B-1E22-E8AD-D575-CF3D840B4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 err="1"/>
              <a:t>Сократически</a:t>
            </a:r>
            <a:r>
              <a:rPr lang="bg-BG" dirty="0"/>
              <a:t> метод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E2FD4A-FA73-8734-B149-A946D8CFD522}"/>
              </a:ext>
            </a:extLst>
          </p:cNvPr>
          <p:cNvGrpSpPr/>
          <p:nvPr/>
        </p:nvGrpSpPr>
        <p:grpSpPr>
          <a:xfrm>
            <a:off x="412956" y="1674102"/>
            <a:ext cx="7895302" cy="4166258"/>
            <a:chOff x="822960" y="1674102"/>
            <a:chExt cx="7563955" cy="41662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68E6EFD-F46E-167C-DC66-0A33C67F19BD}"/>
                </a:ext>
              </a:extLst>
            </p:cNvPr>
            <p:cNvSpPr/>
            <p:nvPr/>
          </p:nvSpPr>
          <p:spPr>
            <a:xfrm>
              <a:off x="3074250" y="1815714"/>
              <a:ext cx="5312665" cy="858661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Обучение чрез диалог и </a:t>
              </a:r>
              <a:r>
                <a:rPr lang="ru-RU" sz="1600" dirty="0" err="1"/>
                <a:t>въпроси</a:t>
              </a:r>
              <a:r>
                <a:rPr lang="ru-RU" sz="1600" dirty="0"/>
                <a:t>, а не чрез лекция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5991EEF-DC79-0324-FFE2-8DE3D438C15E}"/>
                </a:ext>
              </a:extLst>
            </p:cNvPr>
            <p:cNvSpPr/>
            <p:nvPr/>
          </p:nvSpPr>
          <p:spPr>
            <a:xfrm>
              <a:off x="822960" y="1674102"/>
              <a:ext cx="2251290" cy="114775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9C9BBAC-6376-3C44-E8B4-B098BC5428BA}"/>
                </a:ext>
              </a:extLst>
            </p:cNvPr>
            <p:cNvSpPr/>
            <p:nvPr/>
          </p:nvSpPr>
          <p:spPr>
            <a:xfrm>
              <a:off x="3074250" y="3063775"/>
              <a:ext cx="5312665" cy="2658599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Диалог вместо едностранно преподаване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Отворени въпроси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Стимулиране на критично мислене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Самостоятелно откриване на знания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Не се дават готови решения, а сами биват откривани</a:t>
              </a:r>
              <a:endParaRPr lang="en-US" sz="16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40FF952-C3E8-6508-A071-0BDA9FFAA844}"/>
                </a:ext>
              </a:extLst>
            </p:cNvPr>
            <p:cNvSpPr/>
            <p:nvPr/>
          </p:nvSpPr>
          <p:spPr>
            <a:xfrm>
              <a:off x="822960" y="2916289"/>
              <a:ext cx="2251290" cy="2924071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bg-BG" sz="2800" b="1" kern="1200" baseline="0" dirty="0"/>
                <a:t>Основни принципи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62532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4861-60DB-94AD-0C32-A80CF9A87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2373-8D89-3193-368E-1EC58264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Взаимно обучение </a:t>
            </a:r>
            <a:br>
              <a:rPr lang="bg-BG" dirty="0"/>
            </a:br>
            <a:r>
              <a:rPr lang="bg-BG" dirty="0"/>
              <a:t>(</a:t>
            </a:r>
            <a:r>
              <a:rPr lang="en-US" dirty="0"/>
              <a:t>Peer Learning)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B39C56-166E-8BF1-9B7E-225E9CB23FAB}"/>
              </a:ext>
            </a:extLst>
          </p:cNvPr>
          <p:cNvGrpSpPr/>
          <p:nvPr/>
        </p:nvGrpSpPr>
        <p:grpSpPr>
          <a:xfrm>
            <a:off x="412956" y="2106721"/>
            <a:ext cx="7895302" cy="4114652"/>
            <a:chOff x="822960" y="2106721"/>
            <a:chExt cx="7563955" cy="411465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A3CB08D-8642-390A-1C13-32F87B8A53BB}"/>
                </a:ext>
              </a:extLst>
            </p:cNvPr>
            <p:cNvSpPr/>
            <p:nvPr/>
          </p:nvSpPr>
          <p:spPr>
            <a:xfrm>
              <a:off x="3074250" y="2248333"/>
              <a:ext cx="5312665" cy="1491805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</a:t>
              </a:r>
              <a:r>
                <a:rPr lang="ru-RU" sz="1600" dirty="0" err="1"/>
                <a:t>Обучаемите</a:t>
              </a:r>
              <a:r>
                <a:rPr lang="ru-RU" sz="1600" dirty="0"/>
                <a:t> </a:t>
              </a:r>
              <a:r>
                <a:rPr lang="ru-RU" sz="1600" dirty="0" err="1"/>
                <a:t>преподават</a:t>
              </a:r>
              <a:r>
                <a:rPr lang="ru-RU" sz="1600" dirty="0"/>
                <a:t> един на друг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C4AA11D-4326-A36B-3E54-7A14A73D8D96}"/>
                </a:ext>
              </a:extLst>
            </p:cNvPr>
            <p:cNvSpPr/>
            <p:nvPr/>
          </p:nvSpPr>
          <p:spPr>
            <a:xfrm>
              <a:off x="822960" y="2106721"/>
              <a:ext cx="2251290" cy="175489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0030EF-87D7-FBF4-3ED0-16BDFD124ED5}"/>
                </a:ext>
              </a:extLst>
            </p:cNvPr>
            <p:cNvSpPr/>
            <p:nvPr/>
          </p:nvSpPr>
          <p:spPr>
            <a:xfrm>
              <a:off x="3074250" y="4227870"/>
              <a:ext cx="5312665" cy="183222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Развитие на комуникативни умения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Добиване на увереност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Чувство за о</a:t>
              </a:r>
              <a:r>
                <a:rPr lang="bg-BG" sz="1600" dirty="0"/>
                <a:t>тговорност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По-дълбоко разбиране на материала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DFB68B3-D4E2-255A-F192-82D499C4FE4B}"/>
                </a:ext>
              </a:extLst>
            </p:cNvPr>
            <p:cNvSpPr/>
            <p:nvPr/>
          </p:nvSpPr>
          <p:spPr>
            <a:xfrm>
              <a:off x="822960" y="3991896"/>
              <a:ext cx="2251290" cy="2229477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4304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A797-C832-DE45-FE28-4BEECC243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391E-F1B1-2ACE-DB58-D7A859BFC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1464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Техники за креативност</a:t>
            </a:r>
            <a:endParaRPr sz="4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C14DB6-CE74-7CA4-977D-4D3CA89DFF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6004524"/>
              </p:ext>
            </p:extLst>
          </p:nvPr>
        </p:nvGraphicFramePr>
        <p:xfrm>
          <a:off x="403123" y="1277206"/>
          <a:ext cx="7954298" cy="5549330"/>
        </p:xfrm>
        <a:graphic>
          <a:graphicData uri="http://schemas.openxmlformats.org/drawingml/2006/table">
            <a:tbl>
              <a:tblPr firstRow="1" firstCol="1" bandRow="1">
                <a:tableStyleId>{ED083AE6-46FA-4A59-8FB0-9F97EB10719F}</a:tableStyleId>
              </a:tblPr>
              <a:tblGrid>
                <a:gridCol w="2013247">
                  <a:extLst>
                    <a:ext uri="{9D8B030D-6E8A-4147-A177-3AD203B41FA5}">
                      <a16:colId xmlns:a16="http://schemas.microsoft.com/office/drawing/2014/main" val="124275128"/>
                    </a:ext>
                  </a:extLst>
                </a:gridCol>
                <a:gridCol w="3289618">
                  <a:extLst>
                    <a:ext uri="{9D8B030D-6E8A-4147-A177-3AD203B41FA5}">
                      <a16:colId xmlns:a16="http://schemas.microsoft.com/office/drawing/2014/main" val="1334125092"/>
                    </a:ext>
                  </a:extLst>
                </a:gridCol>
                <a:gridCol w="2651433">
                  <a:extLst>
                    <a:ext uri="{9D8B030D-6E8A-4147-A177-3AD203B41FA5}">
                      <a16:colId xmlns:a16="http://schemas.microsoft.com/office/drawing/2014/main" val="2923653073"/>
                    </a:ext>
                  </a:extLst>
                </a:gridCol>
              </a:tblGrid>
              <a:tr h="3094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Техника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Как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работи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Ползи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2613160633"/>
                  </a:ext>
                </a:extLst>
              </a:tr>
              <a:tr h="6397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Мозъчна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атака</a:t>
                      </a:r>
                      <a:r>
                        <a:rPr lang="en-US" sz="1400" kern="100" dirty="0">
                          <a:effectLst/>
                        </a:rPr>
                        <a:t> (Brainstorming)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Групово </a:t>
                      </a:r>
                      <a:r>
                        <a:rPr lang="en-US" sz="1400" kern="100" dirty="0" err="1">
                          <a:effectLst/>
                        </a:rPr>
                        <a:t>генериране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идеи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без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критика</a:t>
                      </a:r>
                      <a:r>
                        <a:rPr lang="en-US" sz="1400" kern="100" dirty="0">
                          <a:effectLst/>
                        </a:rPr>
                        <a:t> в </a:t>
                      </a:r>
                      <a:r>
                        <a:rPr lang="en-US" sz="1400" kern="100" dirty="0" err="1">
                          <a:effectLst/>
                        </a:rPr>
                        <a:t>началото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Голям обем идеи, стимулира екипна работа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1012493093"/>
                  </a:ext>
                </a:extLst>
              </a:tr>
              <a:tr h="63977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Мисловни </a:t>
                      </a:r>
                      <a:r>
                        <a:rPr lang="en-US" sz="1400" kern="100" dirty="0" err="1">
                          <a:effectLst/>
                        </a:rPr>
                        <a:t>карти</a:t>
                      </a:r>
                      <a:r>
                        <a:rPr lang="en-US" sz="1400" kern="100" dirty="0">
                          <a:effectLst/>
                        </a:rPr>
                        <a:t> (Mind Mapping)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Визуално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представяне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идеи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чрез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ключови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думи</a:t>
                      </a:r>
                      <a:r>
                        <a:rPr lang="en-US" sz="1400" kern="100" dirty="0">
                          <a:effectLst/>
                        </a:rPr>
                        <a:t> и </a:t>
                      </a:r>
                      <a:r>
                        <a:rPr lang="en-US" sz="1400" kern="100" dirty="0" err="1">
                          <a:effectLst/>
                        </a:rPr>
                        <a:t>връзки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Ясна структура, лесно откриване на връзки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1494256753"/>
                  </a:ext>
                </a:extLst>
              </a:tr>
              <a:tr h="916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Латерално </a:t>
                      </a:r>
                      <a:r>
                        <a:rPr lang="en-US" sz="1400" kern="100" dirty="0" err="1">
                          <a:effectLst/>
                        </a:rPr>
                        <a:t>мислене</a:t>
                      </a:r>
                      <a:r>
                        <a:rPr lang="en-US" sz="1400" kern="100" dirty="0">
                          <a:effectLst/>
                        </a:rPr>
                        <a:t> (Lateral Thinking)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Търсене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нестандартни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решения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чрез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промяна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гледната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точка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Новаторски </a:t>
                      </a:r>
                      <a:r>
                        <a:rPr lang="en-US" sz="1400" kern="100" dirty="0" err="1">
                          <a:effectLst/>
                        </a:rPr>
                        <a:t>идеи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преодоляване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„</a:t>
                      </a:r>
                      <a:r>
                        <a:rPr lang="en-US" sz="1400" kern="100" dirty="0" err="1">
                          <a:effectLst/>
                        </a:rPr>
                        <a:t>заклещване</a:t>
                      </a:r>
                      <a:r>
                        <a:rPr lang="en-US" sz="1400" kern="100" dirty="0">
                          <a:effectLst/>
                        </a:rPr>
                        <a:t>“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328036091"/>
                  </a:ext>
                </a:extLst>
              </a:tr>
              <a:tr h="916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SCAMPER </a:t>
                      </a:r>
                      <a:r>
                        <a:rPr lang="en-US" sz="1400" kern="100" dirty="0" err="1">
                          <a:effectLst/>
                        </a:rPr>
                        <a:t>техника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Задаване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въпроси</a:t>
                      </a:r>
                      <a:r>
                        <a:rPr lang="en-US" sz="1400" kern="100" dirty="0">
                          <a:effectLst/>
                        </a:rPr>
                        <a:t>: Substitute, Combine, Adapt, Modify, Put to other use, Eliminate, Reverse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Систематично </a:t>
                      </a:r>
                      <a:r>
                        <a:rPr lang="en-US" sz="1400" kern="100" dirty="0" err="1">
                          <a:effectLst/>
                        </a:rPr>
                        <a:t>стимулира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нови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варианти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3284715018"/>
                  </a:ext>
                </a:extLst>
              </a:tr>
              <a:tr h="6047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Визуализация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Използване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образи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схеми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или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метафори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за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стимулиране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идеи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Подобрява </a:t>
                      </a:r>
                      <a:r>
                        <a:rPr lang="en-US" sz="1400" kern="100" dirty="0" err="1">
                          <a:effectLst/>
                        </a:rPr>
                        <a:t>въображението</a:t>
                      </a:r>
                      <a:r>
                        <a:rPr lang="en-US" sz="1400" kern="100" dirty="0">
                          <a:effectLst/>
                        </a:rPr>
                        <a:t> и </a:t>
                      </a:r>
                      <a:r>
                        <a:rPr lang="en-US" sz="1400" kern="100" dirty="0" err="1">
                          <a:effectLst/>
                        </a:rPr>
                        <a:t>асоциативното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мислене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194360366"/>
                  </a:ext>
                </a:extLst>
              </a:tr>
              <a:tr h="60470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Ролеви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игри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Влизане</a:t>
                      </a:r>
                      <a:r>
                        <a:rPr lang="en-US" sz="1400" kern="100" dirty="0">
                          <a:effectLst/>
                        </a:rPr>
                        <a:t> в </a:t>
                      </a:r>
                      <a:r>
                        <a:rPr lang="en-US" sz="1400" kern="100" dirty="0" err="1">
                          <a:effectLst/>
                        </a:rPr>
                        <a:t>различни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роли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за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решаване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проблем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Разширява </a:t>
                      </a:r>
                      <a:r>
                        <a:rPr lang="en-US" sz="1400" kern="100" dirty="0" err="1">
                          <a:effectLst/>
                        </a:rPr>
                        <a:t>перспективата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развива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емпатия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3999878530"/>
                  </a:ext>
                </a:extLst>
              </a:tr>
              <a:tr h="9169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„Шест мислещи шапки“ на де Боно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 err="1">
                          <a:effectLst/>
                        </a:rPr>
                        <a:t>Разглеждане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проблем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от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шест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различни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гледни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точки</a:t>
                      </a:r>
                      <a:r>
                        <a:rPr lang="en-US" sz="1400" kern="100" dirty="0">
                          <a:effectLst/>
                        </a:rPr>
                        <a:t> (</a:t>
                      </a:r>
                      <a:r>
                        <a:rPr lang="en-US" sz="1400" kern="100" dirty="0" err="1">
                          <a:effectLst/>
                        </a:rPr>
                        <a:t>логика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емоции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креативност</a:t>
                      </a:r>
                      <a:r>
                        <a:rPr lang="en-US" sz="1400" kern="100" dirty="0">
                          <a:effectLst/>
                        </a:rPr>
                        <a:t> и </a:t>
                      </a:r>
                      <a:r>
                        <a:rPr lang="en-US" sz="1400" kern="100" dirty="0" err="1">
                          <a:effectLst/>
                        </a:rPr>
                        <a:t>др</a:t>
                      </a:r>
                      <a:r>
                        <a:rPr lang="en-US" sz="1400" kern="100" dirty="0">
                          <a:effectLst/>
                        </a:rPr>
                        <a:t>.)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Балансирано </a:t>
                      </a:r>
                      <a:r>
                        <a:rPr lang="en-US" sz="1400" kern="100" dirty="0" err="1">
                          <a:effectLst/>
                        </a:rPr>
                        <a:t>мислене</a:t>
                      </a:r>
                      <a:r>
                        <a:rPr lang="en-US" sz="1400" kern="100" dirty="0">
                          <a:effectLst/>
                        </a:rPr>
                        <a:t>, </a:t>
                      </a:r>
                      <a:r>
                        <a:rPr lang="en-US" sz="1400" kern="100" dirty="0" err="1">
                          <a:effectLst/>
                        </a:rPr>
                        <a:t>структурирана</a:t>
                      </a:r>
                      <a:r>
                        <a:rPr lang="en-US" sz="1400" kern="100" dirty="0">
                          <a:effectLst/>
                        </a:rPr>
                        <a:t> </a:t>
                      </a:r>
                      <a:r>
                        <a:rPr lang="en-US" sz="1400" kern="100" dirty="0" err="1">
                          <a:effectLst/>
                        </a:rPr>
                        <a:t>дискусия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6" marR="6426" marT="6426" marB="6426" anchor="ctr"/>
                </a:tc>
                <a:extLst>
                  <a:ext uri="{0D108BD9-81ED-4DB2-BD59-A6C34878D82A}">
                    <a16:rowId xmlns:a16="http://schemas.microsoft.com/office/drawing/2014/main" val="5936522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3962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EDC63-B324-477C-77C7-26743B46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4A84F-550E-5218-4E10-7057F4E6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Design Thinking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661A82-F7AA-940C-173B-E916D2E7FF6A}"/>
              </a:ext>
            </a:extLst>
          </p:cNvPr>
          <p:cNvGrpSpPr/>
          <p:nvPr/>
        </p:nvGrpSpPr>
        <p:grpSpPr>
          <a:xfrm>
            <a:off x="412956" y="1674102"/>
            <a:ext cx="7895302" cy="5019220"/>
            <a:chOff x="822960" y="1674102"/>
            <a:chExt cx="7563955" cy="5019220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7D89D6C-EFC9-4757-3FE6-830E7D918187}"/>
                </a:ext>
              </a:extLst>
            </p:cNvPr>
            <p:cNvSpPr/>
            <p:nvPr/>
          </p:nvSpPr>
          <p:spPr>
            <a:xfrm>
              <a:off x="3074250" y="1815714"/>
              <a:ext cx="5312665" cy="858661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Методология за </a:t>
              </a:r>
              <a:r>
                <a:rPr lang="ru-RU" sz="1600" dirty="0" err="1"/>
                <a:t>решаване</a:t>
              </a:r>
              <a:r>
                <a:rPr lang="ru-RU" sz="1600" dirty="0"/>
                <a:t> на </a:t>
              </a:r>
              <a:r>
                <a:rPr lang="ru-RU" sz="1600" dirty="0" err="1"/>
                <a:t>проблеми</a:t>
              </a:r>
              <a:r>
                <a:rPr lang="ru-RU" sz="1600" dirty="0"/>
                <a:t>, </a:t>
              </a:r>
              <a:r>
                <a:rPr lang="ru-RU" sz="1600" dirty="0" err="1"/>
                <a:t>ориентирана</a:t>
              </a:r>
              <a:r>
                <a:rPr lang="ru-RU" sz="1600" dirty="0"/>
                <a:t> </a:t>
              </a:r>
              <a:r>
                <a:rPr lang="ru-RU" sz="1600" dirty="0" err="1"/>
                <a:t>към</a:t>
              </a:r>
              <a:r>
                <a:rPr lang="ru-RU" sz="1600" dirty="0"/>
                <a:t> </a:t>
              </a:r>
              <a:r>
                <a:rPr lang="ru-RU" sz="1600" dirty="0" err="1"/>
                <a:t>човека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AA8D25-42B5-3CFB-CA99-25A03A270660}"/>
                </a:ext>
              </a:extLst>
            </p:cNvPr>
            <p:cNvSpPr/>
            <p:nvPr/>
          </p:nvSpPr>
          <p:spPr>
            <a:xfrm>
              <a:off x="822960" y="1674102"/>
              <a:ext cx="2251290" cy="114775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4CEC8AC-336C-BCBE-2906-769A569D0D4B}"/>
                </a:ext>
              </a:extLst>
            </p:cNvPr>
            <p:cNvSpPr/>
            <p:nvPr/>
          </p:nvSpPr>
          <p:spPr>
            <a:xfrm>
              <a:off x="3074250" y="3063775"/>
              <a:ext cx="5312665" cy="2039167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Емпатия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Дефиниране на проблема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Извличане на идеи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Т</a:t>
              </a:r>
              <a:r>
                <a:rPr lang="ru-RU" sz="1600" dirty="0" err="1"/>
                <a:t>естване</a:t>
              </a:r>
              <a:endParaRPr lang="en-US" sz="1600" kern="12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BDB736A-522B-8F3D-060B-70498F5DA892}"/>
                </a:ext>
              </a:extLst>
            </p:cNvPr>
            <p:cNvSpPr/>
            <p:nvPr/>
          </p:nvSpPr>
          <p:spPr>
            <a:xfrm>
              <a:off x="822960" y="2916290"/>
              <a:ext cx="2251290" cy="232554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bg-BG" sz="2800" b="1" kern="1200" baseline="0" dirty="0"/>
                <a:t>Етапи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AB5B5E3-4F09-7020-C20B-83B626B6EED6}"/>
                </a:ext>
              </a:extLst>
            </p:cNvPr>
            <p:cNvSpPr/>
            <p:nvPr/>
          </p:nvSpPr>
          <p:spPr>
            <a:xfrm>
              <a:off x="3074250" y="5525729"/>
              <a:ext cx="5312665" cy="100631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</a:t>
              </a:r>
              <a:r>
                <a:rPr lang="ru-RU" sz="1600" dirty="0" err="1"/>
                <a:t>Подходящ</a:t>
              </a:r>
              <a:r>
                <a:rPr lang="ru-RU" sz="1600" dirty="0"/>
                <a:t> за </a:t>
              </a:r>
              <a:r>
                <a:rPr lang="ru-RU" sz="1600" dirty="0" err="1"/>
                <a:t>сложни</a:t>
              </a:r>
              <a:r>
                <a:rPr lang="ru-RU" sz="1600" dirty="0"/>
                <a:t>, </a:t>
              </a:r>
              <a:r>
                <a:rPr lang="ru-RU" sz="1600" dirty="0" err="1"/>
                <a:t>неясни</a:t>
              </a:r>
              <a:r>
                <a:rPr lang="ru-RU" sz="1600" dirty="0"/>
                <a:t> </a:t>
              </a:r>
              <a:r>
                <a:rPr lang="ru-RU" sz="1600" dirty="0" err="1"/>
                <a:t>проблеми</a:t>
              </a:r>
              <a:r>
                <a:rPr lang="bg-BG" sz="1600" dirty="0"/>
                <a:t> По-добро вземане на решения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</a:t>
              </a:r>
              <a:r>
                <a:rPr lang="bg-BG" sz="1600" dirty="0"/>
                <a:t>Стимулира креативност и експериментиране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E4261BC-84F8-FC3C-1724-C40958207F41}"/>
                </a:ext>
              </a:extLst>
            </p:cNvPr>
            <p:cNvSpPr/>
            <p:nvPr/>
          </p:nvSpPr>
          <p:spPr>
            <a:xfrm>
              <a:off x="822960" y="5389323"/>
              <a:ext cx="2251290" cy="1303999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43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93552-4023-523E-8B12-C38BFED14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AF96A-C8E8-2D6D-4209-A78466C7C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World Café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D359010-2782-BD26-B5B8-79DE30E5DAEB}"/>
              </a:ext>
            </a:extLst>
          </p:cNvPr>
          <p:cNvGrpSpPr/>
          <p:nvPr/>
        </p:nvGrpSpPr>
        <p:grpSpPr>
          <a:xfrm>
            <a:off x="412956" y="2106721"/>
            <a:ext cx="7895302" cy="4114652"/>
            <a:chOff x="822960" y="2106721"/>
            <a:chExt cx="7563955" cy="411465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736886D-4EC7-06F3-C257-D44F3356C5B5}"/>
                </a:ext>
              </a:extLst>
            </p:cNvPr>
            <p:cNvSpPr/>
            <p:nvPr/>
          </p:nvSpPr>
          <p:spPr>
            <a:xfrm>
              <a:off x="3074250" y="2248333"/>
              <a:ext cx="5312665" cy="1491805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Метод за </a:t>
              </a:r>
              <a:r>
                <a:rPr lang="ru-RU" sz="1600" dirty="0" err="1"/>
                <a:t>фасилитиране</a:t>
              </a:r>
              <a:r>
                <a:rPr lang="ru-RU" sz="1600" dirty="0"/>
                <a:t> на </a:t>
              </a:r>
              <a:r>
                <a:rPr lang="ru-RU" sz="1600" dirty="0" err="1"/>
                <a:t>големи</a:t>
              </a:r>
              <a:r>
                <a:rPr lang="ru-RU" sz="1600" dirty="0"/>
                <a:t> </a:t>
              </a:r>
              <a:r>
                <a:rPr lang="ru-RU" sz="1600" dirty="0" err="1"/>
                <a:t>групови</a:t>
              </a:r>
              <a:r>
                <a:rPr lang="ru-RU" sz="1600" dirty="0"/>
                <a:t> </a:t>
              </a:r>
              <a:r>
                <a:rPr lang="ru-RU" sz="1600" dirty="0" err="1"/>
                <a:t>дискусии</a:t>
              </a:r>
              <a:r>
                <a:rPr lang="ru-RU" sz="1600" dirty="0"/>
                <a:t> в „</a:t>
              </a:r>
              <a:r>
                <a:rPr lang="ru-RU" sz="1600" dirty="0" err="1"/>
                <a:t>кафене</a:t>
              </a:r>
              <a:r>
                <a:rPr lang="ru-RU" sz="1600" dirty="0"/>
                <a:t>“ атмосфера </a:t>
              </a:r>
              <a:r>
                <a:rPr lang="en-US" sz="1600" dirty="0"/>
                <a:t>(</a:t>
              </a:r>
              <a:r>
                <a:rPr lang="bg-BG" sz="1600" dirty="0"/>
                <a:t>неформална</a:t>
              </a:r>
              <a:r>
                <a:rPr lang="en-US" sz="1600" dirty="0"/>
                <a:t>)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59D4B0E-B6A4-CFDF-F0D1-2B5076ECEF42}"/>
                </a:ext>
              </a:extLst>
            </p:cNvPr>
            <p:cNvSpPr/>
            <p:nvPr/>
          </p:nvSpPr>
          <p:spPr>
            <a:xfrm>
              <a:off x="822960" y="2106721"/>
              <a:ext cx="2251290" cy="175489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D6D45AA-3BD1-F508-A7AA-21730987D059}"/>
                </a:ext>
              </a:extLst>
            </p:cNvPr>
            <p:cNvSpPr/>
            <p:nvPr/>
          </p:nvSpPr>
          <p:spPr>
            <a:xfrm>
              <a:off x="3074250" y="4227870"/>
              <a:ext cx="5312665" cy="183222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Генериране на колективна мъдрост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Създаване на общо разбиране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</a:t>
              </a:r>
              <a:r>
                <a:rPr lang="ru-RU" sz="1600" dirty="0"/>
                <a:t>Ротация на </a:t>
              </a:r>
              <a:r>
                <a:rPr lang="ru-RU" sz="1600" dirty="0" err="1"/>
                <a:t>участниците</a:t>
              </a:r>
              <a:r>
                <a:rPr lang="ru-RU" sz="1600" dirty="0"/>
                <a:t> между </a:t>
              </a:r>
              <a:r>
                <a:rPr lang="ru-RU" sz="1600" dirty="0" err="1"/>
                <a:t>тематични</a:t>
              </a:r>
              <a:r>
                <a:rPr lang="ru-RU" sz="1600" dirty="0"/>
                <a:t> </a:t>
              </a:r>
              <a:r>
                <a:rPr lang="ru-RU" sz="1600" dirty="0" err="1"/>
                <a:t>маси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5B6B79C-DBFE-E7F5-C276-8BC3EF3B4896}"/>
                </a:ext>
              </a:extLst>
            </p:cNvPr>
            <p:cNvSpPr/>
            <p:nvPr/>
          </p:nvSpPr>
          <p:spPr>
            <a:xfrm>
              <a:off x="822960" y="3991896"/>
              <a:ext cx="2251290" cy="2229477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8897412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C1F6A-92A1-41AB-DD5D-93EB02CC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70B8-B763-5E3E-77A9-D50270E69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Open Space Technology (OST)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9C2EF08-3CCB-D7E1-7443-B512D0539027}"/>
              </a:ext>
            </a:extLst>
          </p:cNvPr>
          <p:cNvGrpSpPr/>
          <p:nvPr/>
        </p:nvGrpSpPr>
        <p:grpSpPr>
          <a:xfrm>
            <a:off x="412956" y="2106721"/>
            <a:ext cx="7895302" cy="4114652"/>
            <a:chOff x="822960" y="2106721"/>
            <a:chExt cx="7563955" cy="411465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07941FD-D3D2-F414-FEC8-AE31A6FEC936}"/>
                </a:ext>
              </a:extLst>
            </p:cNvPr>
            <p:cNvSpPr/>
            <p:nvPr/>
          </p:nvSpPr>
          <p:spPr>
            <a:xfrm>
              <a:off x="3074250" y="2248333"/>
              <a:ext cx="5312665" cy="1491805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</a:t>
              </a:r>
              <a:r>
                <a:rPr lang="ru-RU" sz="1600" dirty="0" err="1"/>
                <a:t>Самоорганизираща</a:t>
              </a:r>
              <a:r>
                <a:rPr lang="ru-RU" sz="1600" dirty="0"/>
                <a:t> се форма на </a:t>
              </a:r>
              <a:r>
                <a:rPr lang="ru-RU" sz="1600" dirty="0" err="1"/>
                <a:t>групова</a:t>
              </a:r>
              <a:r>
                <a:rPr lang="ru-RU" sz="1600" dirty="0"/>
                <a:t> работа, при </a:t>
              </a:r>
              <a:r>
                <a:rPr lang="ru-RU" sz="1600" dirty="0" err="1"/>
                <a:t>която</a:t>
              </a:r>
              <a:r>
                <a:rPr lang="ru-RU" sz="1600" dirty="0"/>
                <a:t> </a:t>
              </a:r>
              <a:r>
                <a:rPr lang="ru-RU" sz="1600" dirty="0" err="1"/>
                <a:t>участниците</a:t>
              </a:r>
              <a:r>
                <a:rPr lang="ru-RU" sz="1600" dirty="0"/>
                <a:t> сами определят </a:t>
              </a:r>
              <a:r>
                <a:rPr lang="ru-RU" sz="1600" dirty="0" err="1"/>
                <a:t>темите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82E8AA6-31A4-56DF-352E-49F55F69267D}"/>
                </a:ext>
              </a:extLst>
            </p:cNvPr>
            <p:cNvSpPr/>
            <p:nvPr/>
          </p:nvSpPr>
          <p:spPr>
            <a:xfrm>
              <a:off x="822960" y="2106721"/>
              <a:ext cx="2251290" cy="175489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15EDBFA-99D2-2495-A5D5-7AC754168770}"/>
                </a:ext>
              </a:extLst>
            </p:cNvPr>
            <p:cNvSpPr/>
            <p:nvPr/>
          </p:nvSpPr>
          <p:spPr>
            <a:xfrm>
              <a:off x="3074250" y="4227870"/>
              <a:ext cx="5312665" cy="1832228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</a:t>
              </a:r>
              <a:r>
                <a:rPr lang="ru-RU" sz="1600" dirty="0"/>
                <a:t>Много </a:t>
              </a:r>
              <a:r>
                <a:rPr lang="ru-RU" sz="1600" dirty="0" err="1"/>
                <a:t>ефективно</a:t>
              </a:r>
              <a:r>
                <a:rPr lang="ru-RU" sz="1600" dirty="0"/>
                <a:t> при </a:t>
              </a:r>
              <a:r>
                <a:rPr lang="ru-RU" sz="1600" dirty="0" err="1"/>
                <a:t>големи</a:t>
              </a:r>
              <a:r>
                <a:rPr lang="ru-RU" sz="1600" dirty="0"/>
                <a:t> групи</a:t>
              </a: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kern="12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dirty="0"/>
                <a:t> Висока ангажираност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bg-BG" sz="1600" kern="1200" dirty="0"/>
                <a:t> </a:t>
              </a:r>
              <a:r>
                <a:rPr lang="bg-BG" sz="1600" dirty="0"/>
                <a:t>Появяват се най-важните разговори</a:t>
              </a:r>
              <a:endParaRPr lang="en-US" sz="1600" kern="1200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144C003-F5FE-5C7C-F3AE-A284FF0D25E7}"/>
                </a:ext>
              </a:extLst>
            </p:cNvPr>
            <p:cNvSpPr/>
            <p:nvPr/>
          </p:nvSpPr>
          <p:spPr>
            <a:xfrm>
              <a:off x="822960" y="3991896"/>
              <a:ext cx="2251290" cy="2229477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4">
                <a:hueOff val="0"/>
                <a:satOff val="0"/>
                <a:lumOff val="0"/>
                <a:alphaOff val="0"/>
              </a:schemeClr>
            </a:fillRef>
            <a:effectRef idx="2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/>
                <a:t>Ползи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0188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F101-286D-255D-B2B6-6BB49EBC4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54167-E4D5-243C-B7F9-1E07EEE91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4"/>
            <a:ext cx="7269480" cy="1325562"/>
          </a:xfrm>
        </p:spPr>
        <p:txBody>
          <a:bodyPr>
            <a:normAutofit/>
          </a:bodyPr>
          <a:lstStyle/>
          <a:p>
            <a:r>
              <a:rPr lang="en-US" dirty="0"/>
              <a:t>Fishbowl</a:t>
            </a:r>
            <a:endParaRPr sz="4000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EDD51B1-9044-4200-EA96-34CF97DF3D6C}"/>
              </a:ext>
            </a:extLst>
          </p:cNvPr>
          <p:cNvGrpSpPr/>
          <p:nvPr/>
        </p:nvGrpSpPr>
        <p:grpSpPr>
          <a:xfrm>
            <a:off x="412956" y="1674102"/>
            <a:ext cx="7895302" cy="4166258"/>
            <a:chOff x="822960" y="1674102"/>
            <a:chExt cx="7563955" cy="4166258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47BD874-2449-A3D5-2A52-650100B147BE}"/>
                </a:ext>
              </a:extLst>
            </p:cNvPr>
            <p:cNvSpPr/>
            <p:nvPr/>
          </p:nvSpPr>
          <p:spPr>
            <a:xfrm>
              <a:off x="3074250" y="1815714"/>
              <a:ext cx="5312665" cy="858661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2" rIns="108702" bIns="85844" numCol="1" spcCol="1270" anchor="ctr" anchorCtr="0">
              <a:noAutofit/>
            </a:bodyPr>
            <a:lstStyle/>
            <a:p>
              <a:pPr marL="0" lvl="1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ru-RU" sz="1600" dirty="0"/>
                <a:t> Метод с </a:t>
              </a:r>
              <a:r>
                <a:rPr lang="ru-RU" sz="1600" dirty="0" err="1"/>
                <a:t>вътрешен</a:t>
              </a:r>
              <a:r>
                <a:rPr lang="ru-RU" sz="1600" dirty="0"/>
                <a:t> и </a:t>
              </a:r>
              <a:r>
                <a:rPr lang="ru-RU" sz="1600" dirty="0" err="1"/>
                <a:t>външен</a:t>
              </a:r>
              <a:r>
                <a:rPr lang="ru-RU" sz="1600" dirty="0"/>
                <a:t> </a:t>
              </a:r>
              <a:r>
                <a:rPr lang="ru-RU" sz="1600" dirty="0" err="1"/>
                <a:t>кръг</a:t>
              </a:r>
              <a:r>
                <a:rPr lang="ru-RU" sz="1600" dirty="0"/>
                <a:t> за </a:t>
              </a:r>
              <a:r>
                <a:rPr lang="ru-RU" sz="1600" dirty="0" err="1"/>
                <a:t>структурирана</a:t>
              </a:r>
              <a:r>
                <a:rPr lang="ru-RU" sz="1600" dirty="0"/>
                <a:t> </a:t>
              </a:r>
              <a:r>
                <a:rPr lang="ru-RU" sz="1600" dirty="0" err="1"/>
                <a:t>дискусия</a:t>
              </a:r>
              <a:endParaRPr lang="en-US" sz="1600" kern="1200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7FC8C9F-6FE4-5FD4-B317-C507CEC5F2DF}"/>
                </a:ext>
              </a:extLst>
            </p:cNvPr>
            <p:cNvSpPr/>
            <p:nvPr/>
          </p:nvSpPr>
          <p:spPr>
            <a:xfrm>
              <a:off x="822960" y="1674102"/>
              <a:ext cx="2251290" cy="1147758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ru-RU" sz="2800" b="1" kern="1200" baseline="0" dirty="0" err="1"/>
                <a:t>Същност</a:t>
              </a:r>
              <a:endParaRPr lang="en-US" sz="2800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4797AC-7512-A31D-46D2-5E432D6CFA9B}"/>
                </a:ext>
              </a:extLst>
            </p:cNvPr>
            <p:cNvSpPr/>
            <p:nvPr/>
          </p:nvSpPr>
          <p:spPr>
            <a:xfrm>
              <a:off x="3074250" y="3063775"/>
              <a:ext cx="5312665" cy="2658599"/>
            </a:xfrm>
            <a:custGeom>
              <a:avLst/>
              <a:gdLst>
                <a:gd name="csX0" fmla="*/ 215039 w 1290208"/>
                <a:gd name="csY0" fmla="*/ 0 h 4840932"/>
                <a:gd name="csX1" fmla="*/ 1075169 w 1290208"/>
                <a:gd name="csY1" fmla="*/ 0 h 4840932"/>
                <a:gd name="csX2" fmla="*/ 1290208 w 1290208"/>
                <a:gd name="csY2" fmla="*/ 215039 h 4840932"/>
                <a:gd name="csX3" fmla="*/ 1290208 w 1290208"/>
                <a:gd name="csY3" fmla="*/ 4840932 h 4840932"/>
                <a:gd name="csX4" fmla="*/ 1290208 w 1290208"/>
                <a:gd name="csY4" fmla="*/ 4840932 h 4840932"/>
                <a:gd name="csX5" fmla="*/ 0 w 1290208"/>
                <a:gd name="csY5" fmla="*/ 4840932 h 4840932"/>
                <a:gd name="csX6" fmla="*/ 0 w 1290208"/>
                <a:gd name="csY6" fmla="*/ 4840932 h 4840932"/>
                <a:gd name="csX7" fmla="*/ 0 w 1290208"/>
                <a:gd name="csY7" fmla="*/ 215039 h 4840932"/>
                <a:gd name="csX8" fmla="*/ 215039 w 1290208"/>
                <a:gd name="csY8" fmla="*/ 0 h 48409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90208" h="4840932">
                  <a:moveTo>
                    <a:pt x="1290208" y="806838"/>
                  </a:moveTo>
                  <a:lnTo>
                    <a:pt x="1290208" y="4034094"/>
                  </a:lnTo>
                  <a:cubicBezTo>
                    <a:pt x="1290208" y="4479699"/>
                    <a:pt x="1264548" y="4840932"/>
                    <a:pt x="1232896" y="4840932"/>
                  </a:cubicBezTo>
                  <a:lnTo>
                    <a:pt x="0" y="4840932"/>
                  </a:lnTo>
                  <a:lnTo>
                    <a:pt x="0" y="4840932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32896" y="0"/>
                  </a:lnTo>
                  <a:cubicBezTo>
                    <a:pt x="1264548" y="0"/>
                    <a:pt x="1290208" y="361233"/>
                    <a:pt x="1290208" y="806838"/>
                  </a:cubicBezTo>
                  <a:close/>
                </a:path>
              </a:pathLst>
            </a:custGeom>
            <a:scene3d>
              <a:camera prst="orthographicFront"/>
              <a:lightRig rig="flat" dir="t"/>
            </a:scene3d>
            <a:sp3d extrusionH="12700" prstMaterial="plastic">
              <a:bevelT w="50800" h="50800"/>
            </a:sp3d>
          </p:spPr>
          <p:style>
            <a:ln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1" tIns="85843" rIns="108702" bIns="85843" numCol="1" spcCol="1270" anchor="ctr" anchorCtr="0">
              <a:noAutofit/>
            </a:bodyPr>
            <a:lstStyle/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en-US" sz="1600" dirty="0"/>
                <a:t> Вътрешен </a:t>
              </a:r>
              <a:r>
                <a:rPr lang="en-US" sz="1600" dirty="0" err="1"/>
                <a:t>кръг</a:t>
              </a:r>
              <a:r>
                <a:rPr lang="en-US" sz="1600" dirty="0"/>
                <a:t> („</a:t>
              </a:r>
              <a:r>
                <a:rPr lang="en-US" sz="1600" dirty="0" err="1"/>
                <a:t>аквариум</a:t>
              </a:r>
              <a:r>
                <a:rPr lang="en-US" sz="1600" dirty="0"/>
                <a:t>“) и </a:t>
              </a:r>
              <a:r>
                <a:rPr lang="en-US" sz="1600" dirty="0" err="1"/>
                <a:t>външен</a:t>
              </a:r>
              <a:r>
                <a:rPr lang="en-US" sz="1600" dirty="0"/>
                <a:t> </a:t>
              </a:r>
              <a:r>
                <a:rPr lang="en-US" sz="1600" dirty="0" err="1"/>
                <a:t>кръг</a:t>
              </a: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bg-BG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Tx/>
                <a:buChar char="•"/>
              </a:pPr>
              <a:r>
                <a:rPr lang="bg-BG" sz="1600" dirty="0"/>
                <a:t> </a:t>
              </a:r>
              <a:r>
                <a:rPr lang="en-US" altLang="en-US" sz="1600" dirty="0"/>
                <a:t>4–6 </a:t>
              </a:r>
              <a:r>
                <a:rPr lang="en-US" altLang="en-US" sz="1600" dirty="0" err="1"/>
                <a:t>души</a:t>
              </a:r>
              <a:r>
                <a:rPr lang="en-US" altLang="en-US" sz="1600" dirty="0"/>
                <a:t> в </a:t>
              </a:r>
              <a:r>
                <a:rPr lang="en-US" altLang="en-US" sz="1600" dirty="0" err="1"/>
                <a:t>центъра</a:t>
              </a:r>
              <a:r>
                <a:rPr lang="en-US" altLang="en-US" sz="1600" dirty="0"/>
                <a:t> → </a:t>
              </a:r>
              <a:r>
                <a:rPr lang="en-US" altLang="en-US" sz="1600" dirty="0" err="1"/>
                <a:t>дискусия</a:t>
              </a:r>
              <a:endParaRPr lang="en-US" alt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/>
                <a:t>Ротация на участниците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600" dirty="0"/>
                <a:t> </a:t>
              </a:r>
              <a:r>
                <a:rPr lang="bg-BG" sz="1600" dirty="0" err="1"/>
                <a:t>Фасилитатор</a:t>
              </a:r>
              <a:r>
                <a:rPr lang="bg-BG" sz="1600" dirty="0"/>
                <a:t> управлява процеса</a:t>
              </a:r>
            </a:p>
            <a:p>
              <a:pPr marL="114300" lvl="1" indent="-114300" defTabSz="5334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600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0AFB8F4-263C-1E5B-9576-AFA53C420C33}"/>
                </a:ext>
              </a:extLst>
            </p:cNvPr>
            <p:cNvSpPr/>
            <p:nvPr/>
          </p:nvSpPr>
          <p:spPr>
            <a:xfrm>
              <a:off x="822960" y="2916289"/>
              <a:ext cx="2251290" cy="2924071"/>
            </a:xfrm>
            <a:custGeom>
              <a:avLst/>
              <a:gdLst>
                <a:gd name="csX0" fmla="*/ 0 w 2723024"/>
                <a:gd name="csY0" fmla="*/ 268799 h 1612760"/>
                <a:gd name="csX1" fmla="*/ 268799 w 2723024"/>
                <a:gd name="csY1" fmla="*/ 0 h 1612760"/>
                <a:gd name="csX2" fmla="*/ 2454225 w 2723024"/>
                <a:gd name="csY2" fmla="*/ 0 h 1612760"/>
                <a:gd name="csX3" fmla="*/ 2723024 w 2723024"/>
                <a:gd name="csY3" fmla="*/ 268799 h 1612760"/>
                <a:gd name="csX4" fmla="*/ 2723024 w 2723024"/>
                <a:gd name="csY4" fmla="*/ 1343961 h 1612760"/>
                <a:gd name="csX5" fmla="*/ 2454225 w 2723024"/>
                <a:gd name="csY5" fmla="*/ 1612760 h 1612760"/>
                <a:gd name="csX6" fmla="*/ 268799 w 2723024"/>
                <a:gd name="csY6" fmla="*/ 1612760 h 1612760"/>
                <a:gd name="csX7" fmla="*/ 0 w 2723024"/>
                <a:gd name="csY7" fmla="*/ 1343961 h 1612760"/>
                <a:gd name="csX8" fmla="*/ 0 w 2723024"/>
                <a:gd name="csY8" fmla="*/ 268799 h 16127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723024" h="1612760">
                  <a:moveTo>
                    <a:pt x="0" y="268799"/>
                  </a:moveTo>
                  <a:cubicBezTo>
                    <a:pt x="0" y="120345"/>
                    <a:pt x="120345" y="0"/>
                    <a:pt x="268799" y="0"/>
                  </a:cubicBezTo>
                  <a:lnTo>
                    <a:pt x="2454225" y="0"/>
                  </a:lnTo>
                  <a:cubicBezTo>
                    <a:pt x="2602679" y="0"/>
                    <a:pt x="2723024" y="120345"/>
                    <a:pt x="2723024" y="268799"/>
                  </a:cubicBezTo>
                  <a:lnTo>
                    <a:pt x="2723024" y="1343961"/>
                  </a:lnTo>
                  <a:cubicBezTo>
                    <a:pt x="2723024" y="1492415"/>
                    <a:pt x="2602679" y="1612760"/>
                    <a:pt x="2454225" y="1612760"/>
                  </a:cubicBezTo>
                  <a:lnTo>
                    <a:pt x="268799" y="1612760"/>
                  </a:lnTo>
                  <a:cubicBezTo>
                    <a:pt x="120345" y="1612760"/>
                    <a:pt x="0" y="1492415"/>
                    <a:pt x="0" y="1343961"/>
                  </a:cubicBezTo>
                  <a:lnTo>
                    <a:pt x="0" y="268799"/>
                  </a:lnTo>
                  <a:close/>
                </a:path>
              </a:pathLst>
            </a:cu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08268" tIns="143498" rIns="208268" bIns="143498" numCol="1" spcCol="1270" anchor="ctr" anchorCtr="0">
              <a:noAutofit/>
            </a:bodyPr>
            <a:lstStyle/>
            <a:p>
              <a:pPr marL="0" lvl="0" indent="0" algn="ctr" defTabSz="1511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bg-BG" sz="2800" b="1" dirty="0"/>
                <a:t>Техника</a:t>
              </a:r>
              <a:endParaRPr lang="en-US" sz="28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424846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D0D83-647E-0E70-2738-33841C778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91B44-A0A4-7761-0290-E8AE7E99B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21633"/>
            <a:ext cx="7269480" cy="1325562"/>
          </a:xfrm>
        </p:spPr>
        <p:txBody>
          <a:bodyPr>
            <a:normAutofit/>
          </a:bodyPr>
          <a:lstStyle/>
          <a:p>
            <a:r>
              <a:rPr lang="bg-BG" dirty="0"/>
              <a:t>Заключение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5BF48-B817-FBB4-D4E2-DE8B74590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1828801"/>
            <a:ext cx="7430680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Специалните</a:t>
            </a:r>
            <a:r>
              <a:rPr lang="ru-RU" dirty="0"/>
              <a:t> техники за </a:t>
            </a:r>
            <a:r>
              <a:rPr lang="ru-RU" dirty="0" err="1"/>
              <a:t>групово</a:t>
            </a:r>
            <a:r>
              <a:rPr lang="ru-RU" dirty="0"/>
              <a:t> обучение </a:t>
            </a:r>
            <a:r>
              <a:rPr lang="ru-RU" dirty="0" err="1"/>
              <a:t>превръщат</a:t>
            </a:r>
            <a:r>
              <a:rPr lang="ru-RU" dirty="0"/>
              <a:t> </a:t>
            </a:r>
            <a:r>
              <a:rPr lang="ru-RU" dirty="0" err="1"/>
              <a:t>обучението</a:t>
            </a:r>
            <a:r>
              <a:rPr lang="ru-RU" dirty="0"/>
              <a:t> в активен, интерактивен </a:t>
            </a:r>
            <a:r>
              <a:rPr lang="ru-RU" dirty="0" err="1"/>
              <a:t>процес</a:t>
            </a:r>
            <a:r>
              <a:rPr lang="ru-RU" dirty="0"/>
              <a:t>. 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Знания и умения</a:t>
            </a:r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</a:t>
            </a:r>
            <a:r>
              <a:rPr lang="ru-RU" dirty="0" err="1"/>
              <a:t>Социални</a:t>
            </a:r>
            <a:r>
              <a:rPr lang="ru-RU" dirty="0"/>
              <a:t> компетентности</a:t>
            </a:r>
            <a:endParaRPr lang="ru-RU" b="1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r>
              <a:rPr lang="ru-RU" dirty="0"/>
              <a:t> Критично </a:t>
            </a:r>
            <a:r>
              <a:rPr lang="ru-RU" dirty="0" err="1"/>
              <a:t>мислене</a:t>
            </a: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  <a:p>
            <a:pPr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3298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22C69-885E-DBF0-F6E6-A0C7CFF4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4B9B6-B0B7-93ED-E5A8-B20D82E8E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b="1" dirty="0">
                <a:latin typeface="+mn-lt"/>
              </a:rPr>
              <a:t>Благодаря за вниманието!</a:t>
            </a:r>
            <a:endParaRPr lang="en-US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133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7B713C7F-58B7-4AE9-B361-B13EB9EC4C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201</TotalTime>
  <Words>654</Words>
  <Application>Microsoft Office PowerPoint</Application>
  <PresentationFormat>On-screen Show (4:3)</PresentationFormat>
  <Paragraphs>153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Century Schoolbook</vt:lpstr>
      <vt:lpstr>Wingdings</vt:lpstr>
      <vt:lpstr>Wingdings 2</vt:lpstr>
      <vt:lpstr>View</vt:lpstr>
      <vt:lpstr>Специални техники за групово обучение</vt:lpstr>
      <vt:lpstr>Общи положения</vt:lpstr>
      <vt:lpstr>Кооперативно (групово) обучение</vt:lpstr>
      <vt:lpstr>Ролеви игри и симулации</vt:lpstr>
      <vt:lpstr>Обучение чрез казуси</vt:lpstr>
      <vt:lpstr>Сократически метод</vt:lpstr>
      <vt:lpstr>Взаимно обучение  (Peer Learning)</vt:lpstr>
      <vt:lpstr>Техники за креативност</vt:lpstr>
      <vt:lpstr>Design Thinking</vt:lpstr>
      <vt:lpstr>World Café</vt:lpstr>
      <vt:lpstr>Open Space Technology (OST)</vt:lpstr>
      <vt:lpstr>Fishbowl</vt:lpstr>
      <vt:lpstr>Заключение</vt:lpstr>
      <vt:lpstr>Благодаря за вниманието!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Konstantin Todorov</cp:lastModifiedBy>
  <cp:revision>27</cp:revision>
  <dcterms:created xsi:type="dcterms:W3CDTF">2013-01-27T09:14:16Z</dcterms:created>
  <dcterms:modified xsi:type="dcterms:W3CDTF">2026-05-02T15:18:02Z</dcterms:modified>
  <cp:category/>
</cp:coreProperties>
</file>