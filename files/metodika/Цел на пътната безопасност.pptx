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4" d="100"/>
          <a:sy n="74" d="100"/>
        </p:scale>
        <p:origin x="576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Заглавен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2971801"/>
          </a:xfrm>
        </p:spPr>
        <p:txBody>
          <a:bodyPr anchor="b">
            <a:normAutofit/>
          </a:bodyPr>
          <a:lstStyle>
            <a:lvl1pPr algn="l">
              <a:defRPr sz="4800">
                <a:effectLst/>
              </a:defRPr>
            </a:lvl1pPr>
          </a:lstStyle>
          <a:p>
            <a:r>
              <a:rPr lang="bg-BG" smtClean="0"/>
              <a:t>Редакт. стил загл. образец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400800" cy="1947333"/>
          </a:xfrm>
        </p:spPr>
        <p:txBody>
          <a:bodyPr anchor="t">
            <a:normAutofit/>
          </a:bodyPr>
          <a:lstStyle>
            <a:lvl1pPr marL="0" indent="0" algn="l">
              <a:buNone/>
              <a:defRPr sz="21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bg-BG" smtClean="0"/>
              <a:t>Щракнете за редакция стил подзагл. обр.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лавие и съдържа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smtClean="0"/>
              <a:t>Редакт. стил загл. образец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bg-BG" smtClean="0"/>
              <a:t>Щракнете, за да редактирате стиловете на текста в образеца</a:t>
            </a:r>
          </a:p>
          <a:p>
            <a:pPr lvl="1"/>
            <a:r>
              <a:rPr lang="bg-BG" smtClean="0"/>
              <a:t>Второ ниво</a:t>
            </a:r>
          </a:p>
          <a:p>
            <a:pPr lvl="2"/>
            <a:r>
              <a:rPr lang="bg-BG" smtClean="0"/>
              <a:t>Трето ниво</a:t>
            </a:r>
          </a:p>
          <a:p>
            <a:pPr lvl="3"/>
            <a:r>
              <a:rPr lang="bg-BG" smtClean="0"/>
              <a:t>Четвърто ниво</a:t>
            </a:r>
          </a:p>
          <a:p>
            <a:pPr lvl="4"/>
            <a:r>
              <a:rPr lang="bg-BG" smtClean="0"/>
              <a:t>Пето ниво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лавка на секци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2006600"/>
            <a:ext cx="8534401" cy="2281600"/>
          </a:xfrm>
        </p:spPr>
        <p:txBody>
          <a:bodyPr anchor="b">
            <a:normAutofit/>
          </a:bodyPr>
          <a:lstStyle>
            <a:lvl1pPr algn="l">
              <a:defRPr sz="3600" b="0" cap="all"/>
            </a:lvl1pPr>
          </a:lstStyle>
          <a:p>
            <a:r>
              <a:rPr lang="bg-BG" smtClean="0"/>
              <a:t>Редакт. стил загл. образец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495800"/>
            <a:ext cx="8534400" cy="14986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bg-BG" smtClean="0"/>
              <a:t>Щракнете, за да редактирате стиловете на текста в образеца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е съдържани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smtClean="0"/>
              <a:t>Редакт. стил загл. образец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1" y="685800"/>
            <a:ext cx="4937655" cy="3615267"/>
          </a:xfrm>
        </p:spPr>
        <p:txBody>
          <a:bodyPr>
            <a:normAutofit/>
          </a:bodyPr>
          <a:lstStyle/>
          <a:p>
            <a:pPr lvl="0"/>
            <a:r>
              <a:rPr lang="bg-BG" smtClean="0"/>
              <a:t>Щракнете, за да редактирате стиловете на текста в образеца</a:t>
            </a:r>
          </a:p>
          <a:p>
            <a:pPr lvl="1"/>
            <a:r>
              <a:rPr lang="bg-BG" smtClean="0"/>
              <a:t>Второ ниво</a:t>
            </a:r>
          </a:p>
          <a:p>
            <a:pPr lvl="2"/>
            <a:r>
              <a:rPr lang="bg-BG" smtClean="0"/>
              <a:t>Трето ниво</a:t>
            </a:r>
          </a:p>
          <a:p>
            <a:pPr lvl="3"/>
            <a:r>
              <a:rPr lang="bg-BG" smtClean="0"/>
              <a:t>Четвърто ниво</a:t>
            </a:r>
          </a:p>
          <a:p>
            <a:pPr lvl="4"/>
            <a:r>
              <a:rPr lang="bg-BG" smtClean="0"/>
              <a:t>Пето ниво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8133" y="685801"/>
            <a:ext cx="4934479" cy="3615266"/>
          </a:xfrm>
        </p:spPr>
        <p:txBody>
          <a:bodyPr>
            <a:normAutofit/>
          </a:bodyPr>
          <a:lstStyle/>
          <a:p>
            <a:pPr lvl="0"/>
            <a:r>
              <a:rPr lang="bg-BG" smtClean="0"/>
              <a:t>Щракнете, за да редактирате стиловете на текста в образеца</a:t>
            </a:r>
          </a:p>
          <a:p>
            <a:pPr lvl="1"/>
            <a:r>
              <a:rPr lang="bg-BG" smtClean="0"/>
              <a:t>Второ ниво</a:t>
            </a:r>
          </a:p>
          <a:p>
            <a:pPr lvl="2"/>
            <a:r>
              <a:rPr lang="bg-BG" smtClean="0"/>
              <a:t>Трето ниво</a:t>
            </a:r>
          </a:p>
          <a:p>
            <a:pPr lvl="3"/>
            <a:r>
              <a:rPr lang="bg-BG" smtClean="0"/>
              <a:t>Четвърто ниво</a:t>
            </a:r>
          </a:p>
          <a:p>
            <a:pPr lvl="4"/>
            <a:r>
              <a:rPr lang="bg-BG" smtClean="0"/>
              <a:t>Пето ниво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bg-BG" smtClean="0"/>
              <a:t>Редакт. стил загл. образец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080" y="685800"/>
            <a:ext cx="464978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bg-BG" smtClean="0"/>
              <a:t>Щракнете, за да редактирате стиловете на текста в образеца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211" y="1270529"/>
            <a:ext cx="4937655" cy="3030538"/>
          </a:xfrm>
        </p:spPr>
        <p:txBody>
          <a:bodyPr anchor="t">
            <a:normAutofit/>
          </a:bodyPr>
          <a:lstStyle/>
          <a:p>
            <a:pPr lvl="0"/>
            <a:r>
              <a:rPr lang="bg-BG" smtClean="0"/>
              <a:t>Щракнете, за да редактирате стиловете на текста в образеца</a:t>
            </a:r>
          </a:p>
          <a:p>
            <a:pPr lvl="1"/>
            <a:r>
              <a:rPr lang="bg-BG" smtClean="0"/>
              <a:t>Второ ниво</a:t>
            </a:r>
          </a:p>
          <a:p>
            <a:pPr lvl="2"/>
            <a:r>
              <a:rPr lang="bg-BG" smtClean="0"/>
              <a:t>Трето ниво</a:t>
            </a:r>
          </a:p>
          <a:p>
            <a:pPr lvl="3"/>
            <a:r>
              <a:rPr lang="bg-BG" smtClean="0"/>
              <a:t>Четвърто ниво</a:t>
            </a:r>
          </a:p>
          <a:p>
            <a:pPr lvl="4"/>
            <a:r>
              <a:rPr lang="bg-BG" smtClean="0"/>
              <a:t>Пето ниво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79066" y="685800"/>
            <a:ext cx="466513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bg-BG" smtClean="0"/>
              <a:t>Щракнете, за да редактирате стиловете на текста в образеца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6545" y="1262062"/>
            <a:ext cx="4929188" cy="3030538"/>
          </a:xfrm>
        </p:spPr>
        <p:txBody>
          <a:bodyPr anchor="t">
            <a:normAutofit/>
          </a:bodyPr>
          <a:lstStyle/>
          <a:p>
            <a:pPr lvl="0"/>
            <a:r>
              <a:rPr lang="bg-BG" smtClean="0"/>
              <a:t>Щракнете, за да редактирате стиловете на текста в образеца</a:t>
            </a:r>
          </a:p>
          <a:p>
            <a:pPr lvl="1"/>
            <a:r>
              <a:rPr lang="bg-BG" smtClean="0"/>
              <a:t>Второ ниво</a:t>
            </a:r>
          </a:p>
          <a:p>
            <a:pPr lvl="2"/>
            <a:r>
              <a:rPr lang="bg-BG" smtClean="0"/>
              <a:t>Трето ниво</a:t>
            </a:r>
          </a:p>
          <a:p>
            <a:pPr lvl="3"/>
            <a:r>
              <a:rPr lang="bg-BG" smtClean="0"/>
              <a:t>Четвърто ниво</a:t>
            </a:r>
          </a:p>
          <a:p>
            <a:pPr lvl="4"/>
            <a:r>
              <a:rPr lang="bg-BG" smtClean="0"/>
              <a:t>Пето ниво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5/27/2026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Само заглав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smtClean="0"/>
              <a:t>Редакт. стил загл. образец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5/27/2026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разе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5/27/2026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Съдържание с на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012" y="685800"/>
            <a:ext cx="3657600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bg-BG" smtClean="0"/>
              <a:t>Редакт. стил загл. образец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685800"/>
            <a:ext cx="5943601" cy="5308600"/>
          </a:xfrm>
        </p:spPr>
        <p:txBody>
          <a:bodyPr anchor="ctr">
            <a:normAutofit/>
          </a:bodyPr>
          <a:lstStyle/>
          <a:p>
            <a:pPr lvl="0"/>
            <a:r>
              <a:rPr lang="bg-BG" smtClean="0"/>
              <a:t>Щракнете, за да редактирате стиловете на текста в образеца</a:t>
            </a:r>
          </a:p>
          <a:p>
            <a:pPr lvl="1"/>
            <a:r>
              <a:rPr lang="bg-BG" smtClean="0"/>
              <a:t>Второ ниво</a:t>
            </a:r>
          </a:p>
          <a:p>
            <a:pPr lvl="2"/>
            <a:r>
              <a:rPr lang="bg-BG" smtClean="0"/>
              <a:t>Трето ниво</a:t>
            </a:r>
          </a:p>
          <a:p>
            <a:pPr lvl="3"/>
            <a:r>
              <a:rPr lang="bg-BG" smtClean="0"/>
              <a:t>Четвърто ниво</a:t>
            </a:r>
          </a:p>
          <a:p>
            <a:pPr lvl="4"/>
            <a:r>
              <a:rPr lang="bg-BG" smtClean="0"/>
              <a:t>Пето ниво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012" y="2209799"/>
            <a:ext cx="36576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bg-BG" smtClean="0"/>
              <a:t>Щракнете, за да редактирате стиловете на текста в образеца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Картина с на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2812" y="1447800"/>
            <a:ext cx="6019800" cy="11430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bg-BG" smtClean="0"/>
              <a:t>Редакт. стил загл. образец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9012" y="914400"/>
            <a:ext cx="3280974" cy="4572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bg-BG" smtClean="0"/>
              <a:t>Щракнете върху иконата, за да добавите картина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2812" y="2777066"/>
            <a:ext cx="6021388" cy="2048933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bg-BG" smtClean="0"/>
              <a:t>Щракнете, за да редактирате стиловете на текста в образеца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 картина с на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smtClean="0"/>
              <a:t>Редакт. стил загл. образец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685800" y="533400"/>
            <a:ext cx="10818812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bg-BG" smtClean="0"/>
              <a:t>Щракнете върху иконата, за да добавите картина</a:t>
            </a:r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2" y="3843867"/>
            <a:ext cx="8304210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bg-BG" smtClean="0"/>
              <a:t>Щракнете, за да редактирате стиловете на текста в образеца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5/27/2026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лавие и на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bg-BG" smtClean="0"/>
              <a:t>Редакт. стил загл. образец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4114800"/>
            <a:ext cx="8535988" cy="18796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bg-BG" smtClean="0"/>
              <a:t>Щракнете, за да редактирате стиловете на текста в образеца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 с на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85800"/>
            <a:ext cx="9144001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bg-BG" smtClean="0"/>
              <a:t>Редакт. стил загл. образец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46212" y="3429000"/>
            <a:ext cx="8534400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bg-BG" smtClean="0"/>
              <a:t>Щракнете, за да редактирате стиловете на текста в образеца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301067"/>
            <a:ext cx="8534400" cy="168486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bg-BG" smtClean="0"/>
              <a:t>Щракнете, за да редактирате стиловете на текста в образеца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ичка с им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3429000"/>
            <a:ext cx="8534400" cy="16974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bg-BG" smtClean="0"/>
              <a:t>Редакт. стил загл. образец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5132981"/>
            <a:ext cx="853599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bg-BG" smtClean="0"/>
              <a:t>Щракнете, за да редактирате стиловете на текста в образеца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ичка с име на цита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85800"/>
            <a:ext cx="9144000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bg-BG" smtClean="0"/>
              <a:t>Редакт. стил загл. образец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bg-BG" smtClean="0"/>
              <a:t>Щракнете, за да редактирате стиловете на текста в образеца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978400"/>
            <a:ext cx="8534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bg-BG" smtClean="0"/>
              <a:t>Щракнете, за да редактирате стиловете на текста в образеца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или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bg-BG" smtClean="0"/>
              <a:t>Редакт. стил загл. образец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bg-BG" smtClean="0"/>
              <a:t>Щракнете, за да редактирате стиловете на текста в образеца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766732"/>
            <a:ext cx="8534401" cy="12276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bg-BG" smtClean="0"/>
              <a:t>Щракнете, за да редактирате стиловете на текста в образеца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лавие и вертикален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bg-BG" smtClean="0"/>
              <a:t>Редакт. стил загл. образец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bg-BG" smtClean="0"/>
              <a:t>Щракнете, за да редактирате стиловете на текста в образеца</a:t>
            </a:r>
          </a:p>
          <a:p>
            <a:pPr lvl="1"/>
            <a:r>
              <a:rPr lang="bg-BG" smtClean="0"/>
              <a:t>Второ ниво</a:t>
            </a:r>
          </a:p>
          <a:p>
            <a:pPr lvl="2"/>
            <a:r>
              <a:rPr lang="bg-BG" smtClean="0"/>
              <a:t>Трето ниво</a:t>
            </a:r>
          </a:p>
          <a:p>
            <a:pPr lvl="3"/>
            <a:r>
              <a:rPr lang="bg-BG" smtClean="0"/>
              <a:t>Четвърто ниво</a:t>
            </a:r>
          </a:p>
          <a:p>
            <a:pPr lvl="4"/>
            <a:r>
              <a:rPr lang="bg-BG" smtClean="0"/>
              <a:t>Пето ниво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но заглавие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5212" y="685800"/>
            <a:ext cx="2057400" cy="4572000"/>
          </a:xfrm>
        </p:spPr>
        <p:txBody>
          <a:bodyPr vert="eaVert"/>
          <a:lstStyle/>
          <a:p>
            <a:r>
              <a:rPr lang="bg-BG" smtClean="0"/>
              <a:t>Редакт. стил загл. образец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85800"/>
            <a:ext cx="7823200" cy="5308600"/>
          </a:xfrm>
        </p:spPr>
        <p:txBody>
          <a:bodyPr vert="eaVert" anchor="t"/>
          <a:lstStyle/>
          <a:p>
            <a:pPr lvl="0"/>
            <a:r>
              <a:rPr lang="bg-BG" smtClean="0"/>
              <a:t>Щракнете, за да редактирате стиловете на текста в образеца</a:t>
            </a:r>
          </a:p>
          <a:p>
            <a:pPr lvl="1"/>
            <a:r>
              <a:rPr lang="bg-BG" smtClean="0"/>
              <a:t>Второ ниво</a:t>
            </a:r>
          </a:p>
          <a:p>
            <a:pPr lvl="2"/>
            <a:r>
              <a:rPr lang="bg-BG" smtClean="0"/>
              <a:t>Трето ниво</a:t>
            </a:r>
          </a:p>
          <a:p>
            <a:pPr lvl="3"/>
            <a:r>
              <a:rPr lang="bg-BG" smtClean="0"/>
              <a:t>Четвърто ниво</a:t>
            </a:r>
          </a:p>
          <a:p>
            <a:pPr lvl="4"/>
            <a:r>
              <a:rPr lang="bg-BG" smtClean="0"/>
              <a:t>Пето ниво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bg-BG" smtClean="0"/>
              <a:t>Редакт. стил загл. образец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685800"/>
            <a:ext cx="8534400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bg-BG" smtClean="0"/>
              <a:t>Щракнете, за да редактирате стиловете на текста в образеца</a:t>
            </a:r>
          </a:p>
          <a:p>
            <a:pPr lvl="1"/>
            <a:r>
              <a:rPr lang="bg-BG" smtClean="0"/>
              <a:t>Второ ниво</a:t>
            </a:r>
          </a:p>
          <a:p>
            <a:pPr lvl="2"/>
            <a:r>
              <a:rPr lang="bg-BG" smtClean="0"/>
              <a:t>Трето ниво</a:t>
            </a:r>
          </a:p>
          <a:p>
            <a:pPr lvl="3"/>
            <a:r>
              <a:rPr lang="bg-BG" smtClean="0"/>
              <a:t>Четвърто ниво</a:t>
            </a:r>
          </a:p>
          <a:p>
            <a:pPr lvl="4"/>
            <a:r>
              <a:rPr lang="bg-BG" smtClean="0"/>
              <a:t>Пето ниво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5/27/2026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2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68" r:id="rId10"/>
    <p:sldLayoutId id="2147483663" r:id="rId11"/>
    <p:sldLayoutId id="2147483664" r:id="rId12"/>
    <p:sldLayoutId id="2147483665" r:id="rId13"/>
    <p:sldLayoutId id="2147483666" r:id="rId14"/>
    <p:sldLayoutId id="2147483667" r:id="rId15"/>
    <p:sldLayoutId id="2147483658" r:id="rId16"/>
    <p:sldLayoutId id="2147483659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/>
          <p:cNvSpPr>
            <a:spLocks noGrp="1"/>
          </p:cNvSpPr>
          <p:nvPr>
            <p:ph type="ctrTitle"/>
          </p:nvPr>
        </p:nvSpPr>
        <p:spPr>
          <a:xfrm>
            <a:off x="722849" y="38637"/>
            <a:ext cx="8001000" cy="2971801"/>
          </a:xfrm>
        </p:spPr>
        <p:txBody>
          <a:bodyPr>
            <a:normAutofit/>
          </a:bodyPr>
          <a:lstStyle/>
          <a:p>
            <a:r>
              <a:rPr lang="bg-BG" sz="6600" b="1" dirty="0"/>
              <a:t>Цел на пътната безопасност</a:t>
            </a:r>
            <a:endParaRPr lang="en-US" sz="6600" b="1" dirty="0"/>
          </a:p>
        </p:txBody>
      </p:sp>
      <p:sp>
        <p:nvSpPr>
          <p:cNvPr id="3" name="Подзаглавие 2"/>
          <p:cNvSpPr>
            <a:spLocks noGrp="1"/>
          </p:cNvSpPr>
          <p:nvPr>
            <p:ph type="subTitle" idx="1"/>
          </p:nvPr>
        </p:nvSpPr>
        <p:spPr>
          <a:xfrm>
            <a:off x="3466049" y="3972657"/>
            <a:ext cx="6400800" cy="1947333"/>
          </a:xfrm>
        </p:spPr>
        <p:txBody>
          <a:bodyPr>
            <a:normAutofit/>
          </a:bodyPr>
          <a:lstStyle/>
          <a:p>
            <a:r>
              <a:rPr lang="bg-BG" sz="2800" dirty="0">
                <a:solidFill>
                  <a:schemeClr val="tx1"/>
                </a:solidFill>
              </a:rPr>
              <a:t>и</a:t>
            </a:r>
            <a:r>
              <a:rPr lang="bg-BG" sz="2800" dirty="0" smtClean="0">
                <a:solidFill>
                  <a:schemeClr val="tx1"/>
                </a:solidFill>
              </a:rPr>
              <a:t>зготвил: Алекс Нинов</a:t>
            </a:r>
            <a:endParaRPr lang="en-US" sz="28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412048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/>
          <p:cNvSpPr>
            <a:spLocks noGrp="1"/>
          </p:cNvSpPr>
          <p:nvPr>
            <p:ph type="title"/>
          </p:nvPr>
        </p:nvSpPr>
        <p:spPr>
          <a:xfrm>
            <a:off x="1559975" y="0"/>
            <a:ext cx="8534400" cy="1507067"/>
          </a:xfrm>
        </p:spPr>
        <p:txBody>
          <a:bodyPr/>
          <a:lstStyle/>
          <a:p>
            <a:pPr algn="ctr"/>
            <a:r>
              <a:rPr lang="bg-BG" sz="4800" b="1" dirty="0"/>
              <a:t>Увод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3" name="Контейнер за съдържание 2"/>
          <p:cNvSpPr>
            <a:spLocks noGrp="1"/>
          </p:cNvSpPr>
          <p:nvPr>
            <p:ph idx="1"/>
          </p:nvPr>
        </p:nvSpPr>
        <p:spPr>
          <a:xfrm>
            <a:off x="40268" y="1110801"/>
            <a:ext cx="8768881" cy="5341514"/>
          </a:xfrm>
        </p:spPr>
        <p:txBody>
          <a:bodyPr>
            <a:normAutofit lnSpcReduction="10000"/>
          </a:bodyPr>
          <a:lstStyle/>
          <a:p>
            <a:r>
              <a:rPr lang="bg-BG" sz="2400" dirty="0">
                <a:solidFill>
                  <a:schemeClr val="tx1"/>
                </a:solidFill>
              </a:rPr>
              <a:t>Пътната безопасност е един от най-важните обществени приоритети в съвременния свят. Всекидневно милиони хора участват в движението по пътищата като водачи, пешеходци, велосипедисти и пътници. Увеличаването на броя на моторните превозни средства и интензивността на движението водят до повишен риск от пътнотранспортни произшествия</a:t>
            </a:r>
            <a:r>
              <a:rPr lang="bg-BG" sz="2400" dirty="0" smtClean="0">
                <a:solidFill>
                  <a:schemeClr val="tx1"/>
                </a:solidFill>
              </a:rPr>
              <a:t>.</a:t>
            </a:r>
          </a:p>
          <a:p>
            <a:r>
              <a:rPr lang="bg-BG" sz="2400" dirty="0">
                <a:solidFill>
                  <a:schemeClr val="tx1"/>
                </a:solidFill>
              </a:rPr>
              <a:t>Основната цел на пътната безопасност е опазването на живота и здравето на хората чрез предотвратяване на пътни инциденти и намаляване на последствията от тях. За постигането на тази цел е необходимо изграждане на знания, умения, дисциплина и отговорност у всички участници в </a:t>
            </a:r>
            <a:r>
              <a:rPr lang="bg-BG" sz="2400" dirty="0" smtClean="0">
                <a:solidFill>
                  <a:schemeClr val="tx1"/>
                </a:solidFill>
              </a:rPr>
              <a:t>движението.</a:t>
            </a:r>
            <a:endParaRPr lang="en-US" sz="2400" dirty="0">
              <a:solidFill>
                <a:schemeClr val="tx1"/>
              </a:solidFill>
            </a:endParaRPr>
          </a:p>
          <a:p>
            <a:endParaRPr lang="en-US" dirty="0"/>
          </a:p>
        </p:txBody>
      </p:sp>
      <p:sp>
        <p:nvSpPr>
          <p:cNvPr id="4" name="AutoShape 6" descr="Институтът за пътна безопасност предлага мерки за намаляване на катастрофите"/>
          <p:cNvSpPr>
            <a:spLocks noChangeAspect="1" noChangeArrowheads="1"/>
          </p:cNvSpPr>
          <p:nvPr/>
        </p:nvSpPr>
        <p:spPr bwMode="auto">
          <a:xfrm>
            <a:off x="10754887" y="914400"/>
            <a:ext cx="2323981" cy="23239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" name="AutoShape 8" descr="Институтът за пътна безопасност предлага мерки за намаляване на катастрофите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34" name="Picture 10" descr="Как се поставя предупредителния триъгълник | Top Rent A Car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09149" y="3374265"/>
            <a:ext cx="3245476" cy="3206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64550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/>
          <p:cNvSpPr>
            <a:spLocks noGrp="1"/>
          </p:cNvSpPr>
          <p:nvPr>
            <p:ph type="title"/>
          </p:nvPr>
        </p:nvSpPr>
        <p:spPr>
          <a:xfrm>
            <a:off x="928908" y="0"/>
            <a:ext cx="10662076" cy="1507067"/>
          </a:xfrm>
        </p:spPr>
        <p:txBody>
          <a:bodyPr>
            <a:normAutofit/>
          </a:bodyPr>
          <a:lstStyle/>
          <a:p>
            <a:pPr algn="ctr"/>
            <a:r>
              <a:rPr lang="bg-BG" sz="4000" b="1" dirty="0"/>
              <a:t>Същност на пътната безопасност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3" name="Контейнер за съдържание 2"/>
          <p:cNvSpPr>
            <a:spLocks noGrp="1"/>
          </p:cNvSpPr>
          <p:nvPr>
            <p:ph idx="1"/>
          </p:nvPr>
        </p:nvSpPr>
        <p:spPr>
          <a:xfrm>
            <a:off x="169057" y="1287889"/>
            <a:ext cx="7313568" cy="5112436"/>
          </a:xfrm>
        </p:spPr>
        <p:txBody>
          <a:bodyPr>
            <a:normAutofit/>
          </a:bodyPr>
          <a:lstStyle/>
          <a:p>
            <a:r>
              <a:rPr lang="bg-BG" b="1" dirty="0" smtClean="0">
                <a:solidFill>
                  <a:schemeClr val="tx1"/>
                </a:solidFill>
              </a:rPr>
              <a:t>Пътната </a:t>
            </a:r>
            <a:r>
              <a:rPr lang="bg-BG" b="1" dirty="0">
                <a:solidFill>
                  <a:schemeClr val="tx1"/>
                </a:solidFill>
              </a:rPr>
              <a:t>безопасност представлява система от мерки, правила и дейности, насочени към осигуряване на сигурно и организирано движение по пътищата. Тя включва:</a:t>
            </a:r>
            <a:endParaRPr lang="en-US" b="1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bg-BG" b="1" dirty="0" smtClean="0">
                <a:solidFill>
                  <a:schemeClr val="tx1"/>
                </a:solidFill>
              </a:rPr>
              <a:t>  * </a:t>
            </a:r>
            <a:r>
              <a:rPr lang="bg-BG" b="1" dirty="0">
                <a:solidFill>
                  <a:schemeClr val="tx1"/>
                </a:solidFill>
              </a:rPr>
              <a:t>спазване на законите и правилата за движение;</a:t>
            </a:r>
            <a:endParaRPr lang="en-US" b="1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bg-BG" b="1" dirty="0" smtClean="0">
                <a:solidFill>
                  <a:schemeClr val="tx1"/>
                </a:solidFill>
              </a:rPr>
              <a:t>  * </a:t>
            </a:r>
            <a:r>
              <a:rPr lang="bg-BG" b="1" dirty="0">
                <a:solidFill>
                  <a:schemeClr val="tx1"/>
                </a:solidFill>
              </a:rPr>
              <a:t>правилна организация на пътната инфраструктура;</a:t>
            </a:r>
            <a:endParaRPr lang="en-US" b="1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bg-BG" b="1" dirty="0" smtClean="0">
                <a:solidFill>
                  <a:schemeClr val="tx1"/>
                </a:solidFill>
              </a:rPr>
              <a:t>  * </a:t>
            </a:r>
            <a:r>
              <a:rPr lang="bg-BG" b="1" dirty="0">
                <a:solidFill>
                  <a:schemeClr val="tx1"/>
                </a:solidFill>
              </a:rPr>
              <a:t>техническа изправност на превозните средства;</a:t>
            </a:r>
            <a:endParaRPr lang="en-US" b="1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bg-BG" b="1" dirty="0" smtClean="0">
                <a:solidFill>
                  <a:schemeClr val="tx1"/>
                </a:solidFill>
              </a:rPr>
              <a:t>  * </a:t>
            </a:r>
            <a:r>
              <a:rPr lang="bg-BG" b="1" dirty="0">
                <a:solidFill>
                  <a:schemeClr val="tx1"/>
                </a:solidFill>
              </a:rPr>
              <a:t>обучение и подготовка на водачите;</a:t>
            </a:r>
            <a:endParaRPr lang="en-US" b="1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bg-BG" b="1" dirty="0" smtClean="0">
                <a:solidFill>
                  <a:schemeClr val="tx1"/>
                </a:solidFill>
              </a:rPr>
              <a:t>  * </a:t>
            </a:r>
            <a:r>
              <a:rPr lang="bg-BG" b="1" dirty="0">
                <a:solidFill>
                  <a:schemeClr val="tx1"/>
                </a:solidFill>
              </a:rPr>
              <a:t>контрол върху движението.</a:t>
            </a:r>
            <a:endParaRPr lang="en-US" b="1" dirty="0">
              <a:solidFill>
                <a:schemeClr val="tx1"/>
              </a:solidFill>
            </a:endParaRPr>
          </a:p>
          <a:p>
            <a:r>
              <a:rPr lang="bg-BG" b="1" dirty="0">
                <a:solidFill>
                  <a:schemeClr val="tx1"/>
                </a:solidFill>
              </a:rPr>
              <a:t>Безопасността на пътя е обща отговорност. Всеки участник в движението има задължение да пази както своя живот, така и живота на останалите.</a:t>
            </a:r>
            <a:endParaRPr lang="en-US" b="1" dirty="0">
              <a:solidFill>
                <a:schemeClr val="tx1"/>
              </a:solidFill>
            </a:endParaRPr>
          </a:p>
          <a:p>
            <a:endParaRPr lang="en-US" dirty="0"/>
          </a:p>
        </p:txBody>
      </p:sp>
      <p:pic>
        <p:nvPicPr>
          <p:cNvPr id="2050" name="Picture 2" descr="Пътна безопасност F37011 | Образователен фототапет по размер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82625" y="1700251"/>
            <a:ext cx="4481847" cy="34126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038627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/>
          <p:cNvSpPr>
            <a:spLocks noGrp="1"/>
          </p:cNvSpPr>
          <p:nvPr>
            <p:ph type="title"/>
          </p:nvPr>
        </p:nvSpPr>
        <p:spPr>
          <a:xfrm>
            <a:off x="259208" y="141668"/>
            <a:ext cx="11507788" cy="1507067"/>
          </a:xfrm>
        </p:spPr>
        <p:txBody>
          <a:bodyPr>
            <a:normAutofit/>
          </a:bodyPr>
          <a:lstStyle/>
          <a:p>
            <a:pPr algn="ctr"/>
            <a:r>
              <a:rPr lang="bg-BG" sz="4000" b="1" dirty="0"/>
              <a:t>Основни цели на пътната безопасност</a:t>
            </a:r>
            <a:r>
              <a:rPr lang="en-US" sz="4000" dirty="0"/>
              <a:t/>
            </a:r>
            <a:br>
              <a:rPr lang="en-US" sz="4000" dirty="0"/>
            </a:br>
            <a:endParaRPr lang="en-US" sz="4000" dirty="0"/>
          </a:p>
        </p:txBody>
      </p:sp>
      <p:sp>
        <p:nvSpPr>
          <p:cNvPr id="3" name="Контейнер за съдържание 2"/>
          <p:cNvSpPr>
            <a:spLocks noGrp="1"/>
          </p:cNvSpPr>
          <p:nvPr>
            <p:ph idx="1"/>
          </p:nvPr>
        </p:nvSpPr>
        <p:spPr>
          <a:xfrm>
            <a:off x="259208" y="1374820"/>
            <a:ext cx="7751451" cy="5483180"/>
          </a:xfrm>
        </p:spPr>
        <p:txBody>
          <a:bodyPr>
            <a:normAutofit fontScale="85000" lnSpcReduction="20000"/>
          </a:bodyPr>
          <a:lstStyle/>
          <a:p>
            <a:r>
              <a:rPr lang="bg-BG" sz="2600" b="1" dirty="0">
                <a:solidFill>
                  <a:schemeClr val="tx1"/>
                </a:solidFill>
              </a:rPr>
              <a:t>1. Опазване живота и здравето на хората</a:t>
            </a:r>
            <a:endParaRPr lang="en-US" sz="2600" b="1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bg-BG" b="1" dirty="0" smtClean="0">
                <a:solidFill>
                  <a:schemeClr val="tx1"/>
                </a:solidFill>
              </a:rPr>
              <a:t>Най-важната </a:t>
            </a:r>
            <a:r>
              <a:rPr lang="bg-BG" b="1" dirty="0">
                <a:solidFill>
                  <a:schemeClr val="tx1"/>
                </a:solidFill>
              </a:rPr>
              <a:t>цел на пътната безопасност е предотвратяването на човешки жертви и наранявания. Всеки пътен инцидент може да има тежки последици както за пострадалите, така и за техните семейства и обществото.</a:t>
            </a:r>
            <a:endParaRPr lang="en-US" b="1" dirty="0">
              <a:solidFill>
                <a:schemeClr val="tx1"/>
              </a:solidFill>
            </a:endParaRPr>
          </a:p>
          <a:p>
            <a:r>
              <a:rPr lang="bg-BG" sz="2600" b="1" dirty="0">
                <a:solidFill>
                  <a:schemeClr val="tx1"/>
                </a:solidFill>
              </a:rPr>
              <a:t>2. Намаляване на пътнотранспортните </a:t>
            </a:r>
            <a:r>
              <a:rPr lang="bg-BG" sz="2600" b="1" dirty="0" smtClean="0">
                <a:solidFill>
                  <a:schemeClr val="tx1"/>
                </a:solidFill>
              </a:rPr>
              <a:t>произшествия</a:t>
            </a:r>
          </a:p>
          <a:p>
            <a:pPr marL="0" indent="0">
              <a:buNone/>
            </a:pPr>
            <a:r>
              <a:rPr lang="bg-BG" b="1" dirty="0">
                <a:solidFill>
                  <a:schemeClr val="tx1"/>
                </a:solidFill>
              </a:rPr>
              <a:t>Чрез спазване на правилата, добра организация на движението и повишен контрол може значително да се намали броят на катастрофите. Особено важно е ограничаването на</a:t>
            </a:r>
            <a:r>
              <a:rPr lang="bg-BG" b="1" dirty="0" smtClean="0">
                <a:solidFill>
                  <a:schemeClr val="tx1"/>
                </a:solidFill>
              </a:rPr>
              <a:t>:</a:t>
            </a:r>
          </a:p>
          <a:p>
            <a:pPr marL="0" indent="0">
              <a:buNone/>
            </a:pPr>
            <a:r>
              <a:rPr lang="bg-BG" b="1" dirty="0">
                <a:solidFill>
                  <a:schemeClr val="tx1"/>
                </a:solidFill>
              </a:rPr>
              <a:t>* превишената скорост;</a:t>
            </a:r>
            <a:endParaRPr lang="en-US" b="1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bg-BG" b="1" dirty="0">
                <a:solidFill>
                  <a:schemeClr val="tx1"/>
                </a:solidFill>
              </a:rPr>
              <a:t>* употребата на алкохол и наркотични вещества;</a:t>
            </a:r>
            <a:endParaRPr lang="en-US" b="1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bg-BG" b="1" dirty="0">
                <a:solidFill>
                  <a:schemeClr val="tx1"/>
                </a:solidFill>
              </a:rPr>
              <a:t>* използването на мобилни устройства по време на управление;</a:t>
            </a:r>
            <a:endParaRPr lang="en-US" b="1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bg-BG" b="1" dirty="0">
                <a:solidFill>
                  <a:schemeClr val="tx1"/>
                </a:solidFill>
              </a:rPr>
              <a:t>* агресивното поведение на пътя</a:t>
            </a:r>
            <a:endParaRPr lang="en-US" b="1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bg-BG" b="1" dirty="0" smtClean="0">
              <a:solidFill>
                <a:schemeClr val="tx1"/>
              </a:solidFill>
            </a:endParaRPr>
          </a:p>
          <a:p>
            <a:endParaRPr lang="en-US" b="1" dirty="0" smtClean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bg-BG" b="1" dirty="0" smtClean="0"/>
              <a:t> </a:t>
            </a:r>
            <a:endParaRPr lang="en-US" b="1" dirty="0" smtClean="0"/>
          </a:p>
          <a:p>
            <a:endParaRPr lang="en-US" dirty="0"/>
          </a:p>
        </p:txBody>
      </p:sp>
      <p:pic>
        <p:nvPicPr>
          <p:cNvPr id="3074" name="Picture 2" descr="➧ Използването на мобилни телефони по време на шофиране... ✦ БЛОГ Автонет  БГ | Avtonet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24462" y="3940935"/>
            <a:ext cx="4328732" cy="26103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681584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/>
          <p:cNvSpPr>
            <a:spLocks noGrp="1"/>
          </p:cNvSpPr>
          <p:nvPr>
            <p:ph type="title"/>
          </p:nvPr>
        </p:nvSpPr>
        <p:spPr>
          <a:xfrm>
            <a:off x="310724" y="231820"/>
            <a:ext cx="11653749" cy="1486794"/>
          </a:xfrm>
        </p:spPr>
        <p:txBody>
          <a:bodyPr>
            <a:normAutofit/>
          </a:bodyPr>
          <a:lstStyle/>
          <a:p>
            <a:pPr algn="ctr"/>
            <a:r>
              <a:rPr lang="bg-BG" sz="4400" b="1" dirty="0" smtClean="0"/>
              <a:t> </a:t>
            </a:r>
            <a:r>
              <a:rPr lang="bg-BG" sz="4400" b="1" dirty="0"/>
              <a:t>Формиране на култура на движение</a:t>
            </a:r>
            <a:r>
              <a:rPr lang="en-US" sz="4400" dirty="0"/>
              <a:t/>
            </a:r>
            <a:br>
              <a:rPr lang="en-US" sz="4400" dirty="0"/>
            </a:br>
            <a:endParaRPr lang="en-US" sz="4400" dirty="0"/>
          </a:p>
        </p:txBody>
      </p:sp>
      <p:sp>
        <p:nvSpPr>
          <p:cNvPr id="3" name="Контейнер за съдържание 2"/>
          <p:cNvSpPr>
            <a:spLocks noGrp="1"/>
          </p:cNvSpPr>
          <p:nvPr>
            <p:ph idx="1"/>
          </p:nvPr>
        </p:nvSpPr>
        <p:spPr>
          <a:xfrm>
            <a:off x="1484033" y="106251"/>
            <a:ext cx="8534400" cy="3615267"/>
          </a:xfrm>
        </p:spPr>
        <p:txBody>
          <a:bodyPr/>
          <a:lstStyle/>
          <a:p>
            <a:r>
              <a:rPr lang="ru-RU" b="1" dirty="0" err="1">
                <a:solidFill>
                  <a:schemeClr val="tx1"/>
                </a:solidFill>
              </a:rPr>
              <a:t>Пътната</a:t>
            </a:r>
            <a:r>
              <a:rPr lang="ru-RU" b="1" dirty="0">
                <a:solidFill>
                  <a:schemeClr val="tx1"/>
                </a:solidFill>
              </a:rPr>
              <a:t> </a:t>
            </a:r>
            <a:r>
              <a:rPr lang="ru-RU" b="1" dirty="0" err="1">
                <a:solidFill>
                  <a:schemeClr val="tx1"/>
                </a:solidFill>
              </a:rPr>
              <a:t>безопасност</a:t>
            </a:r>
            <a:r>
              <a:rPr lang="ru-RU" b="1" dirty="0">
                <a:solidFill>
                  <a:schemeClr val="tx1"/>
                </a:solidFill>
              </a:rPr>
              <a:t> цели </a:t>
            </a:r>
            <a:r>
              <a:rPr lang="ru-RU" b="1" dirty="0" err="1">
                <a:solidFill>
                  <a:schemeClr val="tx1"/>
                </a:solidFill>
              </a:rPr>
              <a:t>изграждането</a:t>
            </a:r>
            <a:r>
              <a:rPr lang="ru-RU" b="1" dirty="0">
                <a:solidFill>
                  <a:schemeClr val="tx1"/>
                </a:solidFill>
              </a:rPr>
              <a:t> на дисциплина, </a:t>
            </a:r>
            <a:r>
              <a:rPr lang="ru-RU" b="1" dirty="0" err="1">
                <a:solidFill>
                  <a:schemeClr val="tx1"/>
                </a:solidFill>
              </a:rPr>
              <a:t>толерантност</a:t>
            </a:r>
            <a:r>
              <a:rPr lang="ru-RU" b="1" dirty="0">
                <a:solidFill>
                  <a:schemeClr val="tx1"/>
                </a:solidFill>
              </a:rPr>
              <a:t> и уважение между </a:t>
            </a:r>
            <a:r>
              <a:rPr lang="ru-RU" b="1" dirty="0" err="1">
                <a:solidFill>
                  <a:schemeClr val="tx1"/>
                </a:solidFill>
              </a:rPr>
              <a:t>участниците</a:t>
            </a:r>
            <a:r>
              <a:rPr lang="ru-RU" b="1" dirty="0">
                <a:solidFill>
                  <a:schemeClr val="tx1"/>
                </a:solidFill>
              </a:rPr>
              <a:t> в </a:t>
            </a:r>
            <a:r>
              <a:rPr lang="ru-RU" b="1" dirty="0" err="1">
                <a:solidFill>
                  <a:schemeClr val="tx1"/>
                </a:solidFill>
              </a:rPr>
              <a:t>движението</a:t>
            </a:r>
            <a:r>
              <a:rPr lang="ru-RU" b="1" dirty="0">
                <a:solidFill>
                  <a:schemeClr val="tx1"/>
                </a:solidFill>
              </a:rPr>
              <a:t>. </a:t>
            </a:r>
            <a:r>
              <a:rPr lang="ru-RU" b="1" dirty="0" err="1">
                <a:solidFill>
                  <a:schemeClr val="tx1"/>
                </a:solidFill>
              </a:rPr>
              <a:t>Добрата</a:t>
            </a:r>
            <a:r>
              <a:rPr lang="ru-RU" b="1" dirty="0">
                <a:solidFill>
                  <a:schemeClr val="tx1"/>
                </a:solidFill>
              </a:rPr>
              <a:t> </a:t>
            </a:r>
            <a:r>
              <a:rPr lang="ru-RU" b="1" dirty="0" err="1">
                <a:solidFill>
                  <a:schemeClr val="tx1"/>
                </a:solidFill>
              </a:rPr>
              <a:t>пътна</a:t>
            </a:r>
            <a:r>
              <a:rPr lang="ru-RU" b="1" dirty="0">
                <a:solidFill>
                  <a:schemeClr val="tx1"/>
                </a:solidFill>
              </a:rPr>
              <a:t> </a:t>
            </a:r>
            <a:r>
              <a:rPr lang="ru-RU" b="1" dirty="0" err="1">
                <a:solidFill>
                  <a:schemeClr val="tx1"/>
                </a:solidFill>
              </a:rPr>
              <a:t>култура</a:t>
            </a:r>
            <a:r>
              <a:rPr lang="ru-RU" b="1" dirty="0">
                <a:solidFill>
                  <a:schemeClr val="tx1"/>
                </a:solidFill>
              </a:rPr>
              <a:t> </a:t>
            </a:r>
            <a:r>
              <a:rPr lang="ru-RU" b="1" dirty="0" err="1">
                <a:solidFill>
                  <a:schemeClr val="tx1"/>
                </a:solidFill>
              </a:rPr>
              <a:t>създава</a:t>
            </a:r>
            <a:r>
              <a:rPr lang="ru-RU" b="1" dirty="0">
                <a:solidFill>
                  <a:schemeClr val="tx1"/>
                </a:solidFill>
              </a:rPr>
              <a:t> спокойна и </a:t>
            </a:r>
            <a:r>
              <a:rPr lang="ru-RU" b="1" dirty="0" err="1">
                <a:solidFill>
                  <a:schemeClr val="tx1"/>
                </a:solidFill>
              </a:rPr>
              <a:t>сигурна</a:t>
            </a:r>
            <a:r>
              <a:rPr lang="ru-RU" b="1" dirty="0">
                <a:solidFill>
                  <a:schemeClr val="tx1"/>
                </a:solidFill>
              </a:rPr>
              <a:t> среда за </a:t>
            </a:r>
            <a:r>
              <a:rPr lang="ru-RU" b="1" dirty="0" err="1">
                <a:solidFill>
                  <a:schemeClr val="tx1"/>
                </a:solidFill>
              </a:rPr>
              <a:t>всички</a:t>
            </a:r>
            <a:r>
              <a:rPr lang="ru-RU" b="1" dirty="0">
                <a:solidFill>
                  <a:schemeClr val="tx1"/>
                </a:solidFill>
              </a:rPr>
              <a:t>.</a:t>
            </a:r>
            <a:endParaRPr lang="en-US" b="1" dirty="0">
              <a:solidFill>
                <a:schemeClr val="tx1"/>
              </a:solidFill>
            </a:endParaRPr>
          </a:p>
        </p:txBody>
      </p:sp>
      <p:pic>
        <p:nvPicPr>
          <p:cNvPr id="4102" name="Picture 6" descr="Шофьор на деца до училище и частни уроци | Транспортни, Хамалски | София  Ние сме фирма за ..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6101" y="2717442"/>
            <a:ext cx="9753600" cy="37819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103165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/>
          <p:cNvSpPr>
            <a:spLocks noGrp="1"/>
          </p:cNvSpPr>
          <p:nvPr>
            <p:ph type="title"/>
          </p:nvPr>
        </p:nvSpPr>
        <p:spPr>
          <a:xfrm>
            <a:off x="306430" y="0"/>
            <a:ext cx="11885570" cy="1507067"/>
          </a:xfrm>
        </p:spPr>
        <p:txBody>
          <a:bodyPr>
            <a:normAutofit/>
          </a:bodyPr>
          <a:lstStyle/>
          <a:p>
            <a:r>
              <a:rPr lang="bg-BG" sz="4000" b="1" dirty="0"/>
              <a:t>Подобряване на обучението на водачите</a:t>
            </a:r>
            <a:endParaRPr lang="en-US" sz="4000" dirty="0"/>
          </a:p>
        </p:txBody>
      </p:sp>
      <p:sp>
        <p:nvSpPr>
          <p:cNvPr id="3" name="Контейнер за съдържание 2"/>
          <p:cNvSpPr>
            <a:spLocks noGrp="1"/>
          </p:cNvSpPr>
          <p:nvPr>
            <p:ph idx="1"/>
          </p:nvPr>
        </p:nvSpPr>
        <p:spPr>
          <a:xfrm>
            <a:off x="0" y="1738647"/>
            <a:ext cx="9066727" cy="4288187"/>
          </a:xfrm>
        </p:spPr>
        <p:txBody>
          <a:bodyPr>
            <a:normAutofit fontScale="85000" lnSpcReduction="20000"/>
          </a:bodyPr>
          <a:lstStyle/>
          <a:p>
            <a:r>
              <a:rPr lang="bg-BG" sz="2300" b="1" dirty="0">
                <a:solidFill>
                  <a:schemeClr val="tx1"/>
                </a:solidFill>
              </a:rPr>
              <a:t>Качественото обучение на кандидат-водачите е важна част от пътната безопасност. Инструкторите имат ключова роля за изграждането на правилни навици, отговорност и умения за реакция в различни ситуации</a:t>
            </a:r>
            <a:r>
              <a:rPr lang="bg-BG" sz="2300" b="1" dirty="0" smtClean="0">
                <a:solidFill>
                  <a:schemeClr val="tx1"/>
                </a:solidFill>
              </a:rPr>
              <a:t>.</a:t>
            </a:r>
          </a:p>
          <a:p>
            <a:pPr marL="0" indent="0">
              <a:buNone/>
            </a:pPr>
            <a:r>
              <a:rPr lang="ru-RU" sz="2300" b="1" dirty="0" smtClean="0">
                <a:solidFill>
                  <a:schemeClr val="tx1"/>
                </a:solidFill>
              </a:rPr>
              <a:t>     </a:t>
            </a:r>
            <a:r>
              <a:rPr lang="ru-RU" sz="2300" b="1" dirty="0" err="1" smtClean="0">
                <a:solidFill>
                  <a:schemeClr val="tx1"/>
                </a:solidFill>
              </a:rPr>
              <a:t>Основните</a:t>
            </a:r>
            <a:r>
              <a:rPr lang="ru-RU" sz="2300" b="1" dirty="0" smtClean="0">
                <a:solidFill>
                  <a:schemeClr val="tx1"/>
                </a:solidFill>
              </a:rPr>
              <a:t> </a:t>
            </a:r>
            <a:r>
              <a:rPr lang="ru-RU" sz="2300" b="1" dirty="0">
                <a:solidFill>
                  <a:schemeClr val="tx1"/>
                </a:solidFill>
              </a:rPr>
              <a:t>задачи на инструктора </a:t>
            </a:r>
            <a:r>
              <a:rPr lang="ru-RU" sz="2300" b="1" dirty="0" err="1">
                <a:solidFill>
                  <a:schemeClr val="tx1"/>
                </a:solidFill>
              </a:rPr>
              <a:t>са</a:t>
            </a:r>
            <a:r>
              <a:rPr lang="ru-RU" sz="2300" b="1" dirty="0">
                <a:solidFill>
                  <a:schemeClr val="tx1"/>
                </a:solidFill>
              </a:rPr>
              <a:t>:</a:t>
            </a:r>
          </a:p>
          <a:p>
            <a:pPr marL="0" indent="0">
              <a:buNone/>
            </a:pPr>
            <a:r>
              <a:rPr lang="ru-RU" sz="2300" b="1" dirty="0" smtClean="0">
                <a:solidFill>
                  <a:schemeClr val="tx1"/>
                </a:solidFill>
              </a:rPr>
              <a:t>       * </a:t>
            </a:r>
            <a:r>
              <a:rPr lang="ru-RU" sz="2300" b="1" dirty="0">
                <a:solidFill>
                  <a:schemeClr val="tx1"/>
                </a:solidFill>
              </a:rPr>
              <a:t>да </a:t>
            </a:r>
            <a:r>
              <a:rPr lang="ru-RU" sz="2300" b="1" dirty="0" err="1">
                <a:solidFill>
                  <a:schemeClr val="tx1"/>
                </a:solidFill>
              </a:rPr>
              <a:t>обучава</a:t>
            </a:r>
            <a:r>
              <a:rPr lang="ru-RU" sz="2300" b="1" dirty="0">
                <a:solidFill>
                  <a:schemeClr val="tx1"/>
                </a:solidFill>
              </a:rPr>
              <a:t> </a:t>
            </a:r>
            <a:r>
              <a:rPr lang="ru-RU" sz="2300" b="1" dirty="0" err="1">
                <a:solidFill>
                  <a:schemeClr val="tx1"/>
                </a:solidFill>
              </a:rPr>
              <a:t>курсистите</a:t>
            </a:r>
            <a:r>
              <a:rPr lang="ru-RU" sz="2300" b="1" dirty="0">
                <a:solidFill>
                  <a:schemeClr val="tx1"/>
                </a:solidFill>
              </a:rPr>
              <a:t> в </a:t>
            </a:r>
            <a:r>
              <a:rPr lang="ru-RU" sz="2300" b="1" dirty="0" err="1">
                <a:solidFill>
                  <a:schemeClr val="tx1"/>
                </a:solidFill>
              </a:rPr>
              <a:t>правилата</a:t>
            </a:r>
            <a:r>
              <a:rPr lang="ru-RU" sz="2300" b="1" dirty="0">
                <a:solidFill>
                  <a:schemeClr val="tx1"/>
                </a:solidFill>
              </a:rPr>
              <a:t> за движение;</a:t>
            </a:r>
          </a:p>
          <a:p>
            <a:pPr marL="0" indent="0">
              <a:buNone/>
            </a:pPr>
            <a:r>
              <a:rPr lang="ru-RU" sz="2300" b="1" dirty="0" smtClean="0">
                <a:solidFill>
                  <a:schemeClr val="tx1"/>
                </a:solidFill>
              </a:rPr>
              <a:t>       * </a:t>
            </a:r>
            <a:r>
              <a:rPr lang="ru-RU" sz="2300" b="1" dirty="0">
                <a:solidFill>
                  <a:schemeClr val="tx1"/>
                </a:solidFill>
              </a:rPr>
              <a:t>да </a:t>
            </a:r>
            <a:r>
              <a:rPr lang="ru-RU" sz="2300" b="1" dirty="0" err="1">
                <a:solidFill>
                  <a:schemeClr val="tx1"/>
                </a:solidFill>
              </a:rPr>
              <a:t>развива</a:t>
            </a:r>
            <a:r>
              <a:rPr lang="ru-RU" sz="2300" b="1" dirty="0">
                <a:solidFill>
                  <a:schemeClr val="tx1"/>
                </a:solidFill>
              </a:rPr>
              <a:t> практически умения;</a:t>
            </a:r>
          </a:p>
          <a:p>
            <a:pPr marL="0" indent="0">
              <a:buNone/>
            </a:pPr>
            <a:r>
              <a:rPr lang="ru-RU" sz="2300" b="1" dirty="0" smtClean="0">
                <a:solidFill>
                  <a:schemeClr val="tx1"/>
                </a:solidFill>
              </a:rPr>
              <a:t>       * </a:t>
            </a:r>
            <a:r>
              <a:rPr lang="ru-RU" sz="2300" b="1" dirty="0">
                <a:solidFill>
                  <a:schemeClr val="tx1"/>
                </a:solidFill>
              </a:rPr>
              <a:t>да </a:t>
            </a:r>
            <a:r>
              <a:rPr lang="ru-RU" sz="2300" b="1" dirty="0" err="1">
                <a:solidFill>
                  <a:schemeClr val="tx1"/>
                </a:solidFill>
              </a:rPr>
              <a:t>възпитава</a:t>
            </a:r>
            <a:r>
              <a:rPr lang="ru-RU" sz="2300" b="1" dirty="0">
                <a:solidFill>
                  <a:schemeClr val="tx1"/>
                </a:solidFill>
              </a:rPr>
              <a:t> дисциплина и </a:t>
            </a:r>
            <a:r>
              <a:rPr lang="ru-RU" sz="2300" b="1" dirty="0" err="1">
                <a:solidFill>
                  <a:schemeClr val="tx1"/>
                </a:solidFill>
              </a:rPr>
              <a:t>самоконтрол</a:t>
            </a:r>
            <a:r>
              <a:rPr lang="ru-RU" sz="2300" b="1" dirty="0">
                <a:solidFill>
                  <a:schemeClr val="tx1"/>
                </a:solidFill>
              </a:rPr>
              <a:t>;</a:t>
            </a:r>
          </a:p>
          <a:p>
            <a:pPr marL="0" indent="0">
              <a:buNone/>
            </a:pPr>
            <a:r>
              <a:rPr lang="ru-RU" sz="2300" b="1" dirty="0" smtClean="0">
                <a:solidFill>
                  <a:schemeClr val="tx1"/>
                </a:solidFill>
              </a:rPr>
              <a:t>       * </a:t>
            </a:r>
            <a:r>
              <a:rPr lang="ru-RU" sz="2300" b="1" dirty="0">
                <a:solidFill>
                  <a:schemeClr val="tx1"/>
                </a:solidFill>
              </a:rPr>
              <a:t>да </a:t>
            </a:r>
            <a:r>
              <a:rPr lang="ru-RU" sz="2300" b="1" dirty="0" err="1">
                <a:solidFill>
                  <a:schemeClr val="tx1"/>
                </a:solidFill>
              </a:rPr>
              <a:t>насърчава</a:t>
            </a:r>
            <a:r>
              <a:rPr lang="ru-RU" sz="2300" b="1" dirty="0">
                <a:solidFill>
                  <a:schemeClr val="tx1"/>
                </a:solidFill>
              </a:rPr>
              <a:t> </a:t>
            </a:r>
            <a:r>
              <a:rPr lang="ru-RU" sz="2300" b="1" dirty="0" err="1">
                <a:solidFill>
                  <a:schemeClr val="tx1"/>
                </a:solidFill>
              </a:rPr>
              <a:t>отговорно</a:t>
            </a:r>
            <a:r>
              <a:rPr lang="ru-RU" sz="2300" b="1" dirty="0">
                <a:solidFill>
                  <a:schemeClr val="tx1"/>
                </a:solidFill>
              </a:rPr>
              <a:t> поведение на </a:t>
            </a:r>
            <a:r>
              <a:rPr lang="ru-RU" sz="2300" b="1" dirty="0" err="1">
                <a:solidFill>
                  <a:schemeClr val="tx1"/>
                </a:solidFill>
              </a:rPr>
              <a:t>пътя</a:t>
            </a:r>
            <a:r>
              <a:rPr lang="ru-RU" sz="2300" b="1" dirty="0">
                <a:solidFill>
                  <a:schemeClr val="tx1"/>
                </a:solidFill>
              </a:rPr>
              <a:t>;</a:t>
            </a:r>
          </a:p>
          <a:p>
            <a:pPr marL="0" indent="0">
              <a:buNone/>
            </a:pPr>
            <a:r>
              <a:rPr lang="ru-RU" sz="2300" b="1" dirty="0" smtClean="0">
                <a:solidFill>
                  <a:schemeClr val="tx1"/>
                </a:solidFill>
              </a:rPr>
              <a:t>       * </a:t>
            </a:r>
            <a:r>
              <a:rPr lang="ru-RU" sz="2300" b="1" dirty="0">
                <a:solidFill>
                  <a:schemeClr val="tx1"/>
                </a:solidFill>
              </a:rPr>
              <a:t>да </a:t>
            </a:r>
            <a:r>
              <a:rPr lang="ru-RU" sz="2300" b="1" dirty="0" err="1">
                <a:solidFill>
                  <a:schemeClr val="tx1"/>
                </a:solidFill>
              </a:rPr>
              <a:t>създава</a:t>
            </a:r>
            <a:r>
              <a:rPr lang="ru-RU" sz="2300" b="1" dirty="0">
                <a:solidFill>
                  <a:schemeClr val="tx1"/>
                </a:solidFill>
              </a:rPr>
              <a:t> </a:t>
            </a:r>
            <a:r>
              <a:rPr lang="ru-RU" sz="2300" b="1" dirty="0" err="1">
                <a:solidFill>
                  <a:schemeClr val="tx1"/>
                </a:solidFill>
              </a:rPr>
              <a:t>навици</a:t>
            </a:r>
            <a:r>
              <a:rPr lang="ru-RU" sz="2300" b="1" dirty="0">
                <a:solidFill>
                  <a:schemeClr val="tx1"/>
                </a:solidFill>
              </a:rPr>
              <a:t> за безопасно управление</a:t>
            </a:r>
            <a:r>
              <a:rPr lang="ru-RU" sz="2300" b="1" dirty="0" smtClean="0">
                <a:solidFill>
                  <a:schemeClr val="tx1"/>
                </a:solidFill>
              </a:rPr>
              <a:t>.</a:t>
            </a:r>
          </a:p>
          <a:p>
            <a:pPr marL="0" indent="0">
              <a:buNone/>
            </a:pPr>
            <a:r>
              <a:rPr lang="ru-RU" sz="2300" b="1" dirty="0" err="1" smtClean="0">
                <a:solidFill>
                  <a:schemeClr val="tx1"/>
                </a:solidFill>
              </a:rPr>
              <a:t>Добрият</a:t>
            </a:r>
            <a:r>
              <a:rPr lang="ru-RU" sz="2300" b="1" dirty="0" smtClean="0">
                <a:solidFill>
                  <a:schemeClr val="tx1"/>
                </a:solidFill>
              </a:rPr>
              <a:t> инструктор </a:t>
            </a:r>
            <a:r>
              <a:rPr lang="ru-RU" sz="2300" b="1" dirty="0" err="1" smtClean="0">
                <a:solidFill>
                  <a:schemeClr val="tx1"/>
                </a:solidFill>
              </a:rPr>
              <a:t>трябва</a:t>
            </a:r>
            <a:r>
              <a:rPr lang="ru-RU" sz="2300" b="1" dirty="0" smtClean="0">
                <a:solidFill>
                  <a:schemeClr val="tx1"/>
                </a:solidFill>
              </a:rPr>
              <a:t> да </a:t>
            </a:r>
            <a:r>
              <a:rPr lang="ru-RU" sz="2300" b="1" dirty="0" err="1" smtClean="0">
                <a:solidFill>
                  <a:schemeClr val="tx1"/>
                </a:solidFill>
              </a:rPr>
              <a:t>бъде</a:t>
            </a:r>
            <a:r>
              <a:rPr lang="ru-RU" sz="2300" b="1" dirty="0" smtClean="0">
                <a:solidFill>
                  <a:schemeClr val="tx1"/>
                </a:solidFill>
              </a:rPr>
              <a:t> пример за </a:t>
            </a:r>
            <a:r>
              <a:rPr lang="ru-RU" sz="2300" b="1" dirty="0" err="1" smtClean="0">
                <a:solidFill>
                  <a:schemeClr val="tx1"/>
                </a:solidFill>
              </a:rPr>
              <a:t>култура</a:t>
            </a:r>
            <a:r>
              <a:rPr lang="ru-RU" sz="2300" b="1" dirty="0" smtClean="0">
                <a:solidFill>
                  <a:schemeClr val="tx1"/>
                </a:solidFill>
              </a:rPr>
              <a:t>, </a:t>
            </a:r>
            <a:r>
              <a:rPr lang="ru-RU" sz="2300" b="1" dirty="0" err="1" smtClean="0">
                <a:solidFill>
                  <a:schemeClr val="tx1"/>
                </a:solidFill>
              </a:rPr>
              <a:t>търпение</a:t>
            </a:r>
            <a:r>
              <a:rPr lang="ru-RU" sz="2300" b="1" dirty="0" smtClean="0">
                <a:solidFill>
                  <a:schemeClr val="tx1"/>
                </a:solidFill>
              </a:rPr>
              <a:t> и     </a:t>
            </a:r>
            <a:r>
              <a:rPr lang="ru-RU" sz="2300" b="1" dirty="0" err="1" smtClean="0">
                <a:solidFill>
                  <a:schemeClr val="tx1"/>
                </a:solidFill>
              </a:rPr>
              <a:t>спазване</a:t>
            </a:r>
            <a:r>
              <a:rPr lang="ru-RU" sz="2300" b="1" dirty="0" smtClean="0">
                <a:solidFill>
                  <a:schemeClr val="tx1"/>
                </a:solidFill>
              </a:rPr>
              <a:t> на </a:t>
            </a:r>
            <a:r>
              <a:rPr lang="ru-RU" sz="2300" b="1" dirty="0" err="1" smtClean="0">
                <a:solidFill>
                  <a:schemeClr val="tx1"/>
                </a:solidFill>
              </a:rPr>
              <a:t>правилата</a:t>
            </a:r>
            <a:r>
              <a:rPr lang="ru-RU" sz="2300" b="1" dirty="0" smtClean="0">
                <a:solidFill>
                  <a:schemeClr val="tx1"/>
                </a:solidFill>
              </a:rPr>
              <a:t>.</a:t>
            </a:r>
            <a:endParaRPr lang="en-US" b="1" dirty="0" smtClean="0">
              <a:solidFill>
                <a:schemeClr val="tx1"/>
              </a:solidFill>
            </a:endParaRPr>
          </a:p>
          <a:p>
            <a:endParaRPr lang="en-US" dirty="0"/>
          </a:p>
        </p:txBody>
      </p:sp>
      <p:pic>
        <p:nvPicPr>
          <p:cNvPr id="5122" name="Picture 2" descr="Инструктор за обучение на водачи на МПС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3660" y="2753155"/>
            <a:ext cx="3643693" cy="22591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502170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/>
          <p:cNvSpPr>
            <a:spLocks noGrp="1"/>
          </p:cNvSpPr>
          <p:nvPr>
            <p:ph type="title"/>
          </p:nvPr>
        </p:nvSpPr>
        <p:spPr>
          <a:xfrm>
            <a:off x="156177" y="25758"/>
            <a:ext cx="12799970" cy="1507067"/>
          </a:xfrm>
        </p:spPr>
        <p:txBody>
          <a:bodyPr>
            <a:normAutofit fontScale="90000"/>
          </a:bodyPr>
          <a:lstStyle/>
          <a:p>
            <a:r>
              <a:rPr lang="bg-BG" sz="4000" b="1" dirty="0"/>
              <a:t>Фактори, влияещи върху пътната безопасност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3" name="Контейнер за съдържание 2"/>
          <p:cNvSpPr>
            <a:spLocks noGrp="1"/>
          </p:cNvSpPr>
          <p:nvPr>
            <p:ph idx="1"/>
          </p:nvPr>
        </p:nvSpPr>
        <p:spPr>
          <a:xfrm>
            <a:off x="568303" y="940159"/>
            <a:ext cx="8534400" cy="4648796"/>
          </a:xfrm>
        </p:spPr>
        <p:txBody>
          <a:bodyPr>
            <a:normAutofit/>
          </a:bodyPr>
          <a:lstStyle/>
          <a:p>
            <a:r>
              <a:rPr lang="bg-BG" b="1" dirty="0">
                <a:solidFill>
                  <a:schemeClr val="tx1"/>
                </a:solidFill>
              </a:rPr>
              <a:t>Пътната безопасност зависи от различни фактори</a:t>
            </a:r>
            <a:r>
              <a:rPr lang="bg-BG" b="1" dirty="0" smtClean="0">
                <a:solidFill>
                  <a:schemeClr val="tx1"/>
                </a:solidFill>
              </a:rPr>
              <a:t>:</a:t>
            </a:r>
            <a:r>
              <a:rPr lang="bg-BG" b="1" dirty="0">
                <a:solidFill>
                  <a:schemeClr val="tx1"/>
                </a:solidFill>
              </a:rPr>
              <a:t> </a:t>
            </a:r>
            <a:endParaRPr lang="en-US" b="1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bg-BG" b="1" dirty="0">
                <a:solidFill>
                  <a:schemeClr val="tx1"/>
                </a:solidFill>
              </a:rPr>
              <a:t>* човешки фактор – поведение, внимание, дисциплина;</a:t>
            </a:r>
            <a:endParaRPr lang="en-US" b="1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bg-BG" b="1" dirty="0">
                <a:solidFill>
                  <a:schemeClr val="tx1"/>
                </a:solidFill>
              </a:rPr>
              <a:t>* техническо състояние на автомобила;</a:t>
            </a:r>
            <a:endParaRPr lang="en-US" b="1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bg-BG" b="1" dirty="0">
                <a:solidFill>
                  <a:schemeClr val="tx1"/>
                </a:solidFill>
              </a:rPr>
              <a:t>* състояние на пътната инфраструктура;</a:t>
            </a:r>
            <a:endParaRPr lang="en-US" b="1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bg-BG" b="1" dirty="0">
                <a:solidFill>
                  <a:schemeClr val="tx1"/>
                </a:solidFill>
              </a:rPr>
              <a:t>* метеорологични условия;</a:t>
            </a:r>
            <a:endParaRPr lang="en-US" b="1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bg-BG" b="1" dirty="0">
                <a:solidFill>
                  <a:schemeClr val="tx1"/>
                </a:solidFill>
              </a:rPr>
              <a:t>* ефективност на контрола от страна на институциите.</a:t>
            </a:r>
            <a:endParaRPr lang="en-US" b="1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bg-BG" b="1" dirty="0">
                <a:solidFill>
                  <a:schemeClr val="tx1"/>
                </a:solidFill>
              </a:rPr>
              <a:t>Най-честата причина за произшествията остава човешката грешка. Затова обучението и превенцията имат изключително важно значение.</a:t>
            </a:r>
            <a:endParaRPr lang="en-US" b="1" dirty="0">
              <a:solidFill>
                <a:schemeClr val="tx1"/>
              </a:solidFill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0561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/>
          <p:cNvSpPr>
            <a:spLocks noGrp="1"/>
          </p:cNvSpPr>
          <p:nvPr>
            <p:ph type="title"/>
          </p:nvPr>
        </p:nvSpPr>
        <p:spPr>
          <a:xfrm>
            <a:off x="3788020" y="103031"/>
            <a:ext cx="8534400" cy="1349181"/>
          </a:xfrm>
        </p:spPr>
        <p:txBody>
          <a:bodyPr>
            <a:normAutofit fontScale="90000"/>
          </a:bodyPr>
          <a:lstStyle/>
          <a:p>
            <a:r>
              <a:rPr lang="bg-BG" sz="4800" b="1" dirty="0"/>
              <a:t>Заключение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3" name="Контейнер за съдържание 2"/>
          <p:cNvSpPr>
            <a:spLocks noGrp="1"/>
          </p:cNvSpPr>
          <p:nvPr>
            <p:ph idx="1"/>
          </p:nvPr>
        </p:nvSpPr>
        <p:spPr>
          <a:xfrm>
            <a:off x="117542" y="982013"/>
            <a:ext cx="8534400" cy="4362719"/>
          </a:xfrm>
        </p:spPr>
        <p:txBody>
          <a:bodyPr>
            <a:normAutofit/>
          </a:bodyPr>
          <a:lstStyle/>
          <a:p>
            <a:r>
              <a:rPr lang="bg-BG" b="1" dirty="0">
                <a:solidFill>
                  <a:schemeClr val="tx1"/>
                </a:solidFill>
              </a:rPr>
              <a:t>Целта на пътната безопасност е да осигури сигурност, ред и защита на живота и здравето на всички участници в движението. Постигането на тази цел изисква съвместни усилия от страна на държавата, обществото, училищата, инструкторите и самите водачи</a:t>
            </a:r>
            <a:r>
              <a:rPr lang="bg-BG" b="1" dirty="0" smtClean="0">
                <a:solidFill>
                  <a:schemeClr val="tx1"/>
                </a:solidFill>
              </a:rPr>
              <a:t>.</a:t>
            </a:r>
            <a:endParaRPr lang="en-US" b="1" dirty="0">
              <a:solidFill>
                <a:schemeClr val="tx1"/>
              </a:solidFill>
            </a:endParaRPr>
          </a:p>
          <a:p>
            <a:r>
              <a:rPr lang="bg-BG" b="1" dirty="0">
                <a:solidFill>
                  <a:schemeClr val="tx1"/>
                </a:solidFill>
              </a:rPr>
              <a:t>Особено важна е ролята на обучението и възпитанието, защото правилното отношение към безопасността се изгражда чрез знания, практика и личен пример. Само чрез отговорност, дисциплина и уважение към правилата може да се намали броят на пътнотранспортните произшествия и да се създаде по-безопасна среда на пътя.</a:t>
            </a:r>
            <a:endParaRPr lang="en-US" b="1" dirty="0">
              <a:solidFill>
                <a:schemeClr val="tx1"/>
              </a:solidFill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50895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/>
          <p:cNvSpPr>
            <a:spLocks noGrp="1"/>
          </p:cNvSpPr>
          <p:nvPr>
            <p:ph type="title"/>
          </p:nvPr>
        </p:nvSpPr>
        <p:spPr>
          <a:xfrm>
            <a:off x="1585732" y="-618186"/>
            <a:ext cx="9296915" cy="4706512"/>
          </a:xfrm>
        </p:spPr>
        <p:txBody>
          <a:bodyPr>
            <a:normAutofit/>
          </a:bodyPr>
          <a:lstStyle/>
          <a:p>
            <a:pPr algn="ctr"/>
            <a:r>
              <a:rPr lang="bg-BG" sz="7200" dirty="0" smtClean="0"/>
              <a:t>БЛАГОДАРЯ ЗА ВНИМАНИЕТО!</a:t>
            </a:r>
            <a:endParaRPr lang="en-US" sz="7200" dirty="0"/>
          </a:p>
        </p:txBody>
      </p:sp>
      <p:sp>
        <p:nvSpPr>
          <p:cNvPr id="4" name="AutoShape 2" descr="Световен ден на емотиконите: Как малките картинки промениха начина, по  който комуникираме ᐉ Новини от Fakti.bg - Любопитно | ФАКТИ.БГ"/>
          <p:cNvSpPr>
            <a:spLocks noChangeAspect="1" noChangeArrowheads="1"/>
          </p:cNvSpPr>
          <p:nvPr/>
        </p:nvSpPr>
        <p:spPr bwMode="auto">
          <a:xfrm>
            <a:off x="2769986" y="5535120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5" name="Картина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2529" y="3316332"/>
            <a:ext cx="5030737" cy="29907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78296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Сегмент">
  <a:themeElements>
    <a:clrScheme name="Slice">
      <a:dk1>
        <a:sysClr val="windowText" lastClr="000000"/>
      </a:dk1>
      <a:lt1>
        <a:sysClr val="window" lastClr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Slice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lic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52</TotalTime>
  <Words>547</Words>
  <Application>Microsoft Office PowerPoint</Application>
  <PresentationFormat>Широк екран</PresentationFormat>
  <Paragraphs>48</Paragraphs>
  <Slides>9</Slides>
  <Notes>0</Notes>
  <HiddenSlides>0</HiddenSlides>
  <MMClips>0</MMClips>
  <ScaleCrop>false</ScaleCrop>
  <HeadingPairs>
    <vt:vector size="6" baseType="variant">
      <vt:variant>
        <vt:lpstr>Използвани шрифтове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Заглавия на слайдовете</vt:lpstr>
      </vt:variant>
      <vt:variant>
        <vt:i4>9</vt:i4>
      </vt:variant>
    </vt:vector>
  </HeadingPairs>
  <TitlesOfParts>
    <vt:vector size="13" baseType="lpstr">
      <vt:lpstr>Arial</vt:lpstr>
      <vt:lpstr>Century Gothic</vt:lpstr>
      <vt:lpstr>Wingdings 3</vt:lpstr>
      <vt:lpstr>Сегмент</vt:lpstr>
      <vt:lpstr>Цел на пътната безопасност</vt:lpstr>
      <vt:lpstr>Увод </vt:lpstr>
      <vt:lpstr>Същност на пътната безопасност </vt:lpstr>
      <vt:lpstr>Основни цели на пътната безопасност </vt:lpstr>
      <vt:lpstr> Формиране на култура на движение </vt:lpstr>
      <vt:lpstr>Подобряване на обучението на водачите</vt:lpstr>
      <vt:lpstr>Фактори, влияещи върху пътната безопасност </vt:lpstr>
      <vt:lpstr>Заключение </vt:lpstr>
      <vt:lpstr>БЛАГОДАРЯ ЗА ВНИМАНИЕТО!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Цел на пътната безопасност</dc:title>
  <dc:creator>Stefi</dc:creator>
  <cp:lastModifiedBy>Stefi</cp:lastModifiedBy>
  <cp:revision>5</cp:revision>
  <dcterms:created xsi:type="dcterms:W3CDTF">2026-05-27T13:35:14Z</dcterms:created>
  <dcterms:modified xsi:type="dcterms:W3CDTF">2026-05-27T14:27:47Z</dcterms:modified>
</cp:coreProperties>
</file>