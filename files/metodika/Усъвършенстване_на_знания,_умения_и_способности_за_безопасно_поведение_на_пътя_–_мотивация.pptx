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46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07181"/>
            <a:ext cx="28199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ТЕХНИЧЕСКИ УНИВЕРСИТЕТ – СОФИЯ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42900" y="1174366"/>
            <a:ext cx="4993481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УСЪВЪРШЕНСТВАНЕ НА ЗНАНИЯ, УМЕНИЯ И СПОСОБНОСТИ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42900" y="3300301"/>
            <a:ext cx="499348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F233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за безопасно поведение на пътя – мотивация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42900" y="4053967"/>
            <a:ext cx="4993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РЕФЕРАТ по дисциплина: „Методика и обучение“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564981" y="1219767"/>
            <a:ext cx="3236119" cy="268962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Shape 5"/>
          <p:cNvSpPr/>
          <p:nvPr/>
        </p:nvSpPr>
        <p:spPr>
          <a:xfrm>
            <a:off x="5564981" y="1219767"/>
            <a:ext cx="57150" cy="268962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6"/>
          <p:cNvSpPr/>
          <p:nvPr/>
        </p:nvSpPr>
        <p:spPr>
          <a:xfrm>
            <a:off x="5793581" y="1590656"/>
            <a:ext cx="2778919" cy="27058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93581" y="2012138"/>
            <a:ext cx="2778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Разработил:</a:t>
            </a:r>
            <a:r>
              <a:rPr lang="en-US" sz="9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Ивайло Здравков Недков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93581" y="2552160"/>
            <a:ext cx="2778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Фак. №:</a:t>
            </a:r>
            <a:r>
              <a:rPr lang="en-US" sz="9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25002068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93581" y="2886466"/>
            <a:ext cx="2778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Проверил:</a:t>
            </a:r>
            <a:r>
              <a:rPr lang="en-US" sz="9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проф. Красимир Спиров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93581" y="3440776"/>
            <a:ext cx="277891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София, 2026 г.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УВОД: ЧОВЕШКИЯТ ФАКТОР И ПТП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42900" y="1014413"/>
            <a:ext cx="39147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Безопасността на движението е глобален обществен проблем. Въпреки технологичния напредък в автомобилната индустрия, броят на инцидентите остава тревожно висок.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42900" y="2197373"/>
            <a:ext cx="39147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Човешкият фактор е идентифициран като основна причина за повечето пътнотранспортни произшествия.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43425" y="1014413"/>
            <a:ext cx="4257675" cy="209161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4"/>
          <p:cNvSpPr/>
          <p:nvPr/>
        </p:nvSpPr>
        <p:spPr>
          <a:xfrm>
            <a:off x="4714875" y="1375590"/>
            <a:ext cx="391477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ОСНОВНИ ПРИЧИНИ: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14875" y="1780998"/>
            <a:ext cx="391477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Липса на достатъчна транспортна култура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714875" y="2125684"/>
            <a:ext cx="391477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Недостатъчна мотивация за спазване на правилата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14875" y="2590028"/>
            <a:ext cx="391477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Подценяване на рисковете на пътя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8625" y="4730948"/>
            <a:ext cx="501848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ЦЕЛ: АНАЛИЗ НА РОЛЯТА НА МОТИВАЦИЯТА В БЕЗОПАСНОТО ПОВЕДЕНИЕ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42913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СЪЩНОСТ НА ТРАНСПОРТНАТА КУЛТУРА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000125"/>
            <a:ext cx="8286750" cy="68289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00125"/>
            <a:ext cx="57150" cy="68289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143000"/>
            <a:ext cx="7943850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„Транспортната култура е съвкупност от знания, умения, навици и ценности, които определят поведението на участниците в движението.“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8625" y="1883048"/>
            <a:ext cx="26479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ОСЪЗНАТОСТ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8625" y="2143795"/>
            <a:ext cx="26479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Познаване на правилата и осъзнаване на личната отговорност към себе си и околните.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48006" y="1883048"/>
            <a:ext cx="264795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ТОЛЕРАНТНОСТ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48006" y="2143795"/>
            <a:ext cx="264795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Уважение към другите участници и стремеж към минимизиране на риска от инциденти.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67416" y="1883048"/>
            <a:ext cx="26479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РАЗВИТИЕ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67416" y="2143795"/>
            <a:ext cx="26479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Формирането започва в ранна възраст и продължава през целия живот на водача.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7200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УСЪВЪРШЕНСТВАНЕ НА ЗНАНИЯТА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323296"/>
            <a:ext cx="433767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КЛЮЧОВИ ОБЛАСТИ ЗА АКТУАЛИЗАЦИЯ: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8625" y="2023383"/>
            <a:ext cx="433767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Нормативна уредба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8625" y="2341280"/>
            <a:ext cx="433767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Задълбочено изучаване на Закона за движение по пътищата и новите нормативни промени.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28625" y="2967028"/>
            <a:ext cx="433767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Рискови фактори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8625" y="3284925"/>
            <a:ext cx="433767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Повишаване на осведомеността относно опасностите от алкохол, наркотици и натрупана умора.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194929" y="1157288"/>
            <a:ext cx="3520446" cy="275338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Shape 7"/>
          <p:cNvSpPr/>
          <p:nvPr/>
        </p:nvSpPr>
        <p:spPr>
          <a:xfrm>
            <a:off x="5194929" y="1157288"/>
            <a:ext cx="57150" cy="2753385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8"/>
          <p:cNvSpPr/>
          <p:nvPr/>
        </p:nvSpPr>
        <p:spPr>
          <a:xfrm>
            <a:off x="5514975" y="1632765"/>
            <a:ext cx="29146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Еко и икономично шофиране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14975" y="2329281"/>
            <a:ext cx="2914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Разбиране на съвременните принципи за намаляване на разхода и опазване на околната среда чрез интелигентно управление.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14975" y="3529431"/>
            <a:ext cx="2914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Обучението е непрекъснат процес!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8625" y="4673798"/>
            <a:ext cx="55364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ПЕРИОДИЧНИТЕ КВАЛИФИКАЦИОННИ КУРСОВЕ СА ОСНОВА НА БЕЗОПАСНОСТТА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7200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УСЪВЪРШЕНСТВАНЕ НА УМЕНИЯТА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1394733"/>
            <a:ext cx="37290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ТЕХНИКИ НА УПРАВЛЕНИЕ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650" y="1809071"/>
            <a:ext cx="3729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Овладяване на техники за безопасно управление при тежки метеорологични условия.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28650" y="2380571"/>
            <a:ext cx="3729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Усвояване на методи за избягване на конфликтни ситуации на пътя.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8650" y="2952071"/>
            <a:ext cx="3729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Развитие на навици за предвидимо и плавно шофиране.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86338" y="1394733"/>
            <a:ext cx="37290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РЕАКЦИЯ ПРИ ИНЦИДЕНТИ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86338" y="1809071"/>
            <a:ext cx="3729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Развитие на умения за оказване на първа долекарска помощ при ПТП.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86338" y="2380571"/>
            <a:ext cx="3729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Правилно поведение и обезопасяване на мястото на инцидента.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86338" y="2952071"/>
            <a:ext cx="3729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Ефективна комуникация със спешните служби.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8625" y="3809321"/>
            <a:ext cx="8286750" cy="85725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0"/>
          <p:cNvSpPr/>
          <p:nvPr/>
        </p:nvSpPr>
        <p:spPr>
          <a:xfrm>
            <a:off x="600075" y="4137933"/>
            <a:ext cx="794385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Практическите умения не са статични – те изискват постоянна практика и надграждане чрез специализирани курсове и тренинги.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7200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УСЪВЪРШЕНСТВАНЕ НА СПОСОБНОСТИТЕ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157288"/>
            <a:ext cx="4314825" cy="358959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57288"/>
            <a:ext cx="57150" cy="3589595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632765"/>
            <a:ext cx="3714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Психофизиология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4375" y="2123898"/>
            <a:ext cx="371475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Концентрация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4375" y="2393910"/>
            <a:ext cx="3637955" cy="409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Подобряване на вниманието и способността за бързо разпределение на фокуса.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4375" y="2998226"/>
            <a:ext cx="371475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Реакции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4375" y="3268238"/>
            <a:ext cx="3700463" cy="409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Развиване на бързина и точност при вземане на решения в критични ситуации.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4375" y="3872554"/>
            <a:ext cx="371475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Устойчивост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4375" y="4142566"/>
            <a:ext cx="3629025" cy="409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Изграждане на имунитет срещу стрес, умора и агресия от други участници.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00625" y="1743075"/>
            <a:ext cx="3714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Психическа стабилност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00625" y="2128838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Способностите на водача не са даденост, а качества, които подлежат на съзнателно развитие и самоконтрол.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00625" y="2957513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Емоционалната интелигентност на пътя е толкова важна, колкото и техническите умения за управление.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00625" y="3929063"/>
            <a:ext cx="3714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ОСНОВА НА БЕЗОПАСНОТО ПОВЕДЕНИЕ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7200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МОТИВАЦИЯТА КАТО РЕШАВАЩ ФАКТОР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157288"/>
            <a:ext cx="4000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Мотивацията е вътрешната движеща сила, която определя поведението на индивида на пътя.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2207419"/>
            <a:ext cx="4000500" cy="90725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2207419"/>
            <a:ext cx="57150" cy="90725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2421731"/>
            <a:ext cx="35718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РЕШАВАЩ ФАКТОР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2938" y="2728913"/>
            <a:ext cx="35718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Тя е ключът към доброволното спазване на правилата и избягването на рискови действия.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14875" y="1157288"/>
            <a:ext cx="4000500" cy="142875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4929188" y="1335881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ВЪНШНИ МОТИВИ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29188" y="1685925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Страх от санкции и глоби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29188" y="1930598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Желание за социално одобрение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29188" y="2175272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Избягване на конфликти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14875" y="2728913"/>
            <a:ext cx="4000500" cy="142875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2"/>
          <p:cNvSpPr/>
          <p:nvPr/>
        </p:nvSpPr>
        <p:spPr>
          <a:xfrm>
            <a:off x="4929188" y="2907506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ВЪТРЕШНИ МОТИВИ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29188" y="3257550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Чувство за лична отговорност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29188" y="3502223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Морални убеждения и ценности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29188" y="3746897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Стремеж към самосъхранение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7200"/>
            <a:ext cx="87153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ВЛИЯНИЕ НА МОТИВАЦИЯТА ВЪРХУ ПОВЕДЕНИЕТО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571625"/>
            <a:ext cx="328612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Високата мотивация за безопасно поведение води до съзнателна промяна в стила на шофиране и отношението към риска.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28625" y="2883173"/>
            <a:ext cx="3286125" cy="1054401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2883173"/>
            <a:ext cx="57150" cy="1054401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3097485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РЕЗУЛТАТ: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2938" y="3397523"/>
            <a:ext cx="28575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Преминаване от принудително спазване на правилата към вътрешно убедено безопасно поведение.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43375" y="1571625"/>
            <a:ext cx="4572000" cy="2771998"/>
          </a:xfrm>
          <a:prstGeom prst="rect">
            <a:avLst/>
          </a:prstGeom>
          <a:solidFill>
            <a:srgbClr val="FAFAFA"/>
          </a:solidFill>
          <a:ln w="27432">
            <a:solidFill>
              <a:srgbClr val="8D99A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55105" y="2023383"/>
            <a:ext cx="39745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ПОЗИТИВНИ ПРОМЕНИ: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55105" y="2480583"/>
            <a:ext cx="397452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Стриктно спазване на ограниченията на скоростта.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55105" y="2892047"/>
            <a:ext cx="397452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Редовно използване на предпазни колани и каски.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55105" y="3303510"/>
            <a:ext cx="39745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Избягване на агресивно шофиране и рискови маневри.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455105" y="3875010"/>
            <a:ext cx="397452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Проява на толерантност към другите участници.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7200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ФАКТОРИ, ВЛИЯЕЩИ ВЪРХУ МОТИВАЦИЯТА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157288"/>
            <a:ext cx="4036219" cy="157162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57288"/>
            <a:ext cx="57150" cy="1571625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471026"/>
            <a:ext cx="36075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ЛИЧНОСТНИ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2938" y="1806783"/>
            <a:ext cx="3607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Възраст, пол, темперамент и ниво на образование. Индивидуалните психологически особености определят склонността към риск.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79156" y="1157288"/>
            <a:ext cx="4036219" cy="1571625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Shape 6"/>
          <p:cNvSpPr/>
          <p:nvPr/>
        </p:nvSpPr>
        <p:spPr>
          <a:xfrm>
            <a:off x="4679156" y="1157288"/>
            <a:ext cx="57150" cy="157162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4893469" y="1471026"/>
            <a:ext cx="36075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СОЦИАЛНИ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3469" y="1806783"/>
            <a:ext cx="3607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B2D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Семейна среда, приятелски кръг и културни норми. Социалният натиск и примерите в обществото оформят нагласите.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8625" y="2943225"/>
            <a:ext cx="4036219" cy="1571625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943225"/>
            <a:ext cx="57150" cy="157162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1"/>
          <p:cNvSpPr/>
          <p:nvPr/>
        </p:nvSpPr>
        <p:spPr>
          <a:xfrm>
            <a:off x="642938" y="3256964"/>
            <a:ext cx="36075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СИТУАЦИОННИ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2938" y="3592720"/>
            <a:ext cx="3607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Пътни условия, интензивност на трафика и време на деня. Външната среда може да провокира или потисне безопасното поведение.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79156" y="2943225"/>
            <a:ext cx="4036219" cy="157162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4"/>
          <p:cNvSpPr/>
          <p:nvPr/>
        </p:nvSpPr>
        <p:spPr>
          <a:xfrm>
            <a:off x="4679156" y="2943225"/>
            <a:ext cx="4036219" cy="1428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Shape 15"/>
          <p:cNvSpPr/>
          <p:nvPr/>
        </p:nvSpPr>
        <p:spPr>
          <a:xfrm>
            <a:off x="8701088" y="2943225"/>
            <a:ext cx="14288" cy="157162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Shape 16"/>
          <p:cNvSpPr/>
          <p:nvPr/>
        </p:nvSpPr>
        <p:spPr>
          <a:xfrm>
            <a:off x="4679156" y="4500563"/>
            <a:ext cx="4036219" cy="1428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0" name="Shape 17"/>
          <p:cNvSpPr/>
          <p:nvPr/>
        </p:nvSpPr>
        <p:spPr>
          <a:xfrm>
            <a:off x="4679156" y="2943225"/>
            <a:ext cx="57150" cy="1571625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8"/>
          <p:cNvSpPr/>
          <p:nvPr/>
        </p:nvSpPr>
        <p:spPr>
          <a:xfrm>
            <a:off x="4893469" y="3256964"/>
            <a:ext cx="36075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ИКОНОМИЧЕСКИ И ПРАВНИ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3469" y="3592720"/>
            <a:ext cx="3607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B2D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Финансови стимули (бонуси), санкции (глоби), законодателство и ефективен контрол от страна на органите.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7200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РОЛЯ НА ОБУЧЕНИЕТО И ИНСТРУКТОРА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323296"/>
            <a:ext cx="433767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ИНСТРУКТОРЪТ КАТО МЕНТОР: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8625" y="1780496"/>
            <a:ext cx="433767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Формиране на нагласи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8625" y="2098393"/>
            <a:ext cx="433767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Инструкторът не само предава технически умения, но и възпитава ценности и отговорно отношение към безопасността.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28625" y="2724141"/>
            <a:ext cx="433767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Пример за подражание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8625" y="3042038"/>
            <a:ext cx="433767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Личното поведение на инструктора е най-силният инструмент за изграждане на правилна транспортна култура.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194929" y="1157288"/>
            <a:ext cx="3520446" cy="300037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Shape 7"/>
          <p:cNvSpPr/>
          <p:nvPr/>
        </p:nvSpPr>
        <p:spPr>
          <a:xfrm>
            <a:off x="5194929" y="1157288"/>
            <a:ext cx="57150" cy="3000375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8"/>
          <p:cNvSpPr/>
          <p:nvPr/>
        </p:nvSpPr>
        <p:spPr>
          <a:xfrm>
            <a:off x="5514975" y="1632765"/>
            <a:ext cx="29146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Необходими качества: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14975" y="2052461"/>
            <a:ext cx="29146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Педагогически подход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14975" y="2433926"/>
            <a:ext cx="29146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Търпение в стресови ситуации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14975" y="2815391"/>
            <a:ext cx="29146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Професионализъм и етика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14975" y="3196856"/>
            <a:ext cx="29146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Умение за мотивиране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14975" y="3578321"/>
            <a:ext cx="29146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Ефективна комуникация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28625" y="4673798"/>
            <a:ext cx="51970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ИНСТРУКТОРЪТ Е КЛЮЧЪТ КЪМ ФОРМИРАНЕТО НА БЕЗОПАСНО ПОВЕДЕНИЕ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7200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ЗАКЛЮЧЕНИЕ: ФОРМУЛА ЗА УСПЕХ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776883" y="1587336"/>
            <a:ext cx="2143125" cy="128587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2"/>
          <p:cNvSpPr/>
          <p:nvPr/>
        </p:nvSpPr>
        <p:spPr>
          <a:xfrm>
            <a:off x="991195" y="2130261"/>
            <a:ext cx="1714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КАЧЕСТВЕНО ОБУЧЕНИЕ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62883" y="1970419"/>
            <a:ext cx="294680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3500438" y="1587336"/>
            <a:ext cx="2143125" cy="128587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5"/>
          <p:cNvSpPr/>
          <p:nvPr/>
        </p:nvSpPr>
        <p:spPr>
          <a:xfrm>
            <a:off x="3714750" y="2130261"/>
            <a:ext cx="1714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ЕФЕКТИВЕН КОНТРОЛ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86438" y="1970419"/>
            <a:ext cx="294680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</a:t>
            </a:r>
            <a:endParaRPr lang="en-US" sz="3100" dirty="0"/>
          </a:p>
        </p:txBody>
      </p:sp>
      <p:sp>
        <p:nvSpPr>
          <p:cNvPr id="10" name="Shape 7"/>
          <p:cNvSpPr/>
          <p:nvPr/>
        </p:nvSpPr>
        <p:spPr>
          <a:xfrm>
            <a:off x="6223992" y="1587336"/>
            <a:ext cx="2143125" cy="1285875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8"/>
          <p:cNvSpPr/>
          <p:nvPr/>
        </p:nvSpPr>
        <p:spPr>
          <a:xfrm>
            <a:off x="6438305" y="2130261"/>
            <a:ext cx="1714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ВИСОКА МОТИВАЦИЯ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57313" y="3501861"/>
            <a:ext cx="642937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Само чрез съчетаването на тези три елемента можем да постигнем </a:t>
            </a:r>
            <a:r>
              <a:rPr lang="en-US" sz="14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значително намаляване на ПТП</a:t>
            </a:r>
            <a:r>
              <a:rPr lang="en-US" sz="150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и изграждане на устойчива транспортна култура.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48858" y="4655939"/>
            <a:ext cx="3566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БЕЗОПАСНОСТТА Е СПОДЕЛЕНА ОТГОВОРНОСТ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ИЗПОЛЗВАНА ЛИТЕРАТУРА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14388" y="1157288"/>
            <a:ext cx="77581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1. </a:t>
            </a:r>
            <a:r>
              <a:rPr lang="en-US" sz="10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Спиров, К.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Методика и обучение на водачи на МПС. София: Технически университет – София, </a:t>
            </a:r>
            <a:r>
              <a:rPr lang="en-US" sz="10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2023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14388" y="1528763"/>
            <a:ext cx="77581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2. </a:t>
            </a:r>
            <a:r>
              <a:rPr lang="en-US" sz="10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Закон за движение по пътищата.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Обн., ДВ, посл. изм. и доп. </a:t>
            </a:r>
            <a:r>
              <a:rPr lang="en-US" sz="10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2024-2025 г.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14388" y="1900238"/>
            <a:ext cx="77581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3. </a:t>
            </a:r>
            <a:r>
              <a:rPr lang="en-US" sz="10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European Transport Safety Council (ETSC).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Young drivers and road safety. Brussels, </a:t>
            </a:r>
            <a:r>
              <a:rPr lang="en-US" sz="10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2022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14388" y="2271713"/>
            <a:ext cx="77581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4. </a:t>
            </a:r>
            <a:r>
              <a:rPr lang="en-US" sz="10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Reason, J.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Human Error. Cambridge University Press, </a:t>
            </a:r>
            <a:r>
              <a:rPr lang="en-US" sz="10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1990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4388" y="2643188"/>
            <a:ext cx="77581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5. </a:t>
            </a:r>
            <a:r>
              <a:rPr lang="en-US" sz="1000" b="1" dirty="0">
                <a:solidFill>
                  <a:srgbClr val="2B2D4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Wilde, G. J. S.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Target Risk Theory. PDE Publications, </a:t>
            </a:r>
            <a:r>
              <a:rPr lang="en-US" sz="1000" b="1" dirty="0">
                <a:solidFill>
                  <a:srgbClr val="EF233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1994</a:t>
            </a:r>
            <a:r>
              <a:rPr lang="en-US" sz="1050" dirty="0">
                <a:solidFill>
                  <a:srgbClr val="4A4E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0" y="4548783"/>
            <a:ext cx="9144000" cy="280392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D99A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БЛАГОДАРЯ ЗА ВНИМАНИЕТО!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869</Words>
  <Application>Microsoft Office PowerPoint</Application>
  <PresentationFormat>On-screen Show (16:9)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Inter ExtraBold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Ivaylo</cp:lastModifiedBy>
  <cp:revision>3</cp:revision>
  <dcterms:created xsi:type="dcterms:W3CDTF">2026-05-25T18:26:22Z</dcterms:created>
  <dcterms:modified xsi:type="dcterms:W3CDTF">2026-05-27T15:55:48Z</dcterms:modified>
</cp:coreProperties>
</file>