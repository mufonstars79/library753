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ен стил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0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 smtClean="0"/>
              <a:t>Щракнете за редакция стил подзагл. обр.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02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28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81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91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14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49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54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646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26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5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509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33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 на цита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0079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или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56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106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6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5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МЕТОДИЧЕСКА РАЗРАБОТКА НА УРОК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2800" b="1" dirty="0" err="1"/>
              <a:t>Тема</a:t>
            </a:r>
            <a:r>
              <a:rPr sz="2800" b="1" dirty="0"/>
              <a:t>: </a:t>
            </a:r>
            <a:r>
              <a:rPr sz="2800" b="1" dirty="0" err="1"/>
              <a:t>Специални</a:t>
            </a:r>
            <a:r>
              <a:rPr sz="2800" b="1" dirty="0"/>
              <a:t> </a:t>
            </a:r>
            <a:r>
              <a:rPr sz="2800" b="1" dirty="0" err="1"/>
              <a:t>правила</a:t>
            </a:r>
            <a:r>
              <a:rPr sz="2800" b="1" dirty="0"/>
              <a:t> </a:t>
            </a:r>
            <a:r>
              <a:rPr sz="2800" b="1" dirty="0" err="1"/>
              <a:t>за</a:t>
            </a:r>
            <a:r>
              <a:rPr sz="2800" b="1" dirty="0"/>
              <a:t> </a:t>
            </a:r>
            <a:r>
              <a:rPr sz="2800" b="1" dirty="0" err="1"/>
              <a:t>някои</a:t>
            </a:r>
            <a:r>
              <a:rPr sz="2800" b="1" dirty="0"/>
              <a:t> </a:t>
            </a:r>
            <a:r>
              <a:rPr sz="2800" b="1" dirty="0" err="1"/>
              <a:t>участници</a:t>
            </a:r>
            <a:r>
              <a:rPr sz="2800" b="1" dirty="0"/>
              <a:t> в </a:t>
            </a:r>
            <a:r>
              <a:rPr sz="2800" b="1" dirty="0" err="1"/>
              <a:t>движението</a:t>
            </a:r>
            <a:endParaRPr sz="2800" b="1" dirty="0"/>
          </a:p>
          <a:p>
            <a:pPr>
              <a:defRPr sz="1800">
                <a:latin typeface="Arial"/>
              </a:defRPr>
            </a:pPr>
            <a:endParaRPr dirty="0"/>
          </a:p>
          <a:p>
            <a:pPr>
              <a:defRPr sz="1800">
                <a:latin typeface="Arial"/>
              </a:defRPr>
            </a:pPr>
            <a:r>
              <a:rPr b="1" dirty="0" err="1" smtClean="0"/>
              <a:t>Дисциплина</a:t>
            </a:r>
            <a:r>
              <a:rPr b="1" dirty="0" smtClean="0"/>
              <a:t>:</a:t>
            </a:r>
            <a:r>
              <a:rPr lang="bg-BG" b="1" dirty="0" smtClean="0"/>
              <a:t> </a:t>
            </a:r>
            <a:r>
              <a:rPr b="1" dirty="0" err="1" smtClean="0"/>
              <a:t>Педагогическа</a:t>
            </a:r>
            <a:r>
              <a:rPr b="1" dirty="0" smtClean="0"/>
              <a:t> </a:t>
            </a:r>
            <a:r>
              <a:rPr b="1" dirty="0" err="1" smtClean="0"/>
              <a:t>практик</a:t>
            </a:r>
            <a:r>
              <a:rPr lang="bg-BG" b="1" dirty="0" smtClean="0"/>
              <a:t>а</a:t>
            </a:r>
            <a:endParaRPr b="1" dirty="0"/>
          </a:p>
          <a:p>
            <a:pPr>
              <a:defRPr sz="1800">
                <a:latin typeface="Arial"/>
              </a:defRPr>
            </a:pPr>
            <a:r>
              <a:rPr b="1" dirty="0" err="1"/>
              <a:t>Изготвил</a:t>
            </a:r>
            <a:r>
              <a:rPr b="1" dirty="0" smtClean="0"/>
              <a:t>:</a:t>
            </a:r>
            <a:r>
              <a:rPr lang="bg-BG" b="1" dirty="0" smtClean="0"/>
              <a:t> </a:t>
            </a:r>
            <a:r>
              <a:rPr lang="bg-BG" b="1" dirty="0" smtClean="0"/>
              <a:t>Алекс Бойков </a:t>
            </a:r>
            <a:r>
              <a:rPr lang="bg-BG" b="1" dirty="0" smtClean="0"/>
              <a:t>Нинов – курс 753</a:t>
            </a:r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8348" y="510691"/>
            <a:ext cx="6589199" cy="1280890"/>
          </a:xfrm>
        </p:spPr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ОСНОВНИ ДАННИ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0027" y="1505803"/>
            <a:ext cx="6591985" cy="3777622"/>
          </a:xfrm>
        </p:spPr>
        <p:txBody>
          <a:bodyPr>
            <a:noAutofit/>
          </a:bodyPr>
          <a:lstStyle/>
          <a:p>
            <a:pPr>
              <a:defRPr sz="1800">
                <a:latin typeface="Arial"/>
              </a:defRPr>
            </a:pPr>
            <a:endParaRPr sz="2000" b="1" dirty="0"/>
          </a:p>
          <a:p>
            <a:pPr>
              <a:defRPr sz="1800">
                <a:latin typeface="Arial"/>
              </a:defRPr>
            </a:pPr>
            <a:r>
              <a:rPr b="1" dirty="0" err="1"/>
              <a:t>Продължителност</a:t>
            </a:r>
            <a:r>
              <a:rPr b="1" dirty="0"/>
              <a:t>: 90 </a:t>
            </a:r>
            <a:r>
              <a:rPr b="1" dirty="0" err="1"/>
              <a:t>минути</a:t>
            </a:r>
            <a:r>
              <a:rPr b="1" dirty="0"/>
              <a:t> (2 </a:t>
            </a:r>
            <a:r>
              <a:rPr b="1" dirty="0" err="1"/>
              <a:t>учебни</a:t>
            </a:r>
            <a:r>
              <a:rPr b="1" dirty="0"/>
              <a:t> </a:t>
            </a:r>
            <a:r>
              <a:rPr b="1" dirty="0" err="1"/>
              <a:t>часа</a:t>
            </a:r>
            <a:r>
              <a:rPr b="1" dirty="0"/>
              <a:t>)</a:t>
            </a:r>
          </a:p>
          <a:p>
            <a:pPr>
              <a:defRPr sz="1800">
                <a:latin typeface="Arial"/>
              </a:defRPr>
            </a:pPr>
            <a:r>
              <a:rPr lang="ru-RU" b="1" dirty="0"/>
              <a:t>Вид на урока: </a:t>
            </a:r>
            <a:r>
              <a:rPr lang="ru-RU" b="1" dirty="0" err="1"/>
              <a:t>Комбиниран</a:t>
            </a:r>
            <a:r>
              <a:rPr lang="ru-RU" b="1" dirty="0"/>
              <a:t> (теория + </a:t>
            </a:r>
            <a:r>
              <a:rPr lang="ru-RU" b="1" dirty="0" err="1"/>
              <a:t>практическа</a:t>
            </a:r>
            <a:r>
              <a:rPr lang="ru-RU" b="1" dirty="0"/>
              <a:t> работа)</a:t>
            </a:r>
          </a:p>
          <a:p>
            <a:pPr>
              <a:defRPr sz="1800">
                <a:latin typeface="Arial"/>
              </a:defRPr>
            </a:pPr>
            <a:endParaRPr b="1" dirty="0"/>
          </a:p>
          <a:p>
            <a:pPr>
              <a:defRPr sz="1800">
                <a:latin typeface="Arial"/>
              </a:defRPr>
            </a:pPr>
            <a:r>
              <a:rPr b="1" dirty="0" err="1"/>
              <a:t>Целева</a:t>
            </a:r>
            <a:r>
              <a:rPr b="1" dirty="0"/>
              <a:t> </a:t>
            </a:r>
            <a:r>
              <a:rPr b="1" dirty="0" err="1"/>
              <a:t>група</a:t>
            </a:r>
            <a:r>
              <a:rPr b="1" dirty="0"/>
              <a:t>: </a:t>
            </a:r>
            <a:r>
              <a:rPr b="1" dirty="0" err="1"/>
              <a:t>Кандидат-водачи</a:t>
            </a:r>
            <a:r>
              <a:rPr b="1" dirty="0"/>
              <a:t> </a:t>
            </a:r>
            <a:r>
              <a:rPr b="1" dirty="0" err="1"/>
              <a:t>категория</a:t>
            </a:r>
            <a:r>
              <a:rPr b="1" dirty="0"/>
              <a:t> В</a:t>
            </a:r>
          </a:p>
          <a:p>
            <a:pPr>
              <a:defRPr sz="1800">
                <a:latin typeface="Arial"/>
              </a:defRPr>
            </a:pPr>
            <a:endParaRPr b="1" dirty="0"/>
          </a:p>
          <a:p>
            <a:pPr>
              <a:defRPr sz="1800">
                <a:latin typeface="Arial"/>
              </a:defRPr>
            </a:pPr>
            <a:r>
              <a:rPr b="1" dirty="0" err="1"/>
              <a:t>Нормативна</a:t>
            </a:r>
            <a:r>
              <a:rPr b="1" dirty="0"/>
              <a:t> </a:t>
            </a:r>
            <a:r>
              <a:rPr b="1" dirty="0" err="1"/>
              <a:t>база</a:t>
            </a:r>
            <a:r>
              <a:rPr b="1" dirty="0"/>
              <a:t>: </a:t>
            </a:r>
            <a:r>
              <a:rPr b="1" dirty="0" err="1"/>
              <a:t>Закон</a:t>
            </a:r>
            <a:r>
              <a:rPr b="1" dirty="0"/>
              <a:t> </a:t>
            </a:r>
            <a:r>
              <a:rPr b="1" dirty="0" err="1"/>
              <a:t>за</a:t>
            </a:r>
            <a:r>
              <a:rPr b="1" dirty="0"/>
              <a:t> </a:t>
            </a:r>
            <a:r>
              <a:rPr b="1" dirty="0" err="1"/>
              <a:t>движението</a:t>
            </a:r>
            <a:r>
              <a:rPr b="1" dirty="0"/>
              <a:t> </a:t>
            </a:r>
            <a:r>
              <a:rPr b="1" dirty="0" err="1"/>
              <a:t>по</a:t>
            </a:r>
            <a:r>
              <a:rPr b="1" dirty="0"/>
              <a:t> </a:t>
            </a:r>
            <a:r>
              <a:rPr b="1" dirty="0" err="1"/>
              <a:t>пътищата</a:t>
            </a:r>
            <a:r>
              <a:rPr b="1" dirty="0"/>
              <a:t> и </a:t>
            </a:r>
            <a:r>
              <a:rPr b="1" dirty="0" err="1"/>
              <a:t>Наредба</a:t>
            </a:r>
            <a:r>
              <a:rPr b="1" dirty="0"/>
              <a:t> №37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209" y="182970"/>
            <a:ext cx="6589199" cy="1280890"/>
          </a:xfrm>
        </p:spPr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ЦЕЛИ НА </a:t>
            </a:r>
            <a:r>
              <a:rPr lang="bg-BG" dirty="0" smtClean="0"/>
              <a:t>УРОКА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6380" y="823415"/>
            <a:ext cx="6591985" cy="3777622"/>
          </a:xfrm>
        </p:spPr>
        <p:txBody>
          <a:bodyPr>
            <a:noAutofit/>
          </a:bodyPr>
          <a:lstStyle/>
          <a:p>
            <a:pPr>
              <a:defRPr sz="1800">
                <a:latin typeface="Arial"/>
              </a:defRPr>
            </a:pPr>
            <a:r>
              <a:rPr lang="ru-RU" b="1" dirty="0" err="1"/>
              <a:t>Основна</a:t>
            </a:r>
            <a:r>
              <a:rPr lang="ru-RU" b="1" dirty="0"/>
              <a:t> </a:t>
            </a:r>
            <a:r>
              <a:rPr lang="ru-RU" b="1" dirty="0" err="1"/>
              <a:t>цел:Формиране</a:t>
            </a:r>
            <a:r>
              <a:rPr lang="ru-RU" b="1" dirty="0"/>
              <a:t> на знания, умения и </a:t>
            </a:r>
            <a:r>
              <a:rPr lang="ru-RU" b="1" dirty="0" err="1"/>
              <a:t>отговорно</a:t>
            </a:r>
            <a:r>
              <a:rPr lang="ru-RU" b="1" dirty="0"/>
              <a:t> поведение, </a:t>
            </a:r>
            <a:r>
              <a:rPr lang="ru-RU" b="1" dirty="0" err="1"/>
              <a:t>свързани</a:t>
            </a:r>
            <a:r>
              <a:rPr lang="ru-RU" b="1" dirty="0"/>
              <a:t> </a:t>
            </a:r>
            <a:r>
              <a:rPr lang="ru-RU" b="1" dirty="0" err="1"/>
              <a:t>със</a:t>
            </a:r>
            <a:r>
              <a:rPr lang="ru-RU" b="1" dirty="0"/>
              <a:t> </a:t>
            </a:r>
            <a:r>
              <a:rPr lang="ru-RU" b="1" dirty="0" err="1"/>
              <a:t>задълженията</a:t>
            </a:r>
            <a:r>
              <a:rPr lang="ru-RU" b="1" dirty="0"/>
              <a:t> на </a:t>
            </a:r>
            <a:r>
              <a:rPr lang="ru-RU" b="1" dirty="0" err="1"/>
              <a:t>водача</a:t>
            </a:r>
            <a:r>
              <a:rPr lang="ru-RU" b="1" dirty="0"/>
              <a:t> за </a:t>
            </a:r>
            <a:r>
              <a:rPr lang="ru-RU" b="1" dirty="0" err="1"/>
              <a:t>осигуряване</a:t>
            </a:r>
            <a:r>
              <a:rPr lang="ru-RU" b="1" dirty="0"/>
              <a:t> </a:t>
            </a:r>
            <a:r>
              <a:rPr lang="ru-RU" b="1" dirty="0" err="1"/>
              <a:t>безопасността</a:t>
            </a:r>
            <a:r>
              <a:rPr lang="ru-RU" b="1" dirty="0"/>
              <a:t> на </a:t>
            </a:r>
            <a:r>
              <a:rPr lang="ru-RU" b="1" dirty="0" err="1"/>
              <a:t>движението</a:t>
            </a:r>
            <a:r>
              <a:rPr lang="ru-RU" b="1" dirty="0"/>
              <a:t> по </a:t>
            </a:r>
            <a:r>
              <a:rPr lang="ru-RU" b="1" dirty="0" err="1"/>
              <a:t>пътищата</a:t>
            </a:r>
            <a:r>
              <a:rPr lang="ru-RU" b="1" dirty="0"/>
              <a:t>.</a:t>
            </a:r>
            <a:endParaRPr b="1" dirty="0"/>
          </a:p>
          <a:p>
            <a:pPr>
              <a:defRPr sz="1800">
                <a:latin typeface="Arial"/>
              </a:defRPr>
            </a:pPr>
            <a:r>
              <a:rPr b="1" dirty="0" err="1" smtClean="0"/>
              <a:t>Знания</a:t>
            </a:r>
            <a:r>
              <a:rPr b="1" dirty="0" smtClean="0"/>
              <a:t> </a:t>
            </a:r>
            <a:r>
              <a:rPr b="1" dirty="0" err="1" smtClean="0"/>
              <a:t>за</a:t>
            </a:r>
            <a:r>
              <a:rPr b="1" dirty="0" smtClean="0"/>
              <a:t>:</a:t>
            </a:r>
          </a:p>
          <a:p>
            <a:pPr>
              <a:defRPr sz="1800">
                <a:latin typeface="Arial"/>
              </a:defRPr>
            </a:pPr>
            <a:r>
              <a:rPr lang="ru-RU" b="1" dirty="0" err="1" smtClean="0"/>
              <a:t>Разпознаване</a:t>
            </a:r>
            <a:r>
              <a:rPr lang="ru-RU" b="1" dirty="0" smtClean="0"/>
              <a:t> на </a:t>
            </a:r>
            <a:r>
              <a:rPr lang="ru-RU" b="1" dirty="0" err="1" smtClean="0"/>
              <a:t>опасни</a:t>
            </a:r>
            <a:r>
              <a:rPr lang="ru-RU" b="1" dirty="0" smtClean="0"/>
              <a:t> и </a:t>
            </a:r>
            <a:r>
              <a:rPr lang="ru-RU" b="1" dirty="0" err="1" smtClean="0"/>
              <a:t>рискови</a:t>
            </a:r>
            <a:r>
              <a:rPr lang="ru-RU" b="1" dirty="0" smtClean="0"/>
              <a:t> ситуации в </a:t>
            </a:r>
            <a:r>
              <a:rPr lang="ru-RU" b="1" dirty="0" err="1" smtClean="0"/>
              <a:t>пътното</a:t>
            </a:r>
            <a:r>
              <a:rPr lang="ru-RU" b="1" dirty="0" smtClean="0"/>
              <a:t> движение.</a:t>
            </a:r>
            <a:endParaRPr b="1" dirty="0" smtClean="0"/>
          </a:p>
          <a:p>
            <a:pPr>
              <a:defRPr sz="1800">
                <a:latin typeface="Arial"/>
              </a:defRPr>
            </a:pPr>
            <a:r>
              <a:rPr lang="ru-RU" b="1" dirty="0" err="1"/>
              <a:t>Предвиждане</a:t>
            </a:r>
            <a:r>
              <a:rPr lang="ru-RU" b="1" dirty="0"/>
              <a:t> на </a:t>
            </a:r>
            <a:r>
              <a:rPr lang="ru-RU" b="1" dirty="0" err="1"/>
              <a:t>възможни</a:t>
            </a:r>
            <a:r>
              <a:rPr lang="ru-RU" b="1" dirty="0"/>
              <a:t> опасности и своевременно </a:t>
            </a:r>
            <a:r>
              <a:rPr lang="ru-RU" b="1" dirty="0" err="1"/>
              <a:t>реагиране</a:t>
            </a:r>
            <a:r>
              <a:rPr lang="ru-RU" b="1" dirty="0"/>
              <a:t>.</a:t>
            </a:r>
            <a:endParaRPr b="1" dirty="0" smtClean="0"/>
          </a:p>
          <a:p>
            <a:pPr>
              <a:defRPr sz="1800">
                <a:latin typeface="Arial"/>
              </a:defRPr>
            </a:pPr>
            <a:r>
              <a:rPr lang="ru-RU" b="1" dirty="0" err="1"/>
              <a:t>Управляване</a:t>
            </a:r>
            <a:r>
              <a:rPr lang="ru-RU" b="1" dirty="0"/>
              <a:t> на </a:t>
            </a:r>
            <a:r>
              <a:rPr lang="ru-RU" b="1" dirty="0" err="1"/>
              <a:t>моторното</a:t>
            </a:r>
            <a:r>
              <a:rPr lang="ru-RU" b="1" dirty="0"/>
              <a:t> </a:t>
            </a:r>
            <a:r>
              <a:rPr lang="ru-RU" b="1" dirty="0" err="1"/>
              <a:t>превозно</a:t>
            </a:r>
            <a:r>
              <a:rPr lang="ru-RU" b="1" dirty="0"/>
              <a:t> средство по безопасен и отговорен </a:t>
            </a:r>
            <a:r>
              <a:rPr lang="ru-RU" b="1" dirty="0" smtClean="0"/>
              <a:t>начин.</a:t>
            </a:r>
            <a:endParaRPr b="1" dirty="0" smtClean="0"/>
          </a:p>
          <a:p>
            <a:pPr>
              <a:defRPr sz="1800">
                <a:latin typeface="Arial"/>
              </a:defRPr>
            </a:pPr>
            <a:r>
              <a:rPr b="1" dirty="0" err="1" smtClean="0"/>
              <a:t>Умения</a:t>
            </a:r>
            <a:r>
              <a:rPr b="1" dirty="0" smtClean="0"/>
              <a:t> </a:t>
            </a:r>
            <a:r>
              <a:rPr b="1" dirty="0" err="1" smtClean="0"/>
              <a:t>за</a:t>
            </a:r>
            <a:r>
              <a:rPr b="1" dirty="0" smtClean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 smtClean="0"/>
              <a:t>• </a:t>
            </a:r>
            <a:r>
              <a:rPr b="1" dirty="0" err="1" smtClean="0"/>
              <a:t>Разпознаване</a:t>
            </a:r>
            <a:r>
              <a:rPr b="1" dirty="0" smtClean="0"/>
              <a:t> </a:t>
            </a:r>
            <a:r>
              <a:rPr b="1" dirty="0" err="1" smtClean="0"/>
              <a:t>на</a:t>
            </a:r>
            <a:r>
              <a:rPr b="1" dirty="0" smtClean="0"/>
              <a:t> </a:t>
            </a:r>
            <a:r>
              <a:rPr b="1" dirty="0" err="1" smtClean="0"/>
              <a:t>рискови</a:t>
            </a:r>
            <a:r>
              <a:rPr b="1" dirty="0" smtClean="0"/>
              <a:t> </a:t>
            </a:r>
            <a:r>
              <a:rPr b="1" dirty="0" err="1" smtClean="0"/>
              <a:t>ситуации</a:t>
            </a:r>
            <a:r>
              <a:rPr b="1" dirty="0" smtClean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 smtClean="0"/>
              <a:t>• </a:t>
            </a:r>
            <a:r>
              <a:rPr b="1" dirty="0" err="1" smtClean="0"/>
              <a:t>Прилагане</a:t>
            </a:r>
            <a:r>
              <a:rPr b="1" dirty="0" smtClean="0"/>
              <a:t> </a:t>
            </a:r>
            <a:r>
              <a:rPr b="1" dirty="0" err="1" smtClean="0"/>
              <a:t>на</a:t>
            </a:r>
            <a:r>
              <a:rPr b="1" dirty="0" smtClean="0"/>
              <a:t> </a:t>
            </a:r>
            <a:r>
              <a:rPr b="1" dirty="0" err="1" smtClean="0"/>
              <a:t>правилна</a:t>
            </a:r>
            <a:r>
              <a:rPr b="1" dirty="0" smtClean="0"/>
              <a:t> </a:t>
            </a:r>
            <a:r>
              <a:rPr b="1" dirty="0" err="1" smtClean="0"/>
              <a:t>дистанция</a:t>
            </a:r>
            <a:r>
              <a:rPr b="1" dirty="0" smtClean="0"/>
              <a:t> и </a:t>
            </a:r>
            <a:r>
              <a:rPr b="1" dirty="0" err="1" smtClean="0"/>
              <a:t>скорост</a:t>
            </a:r>
            <a:r>
              <a:rPr b="1" dirty="0" smtClean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 smtClean="0"/>
              <a:t>• </a:t>
            </a:r>
            <a:r>
              <a:rPr b="1" dirty="0" err="1" smtClean="0"/>
              <a:t>Осигуряване</a:t>
            </a:r>
            <a:r>
              <a:rPr b="1" dirty="0" smtClean="0"/>
              <a:t> </a:t>
            </a:r>
            <a:r>
              <a:rPr b="1" dirty="0" err="1" smtClean="0"/>
              <a:t>на</a:t>
            </a:r>
            <a:r>
              <a:rPr b="1" dirty="0" smtClean="0"/>
              <a:t> </a:t>
            </a:r>
            <a:r>
              <a:rPr b="1" dirty="0" err="1" smtClean="0"/>
              <a:t>предимство</a:t>
            </a:r>
            <a:r>
              <a:rPr b="1" dirty="0" smtClean="0"/>
              <a:t> и </a:t>
            </a:r>
            <a:r>
              <a:rPr b="1" dirty="0" err="1" smtClean="0"/>
              <a:t>безопасност</a:t>
            </a:r>
            <a:r>
              <a:rPr b="1" dirty="0" smtClean="0"/>
              <a:t>.</a:t>
            </a:r>
            <a:endParaRPr lang="bg-BG" b="1" dirty="0" smtClean="0"/>
          </a:p>
          <a:p>
            <a:pPr>
              <a:defRPr sz="1800">
                <a:latin typeface="Arial"/>
              </a:defRPr>
            </a:pPr>
            <a:r>
              <a:rPr lang="ru-RU" b="1" dirty="0" err="1"/>
              <a:t>Съобразяване</a:t>
            </a:r>
            <a:r>
              <a:rPr lang="ru-RU" b="1" dirty="0"/>
              <a:t> с </a:t>
            </a:r>
            <a:r>
              <a:rPr lang="ru-RU" b="1" dirty="0" err="1"/>
              <a:t>пътните</a:t>
            </a:r>
            <a:r>
              <a:rPr lang="ru-RU" b="1" dirty="0"/>
              <a:t> условия, </a:t>
            </a:r>
            <a:r>
              <a:rPr lang="ru-RU" b="1" dirty="0" err="1"/>
              <a:t>пътната</a:t>
            </a:r>
            <a:r>
              <a:rPr lang="ru-RU" b="1" dirty="0"/>
              <a:t> обстановка и </a:t>
            </a:r>
            <a:r>
              <a:rPr lang="ru-RU" b="1" dirty="0" err="1"/>
              <a:t>поведението</a:t>
            </a:r>
            <a:r>
              <a:rPr lang="ru-RU" b="1" dirty="0"/>
              <a:t> на </a:t>
            </a:r>
            <a:r>
              <a:rPr lang="ru-RU" b="1" dirty="0" err="1"/>
              <a:t>останалите</a:t>
            </a:r>
            <a:r>
              <a:rPr lang="ru-RU" b="1" dirty="0"/>
              <a:t> </a:t>
            </a:r>
            <a:r>
              <a:rPr lang="ru-RU" b="1" dirty="0" err="1"/>
              <a:t>участници</a:t>
            </a:r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99" y="378450"/>
            <a:ext cx="6589199" cy="1280890"/>
          </a:xfrm>
        </p:spPr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МЕТОДИЧЕСКА СТРУКТУРА – ЧАС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913" y="1342029"/>
            <a:ext cx="6591985" cy="3777622"/>
          </a:xfrm>
        </p:spPr>
        <p:txBody>
          <a:bodyPr>
            <a:noAutofit/>
          </a:bodyPr>
          <a:lstStyle/>
          <a:p>
            <a:pPr>
              <a:defRPr sz="1800">
                <a:latin typeface="Arial"/>
              </a:defRPr>
            </a:pPr>
            <a:r>
              <a:rPr b="1" dirty="0" err="1"/>
              <a:t>Въведение</a:t>
            </a:r>
            <a:r>
              <a:rPr b="1" dirty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Ролята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водача</a:t>
            </a:r>
            <a:r>
              <a:rPr b="1" dirty="0"/>
              <a:t> </a:t>
            </a:r>
            <a:r>
              <a:rPr b="1" dirty="0" err="1"/>
              <a:t>за</a:t>
            </a:r>
            <a:r>
              <a:rPr b="1" dirty="0"/>
              <a:t> </a:t>
            </a:r>
            <a:r>
              <a:rPr b="1" dirty="0" err="1"/>
              <a:t>безопасността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уязвимите</a:t>
            </a:r>
            <a:r>
              <a:rPr b="1" dirty="0"/>
              <a:t> </a:t>
            </a:r>
            <a:r>
              <a:rPr b="1" dirty="0" err="1"/>
              <a:t>участници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endParaRPr b="1" dirty="0"/>
          </a:p>
          <a:p>
            <a:pPr>
              <a:defRPr sz="1800">
                <a:latin typeface="Arial"/>
              </a:defRPr>
            </a:pPr>
            <a:r>
              <a:rPr b="1" dirty="0" err="1"/>
              <a:t>Нови</a:t>
            </a:r>
            <a:r>
              <a:rPr b="1" dirty="0"/>
              <a:t> </a:t>
            </a:r>
            <a:r>
              <a:rPr b="1" dirty="0" err="1"/>
              <a:t>знания</a:t>
            </a:r>
            <a:r>
              <a:rPr b="1" dirty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Правила</a:t>
            </a:r>
            <a:r>
              <a:rPr b="1" dirty="0"/>
              <a:t> </a:t>
            </a:r>
            <a:r>
              <a:rPr b="1" dirty="0" err="1"/>
              <a:t>за</a:t>
            </a:r>
            <a:r>
              <a:rPr b="1" dirty="0"/>
              <a:t> </a:t>
            </a:r>
            <a:r>
              <a:rPr b="1" dirty="0" err="1"/>
              <a:t>движение</a:t>
            </a:r>
            <a:r>
              <a:rPr b="1" dirty="0"/>
              <a:t> </a:t>
            </a:r>
            <a:r>
              <a:rPr b="1" dirty="0" err="1"/>
              <a:t>около</a:t>
            </a:r>
            <a:r>
              <a:rPr b="1" dirty="0"/>
              <a:t> </a:t>
            </a:r>
            <a:r>
              <a:rPr b="1" dirty="0" err="1"/>
              <a:t>пешеходци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Изисквания</a:t>
            </a:r>
            <a:r>
              <a:rPr b="1" dirty="0"/>
              <a:t> </a:t>
            </a:r>
            <a:r>
              <a:rPr b="1" dirty="0" err="1"/>
              <a:t>към</a:t>
            </a:r>
            <a:r>
              <a:rPr b="1" dirty="0"/>
              <a:t> </a:t>
            </a:r>
            <a:r>
              <a:rPr b="1" dirty="0" err="1"/>
              <a:t>велосипедисти</a:t>
            </a:r>
            <a:r>
              <a:rPr b="1" dirty="0"/>
              <a:t> и </a:t>
            </a:r>
            <a:r>
              <a:rPr b="1" dirty="0" err="1"/>
              <a:t>индивидуални</a:t>
            </a:r>
            <a:r>
              <a:rPr b="1" dirty="0"/>
              <a:t> </a:t>
            </a:r>
            <a:r>
              <a:rPr b="1" dirty="0" err="1"/>
              <a:t>електрически</a:t>
            </a:r>
            <a:r>
              <a:rPr b="1" dirty="0"/>
              <a:t> </a:t>
            </a:r>
            <a:r>
              <a:rPr b="1" dirty="0" err="1"/>
              <a:t>превозни</a:t>
            </a:r>
            <a:r>
              <a:rPr b="1" dirty="0"/>
              <a:t> </a:t>
            </a:r>
            <a:r>
              <a:rPr b="1" dirty="0" err="1"/>
              <a:t>средства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Особености</a:t>
            </a:r>
            <a:r>
              <a:rPr b="1" dirty="0"/>
              <a:t> </a:t>
            </a:r>
            <a:r>
              <a:rPr b="1" dirty="0" err="1"/>
              <a:t>при</a:t>
            </a:r>
            <a:r>
              <a:rPr b="1" dirty="0"/>
              <a:t> </a:t>
            </a:r>
            <a:r>
              <a:rPr b="1" dirty="0" err="1"/>
              <a:t>превоз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деца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endParaRPr b="1" dirty="0"/>
          </a:p>
          <a:p>
            <a:pPr>
              <a:defRPr sz="1800">
                <a:latin typeface="Arial"/>
              </a:defRPr>
            </a:pPr>
            <a:r>
              <a:rPr b="1" dirty="0" err="1"/>
              <a:t>Затвърждаване</a:t>
            </a:r>
            <a:r>
              <a:rPr b="1" dirty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Анализ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реални</a:t>
            </a:r>
            <a:r>
              <a:rPr b="1" dirty="0"/>
              <a:t> </a:t>
            </a:r>
            <a:r>
              <a:rPr b="1" dirty="0" err="1"/>
              <a:t>пътни</a:t>
            </a:r>
            <a:r>
              <a:rPr b="1" dirty="0"/>
              <a:t> </a:t>
            </a:r>
            <a:r>
              <a:rPr b="1" dirty="0" err="1"/>
              <a:t>ситуации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Разпознаване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рискови</a:t>
            </a:r>
            <a:r>
              <a:rPr b="1" dirty="0"/>
              <a:t> </a:t>
            </a:r>
            <a:r>
              <a:rPr b="1" dirty="0" err="1"/>
              <a:t>поведения</a:t>
            </a:r>
            <a:r>
              <a:rPr b="1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2857" y="405746"/>
            <a:ext cx="6589199" cy="1280890"/>
          </a:xfrm>
        </p:spPr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ЧАС 2: ПРИЛОЖНА МЕТОДИКА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2857" y="1205552"/>
            <a:ext cx="6591985" cy="3777622"/>
          </a:xfrm>
        </p:spPr>
        <p:txBody>
          <a:bodyPr>
            <a:noAutofit/>
          </a:bodyPr>
          <a:lstStyle/>
          <a:p>
            <a:pPr>
              <a:defRPr sz="1800">
                <a:latin typeface="Arial"/>
              </a:defRPr>
            </a:pPr>
            <a:r>
              <a:rPr b="1" dirty="0" err="1"/>
              <a:t>Основен</a:t>
            </a:r>
            <a:r>
              <a:rPr b="1" dirty="0"/>
              <a:t> </a:t>
            </a:r>
            <a:r>
              <a:rPr b="1" dirty="0" err="1"/>
              <a:t>акцент</a:t>
            </a:r>
            <a:r>
              <a:rPr b="1" dirty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 err="1"/>
              <a:t>Формиране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практически</a:t>
            </a:r>
            <a:r>
              <a:rPr b="1" dirty="0"/>
              <a:t> </a:t>
            </a:r>
            <a:r>
              <a:rPr b="1" dirty="0" err="1"/>
              <a:t>умения</a:t>
            </a:r>
            <a:r>
              <a:rPr b="1" dirty="0"/>
              <a:t> </a:t>
            </a:r>
            <a:r>
              <a:rPr b="1" dirty="0" err="1"/>
              <a:t>за</a:t>
            </a:r>
            <a:r>
              <a:rPr b="1" dirty="0"/>
              <a:t> </a:t>
            </a:r>
            <a:r>
              <a:rPr b="1" dirty="0" err="1"/>
              <a:t>реакция</a:t>
            </a:r>
            <a:r>
              <a:rPr b="1" dirty="0"/>
              <a:t> </a:t>
            </a:r>
            <a:r>
              <a:rPr b="1" dirty="0" err="1"/>
              <a:t>при</a:t>
            </a:r>
            <a:r>
              <a:rPr b="1" dirty="0"/>
              <a:t> </a:t>
            </a:r>
            <a:r>
              <a:rPr b="1" dirty="0" err="1"/>
              <a:t>движение</a:t>
            </a:r>
            <a:r>
              <a:rPr b="1" dirty="0"/>
              <a:t> </a:t>
            </a:r>
            <a:r>
              <a:rPr b="1" dirty="0" err="1"/>
              <a:t>около</a:t>
            </a:r>
            <a:r>
              <a:rPr b="1" dirty="0"/>
              <a:t> </a:t>
            </a:r>
            <a:r>
              <a:rPr b="1" dirty="0" err="1"/>
              <a:t>уязвими</a:t>
            </a:r>
            <a:r>
              <a:rPr b="1" dirty="0"/>
              <a:t> </a:t>
            </a:r>
            <a:r>
              <a:rPr b="1" dirty="0" err="1"/>
              <a:t>участници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endParaRPr b="1" dirty="0"/>
          </a:p>
          <a:p>
            <a:pPr>
              <a:defRPr sz="1800">
                <a:latin typeface="Arial"/>
              </a:defRPr>
            </a:pPr>
            <a:r>
              <a:rPr b="1" dirty="0" err="1"/>
              <a:t>Използвани</a:t>
            </a:r>
            <a:r>
              <a:rPr b="1" dirty="0"/>
              <a:t> </a:t>
            </a:r>
            <a:r>
              <a:rPr b="1" dirty="0" err="1"/>
              <a:t>методи</a:t>
            </a:r>
            <a:r>
              <a:rPr b="1" dirty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Метод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казусите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Симулация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пътни</a:t>
            </a:r>
            <a:r>
              <a:rPr b="1" dirty="0"/>
              <a:t> </a:t>
            </a:r>
            <a:r>
              <a:rPr b="1" dirty="0" err="1"/>
              <a:t>ситуации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Ролева</a:t>
            </a:r>
            <a:r>
              <a:rPr b="1" dirty="0"/>
              <a:t> </a:t>
            </a:r>
            <a:r>
              <a:rPr b="1" dirty="0" err="1"/>
              <a:t>игра</a:t>
            </a:r>
            <a:r>
              <a:rPr b="1" dirty="0"/>
              <a:t> – </a:t>
            </a:r>
            <a:r>
              <a:rPr b="1" dirty="0" err="1"/>
              <a:t>поведение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водач</a:t>
            </a:r>
            <a:r>
              <a:rPr b="1" dirty="0"/>
              <a:t> в </a:t>
            </a:r>
            <a:r>
              <a:rPr b="1" dirty="0" err="1"/>
              <a:t>градска</a:t>
            </a:r>
            <a:r>
              <a:rPr b="1" dirty="0"/>
              <a:t> </a:t>
            </a:r>
            <a:r>
              <a:rPr b="1" dirty="0" err="1"/>
              <a:t>среда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endParaRPr b="1" dirty="0"/>
          </a:p>
          <a:p>
            <a:pPr>
              <a:defRPr sz="1800">
                <a:latin typeface="Arial"/>
              </a:defRPr>
            </a:pPr>
            <a:r>
              <a:rPr b="1" dirty="0" err="1"/>
              <a:t>Практически</a:t>
            </a:r>
            <a:r>
              <a:rPr b="1" dirty="0"/>
              <a:t> </a:t>
            </a:r>
            <a:r>
              <a:rPr b="1" dirty="0" err="1"/>
              <a:t>задачи</a:t>
            </a:r>
            <a:r>
              <a:rPr b="1" dirty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Реакция</a:t>
            </a:r>
            <a:r>
              <a:rPr b="1" dirty="0"/>
              <a:t> </a:t>
            </a:r>
            <a:r>
              <a:rPr b="1" dirty="0" err="1"/>
              <a:t>при</a:t>
            </a:r>
            <a:r>
              <a:rPr b="1" dirty="0"/>
              <a:t> </a:t>
            </a:r>
            <a:r>
              <a:rPr b="1" dirty="0" err="1"/>
              <a:t>внезапно</a:t>
            </a:r>
            <a:r>
              <a:rPr b="1" dirty="0"/>
              <a:t> </a:t>
            </a:r>
            <a:r>
              <a:rPr b="1" dirty="0" err="1"/>
              <a:t>пресичащ</a:t>
            </a:r>
            <a:r>
              <a:rPr b="1" dirty="0"/>
              <a:t> </a:t>
            </a:r>
            <a:r>
              <a:rPr b="1" dirty="0" err="1"/>
              <a:t>пешеходец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Изпреварване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велосипедист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Поведение</a:t>
            </a:r>
            <a:r>
              <a:rPr b="1" dirty="0"/>
              <a:t> </a:t>
            </a:r>
            <a:r>
              <a:rPr b="1" dirty="0" err="1"/>
              <a:t>около</a:t>
            </a:r>
            <a:r>
              <a:rPr b="1" dirty="0"/>
              <a:t> </a:t>
            </a:r>
            <a:r>
              <a:rPr b="1" dirty="0" err="1"/>
              <a:t>училищна</a:t>
            </a:r>
            <a:r>
              <a:rPr b="1" dirty="0"/>
              <a:t> </a:t>
            </a:r>
            <a:r>
              <a:rPr b="1" dirty="0" err="1"/>
              <a:t>зона</a:t>
            </a:r>
            <a:r>
              <a:rPr b="1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3882" y="364803"/>
            <a:ext cx="6589199" cy="1280890"/>
          </a:xfrm>
        </p:spPr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ПЕДАГОГИЧЕСКИ ПРИНЦИПИ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096" y="1260143"/>
            <a:ext cx="6591985" cy="3777622"/>
          </a:xfrm>
        </p:spPr>
        <p:txBody>
          <a:bodyPr>
            <a:noAutofit/>
          </a:bodyPr>
          <a:lstStyle/>
          <a:p>
            <a:pPr>
              <a:defRPr sz="1800">
                <a:latin typeface="Arial"/>
              </a:defRPr>
            </a:pPr>
            <a:r>
              <a:rPr b="1" dirty="0" err="1"/>
              <a:t>Принцип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нагледността</a:t>
            </a:r>
            <a:r>
              <a:rPr b="1" dirty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Използване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видеа</a:t>
            </a:r>
            <a:r>
              <a:rPr b="1" dirty="0"/>
              <a:t>, </a:t>
            </a:r>
            <a:r>
              <a:rPr b="1" dirty="0" err="1"/>
              <a:t>снимки</a:t>
            </a:r>
            <a:r>
              <a:rPr b="1" dirty="0"/>
              <a:t> и </a:t>
            </a:r>
            <a:r>
              <a:rPr b="1" dirty="0" err="1"/>
              <a:t>схеми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endParaRPr b="1" dirty="0"/>
          </a:p>
          <a:p>
            <a:pPr>
              <a:defRPr sz="1800">
                <a:latin typeface="Arial"/>
              </a:defRPr>
            </a:pPr>
            <a:r>
              <a:rPr b="1" dirty="0" err="1"/>
              <a:t>Принцип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достъпността</a:t>
            </a:r>
            <a:r>
              <a:rPr b="1" dirty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Обясняване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правилата</a:t>
            </a:r>
            <a:r>
              <a:rPr b="1" dirty="0"/>
              <a:t> </a:t>
            </a:r>
            <a:r>
              <a:rPr b="1" dirty="0" err="1"/>
              <a:t>чрез</a:t>
            </a:r>
            <a:r>
              <a:rPr b="1" dirty="0"/>
              <a:t> </a:t>
            </a:r>
            <a:r>
              <a:rPr b="1" dirty="0" err="1"/>
              <a:t>ежедневни</a:t>
            </a:r>
            <a:r>
              <a:rPr b="1" dirty="0"/>
              <a:t> </a:t>
            </a:r>
            <a:r>
              <a:rPr b="1" dirty="0" err="1"/>
              <a:t>ситуации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endParaRPr b="1" dirty="0"/>
          </a:p>
          <a:p>
            <a:pPr>
              <a:defRPr sz="1800">
                <a:latin typeface="Arial"/>
              </a:defRPr>
            </a:pPr>
            <a:r>
              <a:rPr b="1" dirty="0" err="1"/>
              <a:t>Принцип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активността</a:t>
            </a:r>
            <a:r>
              <a:rPr b="1" dirty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Самостоятелно</a:t>
            </a:r>
            <a:r>
              <a:rPr b="1" dirty="0"/>
              <a:t> </a:t>
            </a:r>
            <a:r>
              <a:rPr b="1" dirty="0" err="1"/>
              <a:t>решаване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казуси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endParaRPr b="1" dirty="0"/>
          </a:p>
          <a:p>
            <a:pPr>
              <a:defRPr sz="1800">
                <a:latin typeface="Arial"/>
              </a:defRPr>
            </a:pPr>
            <a:r>
              <a:rPr b="1" dirty="0" err="1"/>
              <a:t>Свързаност</a:t>
            </a:r>
            <a:r>
              <a:rPr b="1" dirty="0"/>
              <a:t> с </a:t>
            </a:r>
            <a:r>
              <a:rPr b="1" dirty="0" err="1"/>
              <a:t>практиката</a:t>
            </a:r>
            <a:r>
              <a:rPr b="1" dirty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Анализ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реални</a:t>
            </a:r>
            <a:r>
              <a:rPr b="1" dirty="0"/>
              <a:t> ПТП с </a:t>
            </a:r>
            <a:r>
              <a:rPr b="1" dirty="0" err="1"/>
              <a:t>участието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пешеходци</a:t>
            </a:r>
            <a:r>
              <a:rPr b="1" dirty="0"/>
              <a:t> и </a:t>
            </a:r>
            <a:r>
              <a:rPr b="1" dirty="0" err="1"/>
              <a:t>велосипедисти</a:t>
            </a:r>
            <a:r>
              <a:rPr b="1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385643" y="364802"/>
            <a:ext cx="6589199" cy="1280890"/>
          </a:xfrm>
        </p:spPr>
        <p:txBody>
          <a:bodyPr>
            <a:normAutofit/>
          </a:bodyPr>
          <a:lstStyle/>
          <a:p>
            <a:r>
              <a:rPr lang="bg-BG" sz="2800" b="1" dirty="0" smtClean="0"/>
              <a:t>СТРУКТУРА И ХОД НА УРОКА</a:t>
            </a:r>
            <a:endParaRPr lang="en-US" sz="2800" b="1" dirty="0"/>
          </a:p>
        </p:txBody>
      </p:sp>
      <p:graphicFrame>
        <p:nvGraphicFramePr>
          <p:cNvPr id="9" name="Контейнер за съдържание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9841897"/>
              </p:ext>
            </p:extLst>
          </p:nvPr>
        </p:nvGraphicFramePr>
        <p:xfrm>
          <a:off x="1385643" y="1071798"/>
          <a:ext cx="7512697" cy="5813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4232"/>
                <a:gridCol w="980102"/>
                <a:gridCol w="4028363"/>
              </a:tblGrid>
              <a:tr h="897718">
                <a:tc>
                  <a:txBody>
                    <a:bodyPr/>
                    <a:lstStyle/>
                    <a:p>
                      <a:r>
                        <a:rPr lang="bg-BG" dirty="0" smtClean="0"/>
                        <a:t>Етап</a:t>
                      </a:r>
                      <a:r>
                        <a:rPr lang="bg-BG" baseline="0" dirty="0" smtClean="0"/>
                        <a:t> на урока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Време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Дейност</a:t>
                      </a:r>
                      <a:endParaRPr lang="en-US" dirty="0"/>
                    </a:p>
                  </a:txBody>
                  <a:tcPr/>
                </a:tc>
              </a:tr>
              <a:tr h="724193">
                <a:tc>
                  <a:txBody>
                    <a:bodyPr/>
                    <a:lstStyle/>
                    <a:p>
                      <a:r>
                        <a:rPr lang="bg-BG" sz="1800" dirty="0" smtClean="0"/>
                        <a:t>Организационен</a:t>
                      </a:r>
                      <a:r>
                        <a:rPr lang="bg-BG" sz="1800" baseline="0" dirty="0" smtClean="0"/>
                        <a:t> момент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800" dirty="0" smtClean="0"/>
                        <a:t>5 мин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err="1" smtClean="0"/>
                        <a:t>Поздрав</a:t>
                      </a:r>
                      <a:r>
                        <a:rPr lang="ru-RU" sz="1800" dirty="0" smtClean="0"/>
                        <a:t>, проверка на </a:t>
                      </a:r>
                      <a:r>
                        <a:rPr lang="ru-RU" sz="1800" dirty="0" err="1" smtClean="0"/>
                        <a:t>присъствието</a:t>
                      </a:r>
                      <a:r>
                        <a:rPr lang="ru-RU" sz="1800" dirty="0" smtClean="0"/>
                        <a:t> и организация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724193">
                <a:tc>
                  <a:txBody>
                    <a:bodyPr/>
                    <a:lstStyle/>
                    <a:p>
                      <a:r>
                        <a:rPr lang="bg-BG" sz="1800" dirty="0" smtClean="0"/>
                        <a:t>Мотивация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800" dirty="0" smtClean="0"/>
                        <a:t>10 мин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Дискусия</a:t>
                      </a:r>
                      <a:r>
                        <a:rPr lang="ru-RU" dirty="0" smtClean="0"/>
                        <a:t> за </a:t>
                      </a:r>
                      <a:r>
                        <a:rPr lang="ru-RU" dirty="0" err="1" smtClean="0"/>
                        <a:t>безопасността</a:t>
                      </a:r>
                      <a:r>
                        <a:rPr lang="ru-RU" dirty="0" smtClean="0"/>
                        <a:t> на </a:t>
                      </a:r>
                      <a:r>
                        <a:rPr lang="ru-RU" dirty="0" err="1" smtClean="0"/>
                        <a:t>участниците</a:t>
                      </a:r>
                      <a:r>
                        <a:rPr lang="ru-RU" dirty="0" smtClean="0"/>
                        <a:t> в </a:t>
                      </a:r>
                      <a:r>
                        <a:rPr lang="ru-RU" dirty="0" err="1" smtClean="0"/>
                        <a:t>движението</a:t>
                      </a:r>
                      <a:endParaRPr lang="en-US" dirty="0"/>
                    </a:p>
                  </a:txBody>
                  <a:tcPr/>
                </a:tc>
              </a:tr>
              <a:tr h="72419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dirty="0" smtClean="0"/>
                        <a:t>Нови</a:t>
                      </a:r>
                      <a:r>
                        <a:rPr lang="bg-BG" sz="1800" baseline="0" dirty="0" smtClean="0"/>
                        <a:t> знания</a:t>
                      </a:r>
                      <a:endParaRPr lang="en-US" sz="1800" dirty="0" smtClean="0"/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800" dirty="0" smtClean="0"/>
                        <a:t>25 мин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Запознаване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със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специалните</a:t>
                      </a:r>
                      <a:r>
                        <a:rPr lang="ru-RU" dirty="0" smtClean="0"/>
                        <a:t> правила за движение</a:t>
                      </a:r>
                      <a:endParaRPr lang="en-US" dirty="0"/>
                    </a:p>
                  </a:txBody>
                  <a:tcPr/>
                </a:tc>
              </a:tr>
              <a:tr h="724193">
                <a:tc>
                  <a:txBody>
                    <a:bodyPr/>
                    <a:lstStyle/>
                    <a:p>
                      <a:r>
                        <a:rPr lang="bg-BG" sz="1800" dirty="0" smtClean="0"/>
                        <a:t>Затвърждаване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800" dirty="0" smtClean="0"/>
                        <a:t>15 мин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Анализ на </a:t>
                      </a:r>
                      <a:r>
                        <a:rPr lang="ru-RU" dirty="0" err="1" smtClean="0"/>
                        <a:t>реални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пътни</a:t>
                      </a:r>
                      <a:r>
                        <a:rPr lang="ru-RU" dirty="0" smtClean="0"/>
                        <a:t> ситуации</a:t>
                      </a:r>
                      <a:endParaRPr lang="en-US" dirty="0"/>
                    </a:p>
                  </a:txBody>
                  <a:tcPr/>
                </a:tc>
              </a:tr>
              <a:tr h="724193">
                <a:tc>
                  <a:txBody>
                    <a:bodyPr/>
                    <a:lstStyle/>
                    <a:p>
                      <a:r>
                        <a:rPr lang="bg-BG" sz="1800" dirty="0" smtClean="0"/>
                        <a:t>Практическа</a:t>
                      </a:r>
                      <a:r>
                        <a:rPr lang="bg-BG" sz="1800" baseline="0" dirty="0" smtClean="0"/>
                        <a:t> работа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800" dirty="0" smtClean="0"/>
                        <a:t>20 мин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Решаване</a:t>
                      </a:r>
                      <a:r>
                        <a:rPr lang="ru-RU" dirty="0" smtClean="0"/>
                        <a:t> на </a:t>
                      </a:r>
                      <a:r>
                        <a:rPr lang="ru-RU" dirty="0" err="1" smtClean="0"/>
                        <a:t>казуси</a:t>
                      </a:r>
                      <a:r>
                        <a:rPr lang="ru-RU" dirty="0" smtClean="0"/>
                        <a:t> и </a:t>
                      </a:r>
                      <a:r>
                        <a:rPr lang="ru-RU" dirty="0" err="1" smtClean="0"/>
                        <a:t>симулации</a:t>
                      </a:r>
                      <a:endParaRPr lang="ru-RU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724193">
                <a:tc>
                  <a:txBody>
                    <a:bodyPr/>
                    <a:lstStyle/>
                    <a:p>
                      <a:r>
                        <a:rPr lang="bg-BG" sz="1800" dirty="0" smtClean="0"/>
                        <a:t>Обобщение и оценка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Проверка на </a:t>
                      </a:r>
                      <a:r>
                        <a:rPr lang="ru-RU" dirty="0" err="1" smtClean="0"/>
                        <a:t>знанията</a:t>
                      </a:r>
                      <a:r>
                        <a:rPr lang="ru-RU" dirty="0" smtClean="0"/>
                        <a:t> чрез </a:t>
                      </a:r>
                      <a:r>
                        <a:rPr lang="ru-RU" dirty="0" err="1" smtClean="0"/>
                        <a:t>въпроси</a:t>
                      </a:r>
                      <a:endParaRPr lang="ru-RU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4879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768" y="323859"/>
            <a:ext cx="6589199" cy="1280890"/>
          </a:xfrm>
        </p:spPr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ДИДАКТИЧЕСКИ СРЕДСТВА И МАТЕРИАЛНА БАЗА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2982" y="1604749"/>
            <a:ext cx="6591985" cy="3777622"/>
          </a:xfrm>
        </p:spPr>
        <p:txBody>
          <a:bodyPr>
            <a:noAutofit/>
          </a:bodyPr>
          <a:lstStyle/>
          <a:p>
            <a:pPr>
              <a:defRPr sz="1800">
                <a:latin typeface="Arial"/>
              </a:defRPr>
            </a:pPr>
            <a:r>
              <a:rPr b="1" dirty="0" err="1"/>
              <a:t>Технически</a:t>
            </a:r>
            <a:r>
              <a:rPr b="1" dirty="0"/>
              <a:t> </a:t>
            </a:r>
            <a:r>
              <a:rPr b="1" dirty="0" err="1"/>
              <a:t>средства</a:t>
            </a:r>
            <a:r>
              <a:rPr b="1" dirty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Мултимедиен</a:t>
            </a:r>
            <a:r>
              <a:rPr b="1" dirty="0"/>
              <a:t> </a:t>
            </a:r>
            <a:r>
              <a:rPr b="1" dirty="0" err="1"/>
              <a:t>проектор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Интерактивна</a:t>
            </a:r>
            <a:r>
              <a:rPr b="1" dirty="0"/>
              <a:t> </a:t>
            </a:r>
            <a:r>
              <a:rPr b="1" dirty="0" err="1"/>
              <a:t>дъска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Обучителен</a:t>
            </a:r>
            <a:r>
              <a:rPr b="1" dirty="0"/>
              <a:t> </a:t>
            </a:r>
            <a:r>
              <a:rPr b="1" dirty="0" err="1"/>
              <a:t>софтуер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endParaRPr b="1" dirty="0"/>
          </a:p>
          <a:p>
            <a:pPr>
              <a:defRPr sz="1800">
                <a:latin typeface="Arial"/>
              </a:defRPr>
            </a:pPr>
            <a:r>
              <a:rPr b="1" dirty="0" err="1"/>
              <a:t>Нагледни</a:t>
            </a:r>
            <a:r>
              <a:rPr b="1" dirty="0"/>
              <a:t> </a:t>
            </a:r>
            <a:r>
              <a:rPr b="1" dirty="0" err="1"/>
              <a:t>пособия</a:t>
            </a:r>
            <a:r>
              <a:rPr b="1" dirty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Пътни</a:t>
            </a:r>
            <a:r>
              <a:rPr b="1" dirty="0"/>
              <a:t> </a:t>
            </a:r>
            <a:r>
              <a:rPr b="1" dirty="0" err="1"/>
              <a:t>знаци</a:t>
            </a:r>
            <a:r>
              <a:rPr b="1" dirty="0"/>
              <a:t> и </a:t>
            </a:r>
            <a:r>
              <a:rPr b="1" dirty="0" err="1"/>
              <a:t>схеми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Видеоматериали</a:t>
            </a:r>
            <a:r>
              <a:rPr b="1" dirty="0"/>
              <a:t> с </a:t>
            </a:r>
            <a:r>
              <a:rPr b="1" dirty="0" err="1"/>
              <a:t>пътни</a:t>
            </a:r>
            <a:r>
              <a:rPr b="1" dirty="0"/>
              <a:t> </a:t>
            </a:r>
            <a:r>
              <a:rPr b="1" dirty="0" err="1"/>
              <a:t>ситуации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endParaRPr b="1" dirty="0"/>
          </a:p>
          <a:p>
            <a:pPr>
              <a:defRPr sz="1800">
                <a:latin typeface="Arial"/>
              </a:defRPr>
            </a:pPr>
            <a:r>
              <a:rPr b="1" dirty="0" err="1"/>
              <a:t>Работни</a:t>
            </a:r>
            <a:r>
              <a:rPr b="1" dirty="0"/>
              <a:t> </a:t>
            </a:r>
            <a:r>
              <a:rPr b="1" dirty="0" err="1"/>
              <a:t>материали</a:t>
            </a:r>
            <a:r>
              <a:rPr b="1" dirty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Тестови</a:t>
            </a:r>
            <a:r>
              <a:rPr b="1" dirty="0"/>
              <a:t> </a:t>
            </a:r>
            <a:r>
              <a:rPr b="1" dirty="0" err="1"/>
              <a:t>карти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Практически</a:t>
            </a:r>
            <a:r>
              <a:rPr b="1" dirty="0"/>
              <a:t> </a:t>
            </a:r>
            <a:r>
              <a:rPr b="1" dirty="0" err="1"/>
              <a:t>казуси</a:t>
            </a:r>
            <a:r>
              <a:rPr b="1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120" y="337507"/>
            <a:ext cx="6589199" cy="1280890"/>
          </a:xfrm>
        </p:spPr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КОНТРОЛ И ОЦЕНКА НА РЕЗУЛТАТИТЕ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9334" y="1663890"/>
            <a:ext cx="6591985" cy="3777622"/>
          </a:xfrm>
        </p:spPr>
        <p:txBody>
          <a:bodyPr>
            <a:normAutofit/>
          </a:bodyPr>
          <a:lstStyle/>
          <a:p>
            <a:pPr>
              <a:defRPr sz="1800">
                <a:latin typeface="Arial"/>
              </a:defRPr>
            </a:pPr>
            <a:r>
              <a:rPr b="1" dirty="0" err="1"/>
              <a:t>Форми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контрол</a:t>
            </a:r>
            <a:r>
              <a:rPr b="1" dirty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Устни</a:t>
            </a:r>
            <a:r>
              <a:rPr b="1" dirty="0"/>
              <a:t> </a:t>
            </a:r>
            <a:r>
              <a:rPr b="1" dirty="0" err="1"/>
              <a:t>въпроси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Решаване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практически</a:t>
            </a:r>
            <a:r>
              <a:rPr b="1" dirty="0"/>
              <a:t> </a:t>
            </a:r>
            <a:r>
              <a:rPr b="1" dirty="0" err="1"/>
              <a:t>казуси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Симулация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ситуации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endParaRPr b="1" dirty="0"/>
          </a:p>
          <a:p>
            <a:pPr>
              <a:defRPr sz="1800">
                <a:latin typeface="Arial"/>
              </a:defRPr>
            </a:pPr>
            <a:r>
              <a:rPr b="1" dirty="0" err="1"/>
              <a:t>Критерии</a:t>
            </a:r>
            <a:r>
              <a:rPr b="1" dirty="0"/>
              <a:t> </a:t>
            </a:r>
            <a:r>
              <a:rPr b="1" dirty="0" err="1"/>
              <a:t>за</a:t>
            </a:r>
            <a:r>
              <a:rPr b="1" dirty="0"/>
              <a:t> </a:t>
            </a:r>
            <a:r>
              <a:rPr b="1" dirty="0" err="1"/>
              <a:t>оценяване</a:t>
            </a:r>
            <a:r>
              <a:rPr b="1" dirty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Правилно</a:t>
            </a:r>
            <a:r>
              <a:rPr b="1" dirty="0"/>
              <a:t> </a:t>
            </a:r>
            <a:r>
              <a:rPr b="1" dirty="0" err="1"/>
              <a:t>прилагане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правилата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Адекватност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реакцията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Осъзнаване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личната</a:t>
            </a:r>
            <a:r>
              <a:rPr b="1" dirty="0"/>
              <a:t> </a:t>
            </a:r>
            <a:r>
              <a:rPr b="1" dirty="0" err="1"/>
              <a:t>отговорност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9291" y="412295"/>
            <a:ext cx="6589199" cy="1280890"/>
          </a:xfrm>
        </p:spPr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ОЧАКВАНИ РЕЗУЛТАТИ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6505" y="1628633"/>
            <a:ext cx="6591985" cy="3777622"/>
          </a:xfrm>
        </p:spPr>
        <p:txBody>
          <a:bodyPr>
            <a:noAutofit/>
          </a:bodyPr>
          <a:lstStyle/>
          <a:p>
            <a:pPr>
              <a:defRPr sz="1800">
                <a:latin typeface="Arial"/>
              </a:defRPr>
            </a:pPr>
            <a:r>
              <a:rPr b="1" dirty="0" err="1"/>
              <a:t>Когнитивни</a:t>
            </a:r>
            <a:r>
              <a:rPr b="1" dirty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Познаване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специалните</a:t>
            </a:r>
            <a:r>
              <a:rPr b="1" dirty="0"/>
              <a:t> </a:t>
            </a:r>
            <a:r>
              <a:rPr b="1" dirty="0" err="1"/>
              <a:t>правила</a:t>
            </a:r>
            <a:r>
              <a:rPr b="1" dirty="0"/>
              <a:t> </a:t>
            </a:r>
            <a:r>
              <a:rPr b="1" dirty="0" err="1"/>
              <a:t>за</a:t>
            </a:r>
            <a:r>
              <a:rPr b="1" dirty="0"/>
              <a:t> </a:t>
            </a:r>
            <a:r>
              <a:rPr b="1" dirty="0" err="1"/>
              <a:t>участниците</a:t>
            </a:r>
            <a:r>
              <a:rPr b="1" dirty="0"/>
              <a:t> в </a:t>
            </a:r>
            <a:r>
              <a:rPr b="1" dirty="0" err="1"/>
              <a:t>движението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endParaRPr b="1" dirty="0"/>
          </a:p>
          <a:p>
            <a:pPr>
              <a:defRPr sz="1800">
                <a:latin typeface="Arial"/>
              </a:defRPr>
            </a:pPr>
            <a:r>
              <a:rPr b="1" dirty="0" err="1"/>
              <a:t>Операционални</a:t>
            </a:r>
            <a:r>
              <a:rPr b="1" dirty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Правилна</a:t>
            </a:r>
            <a:r>
              <a:rPr b="1" dirty="0"/>
              <a:t> </a:t>
            </a:r>
            <a:r>
              <a:rPr b="1" dirty="0" err="1"/>
              <a:t>реакция</a:t>
            </a:r>
            <a:r>
              <a:rPr b="1" dirty="0"/>
              <a:t> в </a:t>
            </a:r>
            <a:r>
              <a:rPr b="1" dirty="0" err="1"/>
              <a:t>рискови</a:t>
            </a:r>
            <a:r>
              <a:rPr b="1" dirty="0"/>
              <a:t> </a:t>
            </a:r>
            <a:r>
              <a:rPr b="1" dirty="0" err="1"/>
              <a:t>ситуации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Спазване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дистанция</a:t>
            </a:r>
            <a:r>
              <a:rPr b="1" dirty="0"/>
              <a:t> и </a:t>
            </a:r>
            <a:r>
              <a:rPr b="1" dirty="0" err="1"/>
              <a:t>безопасна</a:t>
            </a:r>
            <a:r>
              <a:rPr b="1" dirty="0"/>
              <a:t> </a:t>
            </a:r>
            <a:r>
              <a:rPr b="1" dirty="0" err="1"/>
              <a:t>скорост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endParaRPr b="1" dirty="0"/>
          </a:p>
          <a:p>
            <a:pPr>
              <a:defRPr sz="1800">
                <a:latin typeface="Arial"/>
              </a:defRPr>
            </a:pPr>
            <a:r>
              <a:rPr b="1" dirty="0" err="1"/>
              <a:t>Поведенчески</a:t>
            </a:r>
            <a:r>
              <a:rPr b="1" dirty="0"/>
              <a:t>: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Изграждане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култура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толерантност</a:t>
            </a:r>
            <a:r>
              <a:rPr b="1" dirty="0"/>
              <a:t> и </a:t>
            </a:r>
            <a:r>
              <a:rPr b="1" dirty="0" err="1"/>
              <a:t>безопасност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Отговорно</a:t>
            </a:r>
            <a:r>
              <a:rPr b="1" dirty="0"/>
              <a:t> </a:t>
            </a:r>
            <a:r>
              <a:rPr b="1" dirty="0" err="1"/>
              <a:t>поведение</a:t>
            </a:r>
            <a:r>
              <a:rPr b="1" dirty="0"/>
              <a:t> </a:t>
            </a:r>
            <a:r>
              <a:rPr b="1" dirty="0" err="1"/>
              <a:t>към</a:t>
            </a:r>
            <a:r>
              <a:rPr b="1" dirty="0"/>
              <a:t> </a:t>
            </a:r>
            <a:r>
              <a:rPr b="1" dirty="0" err="1"/>
              <a:t>уязвимите</a:t>
            </a:r>
            <a:r>
              <a:rPr b="1" dirty="0"/>
              <a:t> </a:t>
            </a:r>
            <a:r>
              <a:rPr b="1" dirty="0" err="1"/>
              <a:t>участници</a:t>
            </a:r>
            <a:r>
              <a:rPr b="1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9334" y="514928"/>
            <a:ext cx="6589199" cy="1280890"/>
          </a:xfrm>
        </p:spPr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9334" y="1546746"/>
            <a:ext cx="6591985" cy="3777622"/>
          </a:xfrm>
        </p:spPr>
        <p:txBody>
          <a:bodyPr/>
          <a:lstStyle/>
          <a:p>
            <a:pPr>
              <a:defRPr sz="1800">
                <a:latin typeface="Arial"/>
              </a:defRPr>
            </a:pPr>
            <a:r>
              <a:rPr b="1" dirty="0" err="1"/>
              <a:t>Методическата</a:t>
            </a:r>
            <a:r>
              <a:rPr b="1" dirty="0"/>
              <a:t> </a:t>
            </a:r>
            <a:r>
              <a:rPr b="1" dirty="0" err="1"/>
              <a:t>разработка</a:t>
            </a:r>
            <a:r>
              <a:rPr b="1" dirty="0"/>
              <a:t> е </a:t>
            </a:r>
            <a:r>
              <a:rPr b="1" dirty="0" err="1"/>
              <a:t>съобразена</a:t>
            </a:r>
            <a:r>
              <a:rPr b="1" dirty="0"/>
              <a:t> с </a:t>
            </a:r>
            <a:r>
              <a:rPr b="1" dirty="0" err="1"/>
              <a:t>изискванията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МОН и </a:t>
            </a:r>
            <a:r>
              <a:rPr b="1" dirty="0" err="1"/>
              <a:t>Закона</a:t>
            </a:r>
            <a:r>
              <a:rPr b="1" dirty="0"/>
              <a:t> </a:t>
            </a:r>
            <a:r>
              <a:rPr b="1" dirty="0" err="1"/>
              <a:t>за</a:t>
            </a:r>
            <a:r>
              <a:rPr b="1" dirty="0"/>
              <a:t> </a:t>
            </a:r>
            <a:r>
              <a:rPr b="1" dirty="0" err="1"/>
              <a:t>движението</a:t>
            </a:r>
            <a:r>
              <a:rPr b="1" dirty="0"/>
              <a:t> </a:t>
            </a:r>
            <a:r>
              <a:rPr b="1" dirty="0" err="1"/>
              <a:t>по</a:t>
            </a:r>
            <a:r>
              <a:rPr b="1" dirty="0"/>
              <a:t> </a:t>
            </a:r>
            <a:r>
              <a:rPr b="1" dirty="0" err="1"/>
              <a:t>пътищата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endParaRPr b="1" dirty="0"/>
          </a:p>
          <a:p>
            <a:pPr>
              <a:defRPr sz="1800">
                <a:latin typeface="Arial"/>
              </a:defRPr>
            </a:pPr>
            <a:r>
              <a:rPr b="1" dirty="0" err="1"/>
              <a:t>Основен</a:t>
            </a:r>
            <a:r>
              <a:rPr b="1" dirty="0"/>
              <a:t> </a:t>
            </a:r>
            <a:r>
              <a:rPr b="1" dirty="0" err="1"/>
              <a:t>акцент</a:t>
            </a:r>
            <a:r>
              <a:rPr b="1" dirty="0"/>
              <a:t> е </a:t>
            </a:r>
            <a:r>
              <a:rPr b="1" dirty="0" err="1"/>
              <a:t>безопасността</a:t>
            </a:r>
            <a:r>
              <a:rPr b="1" dirty="0"/>
              <a:t> и </a:t>
            </a:r>
            <a:r>
              <a:rPr b="1" dirty="0" err="1"/>
              <a:t>защитата</a:t>
            </a:r>
            <a:r>
              <a:rPr b="1" dirty="0"/>
              <a:t> </a:t>
            </a:r>
            <a:r>
              <a:rPr b="1" dirty="0" err="1"/>
              <a:t>на</a:t>
            </a:r>
            <a:r>
              <a:rPr b="1" dirty="0"/>
              <a:t> </a:t>
            </a:r>
            <a:r>
              <a:rPr b="1" dirty="0" err="1"/>
              <a:t>уязвимите</a:t>
            </a:r>
            <a:r>
              <a:rPr b="1" dirty="0"/>
              <a:t> </a:t>
            </a:r>
            <a:r>
              <a:rPr b="1" dirty="0" err="1"/>
              <a:t>участници</a:t>
            </a:r>
            <a:r>
              <a:rPr b="1" dirty="0"/>
              <a:t> в </a:t>
            </a:r>
            <a:r>
              <a:rPr b="1" dirty="0" err="1"/>
              <a:t>движението</a:t>
            </a:r>
            <a:r>
              <a:rPr b="1" dirty="0"/>
              <a:t>.</a:t>
            </a:r>
          </a:p>
          <a:p>
            <a:pPr>
              <a:defRPr sz="1800">
                <a:latin typeface="Arial"/>
              </a:defRPr>
            </a:pPr>
            <a:endParaRPr b="1" dirty="0"/>
          </a:p>
          <a:p>
            <a:pPr>
              <a:defRPr sz="1800">
                <a:latin typeface="Arial"/>
              </a:defRPr>
            </a:pPr>
            <a:r>
              <a:rPr b="1" dirty="0" err="1"/>
              <a:t>Благодаря</a:t>
            </a:r>
            <a:r>
              <a:rPr b="1" dirty="0"/>
              <a:t> </a:t>
            </a:r>
            <a:r>
              <a:rPr b="1" dirty="0" err="1"/>
              <a:t>за</a:t>
            </a:r>
            <a:r>
              <a:rPr b="1" dirty="0"/>
              <a:t> </a:t>
            </a:r>
            <a:r>
              <a:rPr b="1" dirty="0" err="1"/>
              <a:t>вниманието</a:t>
            </a:r>
            <a:r>
              <a:rPr b="1" dirty="0"/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Загатване">
  <a:themeElements>
    <a:clrScheme name="Загатване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Загатване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Загатване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102</TotalTime>
  <Words>576</Words>
  <Application>Microsoft Office PowerPoint</Application>
  <PresentationFormat>Презентация на цял екран (4:3)</PresentationFormat>
  <Paragraphs>122</Paragraphs>
  <Slides>11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Загатване</vt:lpstr>
      <vt:lpstr>МЕТОДИЧЕСКА РАЗРАБОТКА НА УРОК</vt:lpstr>
      <vt:lpstr>ОСНОВНИ ДАННИ</vt:lpstr>
      <vt:lpstr>ЦЕЛИ НА УРОКА</vt:lpstr>
      <vt:lpstr>МЕТОДИЧЕСКА СТРУКТУРА – ЧАС 1</vt:lpstr>
      <vt:lpstr>ЧАС 2: ПРИЛОЖНА МЕТОДИКА</vt:lpstr>
      <vt:lpstr>ПЕДАГОГИЧЕСКИ ПРИНЦИПИ</vt:lpstr>
      <vt:lpstr>СТРУКТУРА И ХОД НА УРОКА</vt:lpstr>
      <vt:lpstr>ДИДАКТИЧЕСКИ СРЕДСТВА И МАТЕРИАЛНА БАЗА</vt:lpstr>
      <vt:lpstr>КОНТРОЛ И ОЦЕНКА НА РЕЗУЛТАТИТЕ</vt:lpstr>
      <vt:lpstr>ОЧАКВАНИ РЕЗУЛТАТИ</vt:lpstr>
      <vt:lpstr>ЗАКЛЮЧЕНИЕ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МЕТОДИЧЕСКА РАЗРАБОТКА НА УРОК</dc:title>
  <dc:subject/>
  <dc:creator>Bonini</dc:creator>
  <cp:keywords/>
  <dc:description>generated using python-pptx</dc:description>
  <cp:lastModifiedBy>Stefi</cp:lastModifiedBy>
  <cp:revision>10</cp:revision>
  <dcterms:created xsi:type="dcterms:W3CDTF">2013-01-27T09:14:16Z</dcterms:created>
  <dcterms:modified xsi:type="dcterms:W3CDTF">2026-06-12T21:34:16Z</dcterms:modified>
  <cp:category/>
</cp:coreProperties>
</file>