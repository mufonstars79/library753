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Увереност</c:v>
                </c:pt>
              </c:strCache>
            </c:strRef>
          </c:tx>
          <c:spPr>
            <a:solidFill>
              <a:srgbClr val="00B4D8"/>
            </a:solidFill>
            <a:effectLst/>
          </c:spPr>
          <c:cat>
            <c:strRef>
              <c:f>Sheet1!$A$2:$A$9</c:f>
              <c:strCache>
                <c:ptCount val="8"/>
                <c:pt idx="0">
                  <c:v>Урок 1</c:v>
                </c:pt>
                <c:pt idx="1">
                  <c:v>Урок 3</c:v>
                </c:pt>
                <c:pt idx="2">
                  <c:v>Урок 5</c:v>
                </c:pt>
                <c:pt idx="3">
                  <c:v>Урок 8</c:v>
                </c:pt>
                <c:pt idx="4">
                  <c:v>Урок 10</c:v>
                </c:pt>
                <c:pt idx="5">
                  <c:v>Урок 12</c:v>
                </c:pt>
                <c:pt idx="6">
                  <c:v>Урок 15</c:v>
                </c:pt>
                <c:pt idx="7">
                  <c:v>Изпит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22</c:v>
                </c:pt>
                <c:pt idx="2">
                  <c:v>35</c:v>
                </c:pt>
                <c:pt idx="3">
                  <c:v>50</c:v>
                </c:pt>
                <c:pt idx="4">
                  <c:v>63</c:v>
                </c:pt>
                <c:pt idx="5">
                  <c:v>74</c:v>
                </c:pt>
                <c:pt idx="6">
                  <c:v>83</c:v>
                </c:pt>
                <c:pt idx="7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7C-4BF8-B161-1A79D75A0A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56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188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012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582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727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8897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62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7789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0808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235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060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655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06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19.05.2026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38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 и ясно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комуникиране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Стратегии</a:t>
            </a: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ефективно обучение на водачи на МПС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6116" y="386105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753 · Инженерно-педагогически факултет · ТУ – София, </a:t>
            </a:r>
            <a:r>
              <a:rPr lang="en-US" sz="110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Колеж Сливен</a:t>
            </a:r>
            <a:endParaRPr lang="bg-BG" sz="1100">
              <a:solidFill>
                <a:srgbClr val="7A9B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bg-BG" sz="110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Ивайло Здравков Недков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920240"/>
            <a:ext cx="21945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Силата на думите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 волана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 на професионалния инструктор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Повече от учител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Модерният инструктор не само предава знания, но и управлява емоционалното състояние на курсанта. Вашето спокойствие е тяхната безопасност.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974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 слушане на нуждите на ученика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Адаптивен стил на говорене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0332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Поддържане на позитивна учебна среда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0624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стреса и тревожността на курсанта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5" name="Text 9"/>
          <p:cNvSpPr/>
          <p:nvPr/>
        </p:nvSpPr>
        <p:spPr>
          <a:xfrm>
            <a:off x="502920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„Вашето спокойствие зад волана се предава директно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курсанта.“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02920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Психологически аспект на обучението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 на кратките команди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8686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966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ПОДГОТОВКА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„На следващото кръстовище...“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4114800" cy="86868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02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ДЕЙСТВИЕ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„...завий надясно.“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971800"/>
            <a:ext cx="411480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ИЗБЯГВАЙТЕ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„Сега, ако видиш, че няма коли, може би е добре да се опиташ да завиеш...“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3977640"/>
            <a:ext cx="4114800" cy="868680"/>
          </a:xfrm>
          <a:prstGeom prst="rect">
            <a:avLst/>
          </a:prstGeom>
          <a:solidFill>
            <a:srgbClr val="1A7A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142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РЕЗУЛТАТ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По-малко стрес и по-бърза реакция на курсанта.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3931920" cy="379476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Принципът на командата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Добрата команда съдържа: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Ориентир (кръстовище, спирка, светофар)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Посока (наляво / надясно / право)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Момент (точен и предвиден)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Избягвайте условни изречения и излишни пояснения по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 на самото изпълнение.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Златният тайминг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82296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331720"/>
            <a:ext cx="164592" cy="164592"/>
          </a:xfrm>
          <a:prstGeom prst="lin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Виждане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-4572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Инструкторът забелязва ситуацията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2331720"/>
            <a:ext cx="164592" cy="164592"/>
          </a:xfrm>
          <a:prstGeom prst="line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м преди маневрата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2331720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Осмисляне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Курсантът обработва информацията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18120" y="2331720"/>
            <a:ext cx="164592" cy="164592"/>
          </a:xfrm>
          <a:prstGeom prst="lin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Изпълнение на маневрата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Комуникацията губи смисъл, ако закъснее с една секунда.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Правилният момент за инструкция в градска среда е 50–100 метра преди маневрата.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 дава достатъчно време на курсанта да премине през процеса: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Виждане → Осмисляне → Действие.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Адаптиране към курсанта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743200" cy="365760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94360" cy="594360"/>
          </a:xfrm>
          <a:prstGeom prst="lin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98448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Аналитичен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Нуждае се от логика и обяснение "защо" се прави маневрата. Обичат теорията преди практиката.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65760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234440"/>
            <a:ext cx="594360" cy="594360"/>
          </a:xfrm>
          <a:prstGeom prst="lin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298448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Директивен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 кратки, ясни и строги инструкции без излишни детайли. Ориентиран към резултата.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005840"/>
            <a:ext cx="2743200" cy="365760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234440"/>
            <a:ext cx="594360" cy="594360"/>
          </a:xfrm>
          <a:prstGeom prst="lin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298448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Релационен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217920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Нуждае се от емоционална подкрепа и потвърждение, че се справя добре. Чувствителен към тон.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Невербална комуникация в автомобила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70% от комуникацията е невербална. Инструкторът излъчва сигнали непрекъснато.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182880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554480"/>
            <a:ext cx="356616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Позитивно (Да)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274320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Негативно (Не)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1828800" cy="612648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048256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 на гласа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31720" y="2011680"/>
            <a:ext cx="3566160" cy="612648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2048256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Спокоен, уверен тон – намалява стреса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2011680"/>
            <a:ext cx="2743200" cy="612648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2472" y="2048256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Нервен или висок глас – провокира паника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670048"/>
            <a:ext cx="1828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706624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Темпо на речта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31720" y="2670048"/>
            <a:ext cx="35661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04872" y="2706624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Бавно и ясно – помага за обработка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2670048"/>
            <a:ext cx="27432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706624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Бързо говорене – натоварва работната памет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3328416"/>
            <a:ext cx="1828800" cy="612648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36499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Поза на тялото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331720" y="3328416"/>
            <a:ext cx="3566160" cy="612648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4872" y="3364992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Спокойна стойка – предава спокойствие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3328416"/>
            <a:ext cx="2743200" cy="612648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3364992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Напрегнати рамене – сигнализира опасност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3986784"/>
            <a:ext cx="1828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4023360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Жестове с ръце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31720" y="3986784"/>
            <a:ext cx="35661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04872" y="4023360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Контролирани, предварителни жестове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89320" y="3986784"/>
            <a:ext cx="27432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4023360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Внезапни движения – разсейват вниманието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DDE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Безопасността на пътя не започва от педала на спирачката,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i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от ясната мисъл на водача.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Наръчник за инструктори по МПС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върху обучението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017520" cy="37490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4630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по-малко грешки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използване на техниката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кратките команди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005840"/>
            <a:ext cx="5029200" cy="178308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10972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Резултати от проучвания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50876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Курсантите, обучавани с методиката на "кратката команда", показват значително по-висока увереност по време на държавния изпит.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49040" y="2971800"/>
            <a:ext cx="5029200" cy="178308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3063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Неврологично обяснение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4747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Ясната комуникация намалява нивата на кортизол (стрес) с над 30%, позволявайки на мозъка да учи по-ефективно и да задържа нова информация.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Езикът на успеха: Практически примери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87452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005840"/>
            <a:ext cx="310896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05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Избягвайте (Не)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005840"/>
            <a:ext cx="320040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0058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Използвайте (Да)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90472"/>
            <a:ext cx="1874520" cy="82296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527048"/>
            <a:ext cx="17282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Грешка при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превключване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490472"/>
            <a:ext cx="3108960" cy="822960"/>
          </a:xfrm>
          <a:prstGeom prst="rect">
            <a:avLst/>
          </a:prstGeom>
          <a:solidFill>
            <a:srgbClr val="FEF0E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527048"/>
            <a:ext cx="29626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"Защо пак хърка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скоростната кутия?"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490472"/>
            <a:ext cx="3200400" cy="822960"/>
          </a:xfrm>
          <a:prstGeom prst="rect">
            <a:avLst/>
          </a:prstGeom>
          <a:solidFill>
            <a:srgbClr val="EAF5EA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527048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"Натисни съединителя докрай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 да смениш."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368296"/>
            <a:ext cx="1874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404872"/>
            <a:ext cx="17282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Наближаване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пешеходец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368296"/>
            <a:ext cx="3108960" cy="822960"/>
          </a:xfrm>
          <a:prstGeom prst="rect">
            <a:avLst/>
          </a:prstGeom>
          <a:solidFill>
            <a:srgbClr val="FEF0E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2404872"/>
            <a:ext cx="29626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"Гледай къде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караш, има хора!"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368296"/>
            <a:ext cx="3200400" cy="822960"/>
          </a:xfrm>
          <a:prstGeom prst="rect">
            <a:avLst/>
          </a:prstGeom>
          <a:solidFill>
            <a:srgbClr val="EAF5EA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404872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"Виж пешеходеца вляво.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Подготви спирачка."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1874520" cy="822960"/>
          </a:xfrm>
          <a:prstGeom prst="rect">
            <a:avLst/>
          </a:prstGeom>
          <a:solidFill>
            <a:srgbClr val="EDF3F8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282696"/>
            <a:ext cx="17282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връзка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3108960" cy="822960"/>
          </a:xfrm>
          <a:prstGeom prst="rect">
            <a:avLst/>
          </a:prstGeom>
          <a:solidFill>
            <a:srgbClr val="FEF0E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3282696"/>
            <a:ext cx="29626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"Днес кара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лошо."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246120"/>
            <a:ext cx="3200400" cy="822960"/>
          </a:xfrm>
          <a:prstGeom prst="rect">
            <a:avLst/>
          </a:prstGeom>
          <a:solidFill>
            <a:srgbClr val="EAF5EA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3282696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"Имаме напредък с волана,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ще работим върху знаците."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4123944"/>
            <a:ext cx="1874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4160520"/>
            <a:ext cx="17282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място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4123944"/>
            <a:ext cx="3108960" cy="822960"/>
          </a:xfrm>
          <a:prstGeom prst="rect">
            <a:avLst/>
          </a:prstGeom>
          <a:solidFill>
            <a:srgbClr val="FEF0E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4160520"/>
            <a:ext cx="29626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"Внимавай да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изгасиш!"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4123944"/>
            <a:ext cx="3200400" cy="822960"/>
          </a:xfrm>
          <a:prstGeom prst="rect">
            <a:avLst/>
          </a:prstGeom>
          <a:solidFill>
            <a:srgbClr val="EAF5EA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4160520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"Хайде – газ плавно,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пусни съединителя бавно."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 на увереността на курсанта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005840"/>
          <a:ext cx="83210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Графиката показва как системната и ясна обратна връзка ускорява кривата на учене.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Въпроси?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за вниманието и професионализма!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753 · Инженерно-педагогически факултет · ТУ – София, Колеж Сливен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10972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621</Words>
  <Application>Microsoft Office PowerPoint</Application>
  <PresentationFormat>On-screen Show (16:9)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Кратко и ясно комуникиране</dc:title>
  <dc:subject>PptxGenJS Presentation</dc:subject>
  <dc:creator>Курс 753 – ТУ Сливен</dc:creator>
  <cp:lastModifiedBy>Ivaylo</cp:lastModifiedBy>
  <cp:revision>2</cp:revision>
  <dcterms:created xsi:type="dcterms:W3CDTF">2026-05-19T07:56:34Z</dcterms:created>
  <dcterms:modified xsi:type="dcterms:W3CDTF">2026-05-19T08:07:44Z</dcterms:modified>
</cp:coreProperties>
</file>