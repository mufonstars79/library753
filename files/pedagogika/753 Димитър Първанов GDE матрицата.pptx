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77" r:id="rId4"/>
    <p:sldId id="258" r:id="rId5"/>
    <p:sldId id="260" r:id="rId6"/>
    <p:sldId id="261" r:id="rId7"/>
    <p:sldId id="266" r:id="rId8"/>
    <p:sldId id="262" r:id="rId9"/>
    <p:sldId id="263" r:id="rId10"/>
    <p:sldId id="279" r:id="rId11"/>
    <p:sldId id="283" r:id="rId12"/>
    <p:sldId id="284" r:id="rId13"/>
    <p:sldId id="264" r:id="rId14"/>
    <p:sldId id="289" r:id="rId15"/>
    <p:sldId id="267" r:id="rId16"/>
    <p:sldId id="269" r:id="rId17"/>
    <p:sldId id="274" r:id="rId18"/>
    <p:sldId id="272" r:id="rId19"/>
    <p:sldId id="273" r:id="rId20"/>
    <p:sldId id="281" r:id="rId21"/>
    <p:sldId id="290" r:id="rId22"/>
    <p:sldId id="275" r:id="rId23"/>
    <p:sldId id="276" r:id="rId24"/>
  </p:sldIdLst>
  <p:sldSz cx="9144000" cy="72009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26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48D0F-1F55-4B7E-AB70-11B9BB5EC83A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2538" y="685800"/>
            <a:ext cx="43529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4C8D4-BBC2-4401-9799-549B0E5ABFC1}" type="slidenum">
              <a:rPr lang="bg-BG" smtClean="0"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440180"/>
            <a:ext cx="7851648" cy="192024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389963"/>
            <a:ext cx="7854696" cy="184023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A120B-EACF-43DA-8C56-88696FAD2FC4}" type="datetime1">
              <a:rPr lang="bg-BG" smtClean="0"/>
              <a:t>31.5.2026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579C-7298-4B7C-A241-71A44065CDC2}" type="datetime1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82573"/>
            <a:ext cx="7772400" cy="1430579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839897"/>
            <a:ext cx="7772400" cy="1585198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5864-5456-4AA8-B6BD-E887C1242D11}" type="datetime1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9292"/>
            <a:ext cx="8229600" cy="12001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16089"/>
            <a:ext cx="4038600" cy="465658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016089"/>
            <a:ext cx="4038600" cy="465658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21D7-BB96-477E-AB13-A68644CFA9CC}" type="datetime1">
              <a:rPr lang="bg-BG" smtClean="0"/>
              <a:t>31.5.2026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9292"/>
            <a:ext cx="8229600" cy="12001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48010"/>
            <a:ext cx="4040188" cy="692320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952745"/>
            <a:ext cx="4041775" cy="687585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640330"/>
            <a:ext cx="4040188" cy="4038006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640330"/>
            <a:ext cx="4041775" cy="4038006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C124-F881-46F3-B8D0-7B819A561A46}" type="datetime1">
              <a:rPr lang="bg-BG" smtClean="0"/>
              <a:t>31.5.2026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9292"/>
            <a:ext cx="8305800" cy="12001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BC3D-3C01-42B5-9300-04A65676B936}" type="datetime1">
              <a:rPr lang="bg-BG" smtClean="0"/>
              <a:t>31.5.2026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F283-FCB2-41B1-9EE2-11B80D348C94}" type="datetime1">
              <a:rPr lang="bg-BG" smtClean="0"/>
              <a:t>31.5.2026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40069"/>
            <a:ext cx="2743200" cy="1220153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760220"/>
            <a:ext cx="2743200" cy="48006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760220"/>
            <a:ext cx="5111750" cy="48006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C0D-C513-4E89-ABC3-470E2FB380B2}" type="datetime1">
              <a:rPr lang="bg-BG" smtClean="0"/>
              <a:t>31.5.2026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63481"/>
            <a:ext cx="5257800" cy="432054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627758"/>
            <a:ext cx="155448" cy="163220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35846"/>
            <a:ext cx="2212848" cy="1661752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970224"/>
            <a:ext cx="2209800" cy="2288286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E665-E72D-4FFF-8150-FE997C3DCEAF}" type="datetime1">
              <a:rPr lang="bg-BG" smtClean="0"/>
              <a:t>31.5.2026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674168"/>
            <a:ext cx="609600" cy="383381"/>
          </a:xfrm>
        </p:spPr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259493"/>
            <a:ext cx="4617720" cy="4128516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6107430"/>
            <a:ext cx="9163050" cy="109347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530817"/>
            <a:ext cx="4762500" cy="67008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8F31-5002-4ACB-8EE8-514B598B6E26}" type="datetime1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60122"/>
            <a:ext cx="2057400" cy="547235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60122"/>
            <a:ext cx="6019800" cy="547235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F4BD5-1785-408F-8622-37F7915B18B6}" type="datetime1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501"/>
            <a:ext cx="9163050" cy="109347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501"/>
            <a:ext cx="4762500" cy="67008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39292"/>
            <a:ext cx="8229600" cy="12001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2032254"/>
            <a:ext cx="8229600" cy="46085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674168"/>
            <a:ext cx="2133600" cy="383381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77F98D-52BF-4A54-8FE4-B73F298F4205}" type="datetime1">
              <a:rPr lang="bg-BG" smtClean="0"/>
              <a:t>31.5.2026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674168"/>
            <a:ext cx="3352800" cy="383381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674168"/>
            <a:ext cx="762000" cy="383381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2E390EF-4EEA-486F-936C-154EFCC256E2}" type="slidenum">
              <a:rPr lang="bg-BG" smtClean="0"/>
              <a:pPr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212529"/>
            <a:ext cx="9180548" cy="681685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957244"/>
            <a:ext cx="8643998" cy="3786214"/>
          </a:xfrm>
        </p:spPr>
        <p:txBody>
          <a:bodyPr>
            <a:normAutofit fontScale="90000"/>
          </a:bodyPr>
          <a:lstStyle/>
          <a:p>
            <a:pPr algn="ctr"/>
            <a:r>
              <a:rPr lang="bg-BG" sz="4900" i="1" dirty="0">
                <a:latin typeface="Times New Roman" pitchFamily="18" charset="0"/>
                <a:cs typeface="Times New Roman" pitchFamily="18" charset="0"/>
              </a:rPr>
              <a:t>GDE матрицата и практическия изпит на водачи. </a:t>
            </a:r>
            <a:br>
              <a:rPr lang="bg-BG" sz="4900" i="1" dirty="0">
                <a:latin typeface="Times New Roman" pitchFamily="18" charset="0"/>
                <a:cs typeface="Times New Roman" pitchFamily="18" charset="0"/>
              </a:rPr>
            </a:br>
            <a:r>
              <a:rPr lang="bg-BG" sz="4900" i="1" dirty="0">
                <a:latin typeface="Times New Roman" pitchFamily="18" charset="0"/>
                <a:cs typeface="Times New Roman" pitchFamily="18" charset="0"/>
              </a:rPr>
              <a:t>Процес на задаване на въпрос с цел проверка на осведомеността</a:t>
            </a:r>
            <a:br>
              <a:rPr lang="bg-BG" sz="4000" dirty="0">
                <a:latin typeface="Times New Roman" pitchFamily="18" charset="0"/>
                <a:cs typeface="Times New Roman" pitchFamily="18" charset="0"/>
              </a:rPr>
            </a:br>
            <a:endParaRPr lang="bg-BG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5386400"/>
            <a:ext cx="7926134" cy="1479468"/>
          </a:xfrm>
        </p:spPr>
        <p:txBody>
          <a:bodyPr>
            <a:normAutofit/>
          </a:bodyPr>
          <a:lstStyle/>
          <a:p>
            <a:r>
              <a:rPr lang="bg-BG" sz="2800" dirty="0">
                <a:latin typeface="Times New Roman" pitchFamily="18" charset="0"/>
                <a:cs typeface="Times New Roman" pitchFamily="18" charset="0"/>
              </a:rPr>
              <a:t>2026 г. 				Димитър Първанов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14348" y="1017669"/>
            <a:ext cx="785818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Eдна от основните мерки, на която се обръща внимание, за да се подобри безопасността на автомобилното движение, е усъвършенстване на системата за подготовка на кандидатите за придобиване на правоспособност за управление на моторни превозни средства. Реализирането на тази мярка става, чрез анализиране на слабостите в системата за подготовка и предлагане на решения за тяхното отстраняване. Основните системи за обучение на кандидатите за придобиване на свидетелство за управление на МПС са: „Йерархичен модел на поведението при управление”; който стои в основата на GDEmatrix ; "Цели на обучението на бъдещите водачи на МПС” (GDEmatrix); „Хермес” (HERMES); „Икарус” (ICARUS); „Близо до”(СLOSE TO); и в допълнение Програмата „OBSERVER”.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2</a:t>
            </a:fld>
            <a:endParaRPr lang="bg-B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642910" y="1132021"/>
            <a:ext cx="8072494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32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 матрицата </a:t>
            </a:r>
            <a:r>
              <a:rPr kumimoji="0" lang="bg-BG" sz="3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е йерархичен модел за обучение на водачи, разработен от финландски учени като Esko Keskinen и Matti Hatakk, </a:t>
            </a:r>
            <a:r>
              <a:rPr lang="bg-BG" sz="3200" dirty="0">
                <a:latin typeface="Times New Roman" pitchFamily="18" charset="0"/>
                <a:cs typeface="Times New Roman" pitchFamily="18" charset="0"/>
              </a:rPr>
              <a:t>който разглежда не само техническите умения за управление, но и поведението, нагласите и личните фактори, влияещи върху безопасността на пътя. </a:t>
            </a:r>
            <a:r>
              <a:rPr kumimoji="0" lang="bg-BG" sz="3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Тя се използва в ЕС, включително в България чрез проекти като HERMES, за подобряване на безопасността при нови шофьори.</a:t>
            </a:r>
            <a:endParaRPr kumimoji="0" lang="bg-BG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3</a:t>
            </a:fld>
            <a:endParaRPr lang="bg-B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785786" y="753518"/>
            <a:ext cx="8072494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За да има реално приложение и полза от системите GDEmatrix, Хермес, ICARUS в подготовката на нови водачи е подходящо да се използва опита на въвелите ги държави, като Нидерландия, Австрия, Великобритания, които започват подготовката на водачи още от VІІI клас в училище и прилагат ситуационно – моделиращо обучение, поставящо обучавания в различни пътни ситуации. За оценка на нивото на подготовка на обучаемите и на водачите е създадена програмата „OBSERVER”. Чрез нея може да се провери в началото на курса, подготовката на курсистите и да се определи, колко да бъде минималния брой часове, които трябва да проведе всеки един обучаем.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4</a:t>
            </a:fld>
            <a:endParaRPr lang="bg-B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1071538" y="1331330"/>
            <a:ext cx="757242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bg-BG" sz="24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 матрицата (Goals for Driver Education - Цели на шофьорското обучение)</a:t>
            </a:r>
            <a:r>
              <a:rPr kumimoji="0" lang="bg-BG" sz="3000" b="0" i="0" u="none" strike="noStrike" cap="none" normalizeH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е структурирана рамка, разработена за подобряване на обучението на водачи</a:t>
            </a:r>
            <a:r>
              <a:rPr lang="bg-BG" sz="3000" dirty="0">
                <a:latin typeface="Times New Roman" pitchFamily="18" charset="0"/>
                <a:cs typeface="Times New Roman" pitchFamily="18" charset="0"/>
              </a:rPr>
              <a:t>. Тя цели по-безопасно поведение, надграждайки базовите практически умения (паркиране, потегляне) с по-висока отговорност и оценка на риска.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bg-BG" sz="30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 матрицата</a:t>
            </a:r>
            <a:r>
              <a:rPr lang="bg-BG" sz="3000" dirty="0">
                <a:latin typeface="Times New Roman" pitchFamily="18" charset="0"/>
                <a:cs typeface="Times New Roman" pitchFamily="18" charset="0"/>
              </a:rPr>
              <a:t> е полезна, защото показва, че безопасното шофиране не е само техника. </a:t>
            </a:r>
            <a:endParaRPr kumimoji="0" lang="bg-BG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5</a:t>
            </a:fld>
            <a:endParaRPr lang="bg-B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ChangeArrowheads="1"/>
          </p:cNvSpPr>
          <p:nvPr/>
        </p:nvSpPr>
        <p:spPr bwMode="auto">
          <a:xfrm>
            <a:off x="571472" y="1069627"/>
            <a:ext cx="8143932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600" b="1" dirty="0">
                <a:latin typeface="Times New Roman" pitchFamily="18" charset="0"/>
                <a:cs typeface="Times New Roman" pitchFamily="18" charset="0"/>
              </a:rPr>
              <a:t>Структура на GDE матрицата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Тя се състои от </a:t>
            </a: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 йерархични нива</a:t>
            </a: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и </a:t>
            </a: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 компетентности</a:t>
            </a: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които обхващат цялостното поведение на водача. 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Четирите нива на GDE матрица</a:t>
            </a: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са подредени по сложност, като по-високите нива влияят на по-ниските: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Ниво 1: Управление на превозното средство (Vehicle Control):</a:t>
            </a: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Технически умения като управление на волана, смяна на предавки, спиране, потегляне.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Ниво 2: Движение в трафика (Driving in Traffic):</a:t>
            </a: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Взаимодействие с другите участници, спазване на правилата, възприемане на опасности, избор на позиция и скорост.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6</a:t>
            </a:fld>
            <a:endParaRPr lang="bg-B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4348" y="1061294"/>
            <a:ext cx="821537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bg-BG" sz="2400" b="1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Ниво 3: Цели и контекст на пътуването (Goals and Context of Driving):</a:t>
            </a:r>
            <a:r>
              <a:rPr lang="bg-BG" sz="24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Планиране на маршрута, избор на време за пътуване, цел на пътуването, влияние на пътниците, избор на превозно средство.</a:t>
            </a:r>
            <a:endParaRPr lang="bg-BG" sz="24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bg-BG" sz="2400" b="1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Ниво 4: Цели за живота и умения за живеене (Goals for Life and Skills for Living):</a:t>
            </a:r>
            <a:r>
              <a:rPr lang="bg-BG" sz="24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Личностни характеристики, нагласи, начин на живот, толерантност към риск, емоционален контрол. 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dirty="0">
              <a:solidFill>
                <a:srgbClr val="0A0A0A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400" dirty="0">
                <a:solidFill>
                  <a:srgbClr val="0A0A0A"/>
                </a:solidFill>
                <a:latin typeface="Times New Roman" pitchFamily="18" charset="0"/>
                <a:cs typeface="Times New Roman" pitchFamily="18" charset="0"/>
              </a:rPr>
              <a:t>Някой автори добавят и още едно ниво: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dirty="0">
              <a:solidFill>
                <a:srgbClr val="0A0A0A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bg-BG" sz="2400" b="1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Ниво 5: Социална отговорност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4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Най‑високото ниво свързано със себеуважението и отношението към обществото: какви са последствията от нарушенията, какви са отговорността към семейството, пасажерите и околните.</a:t>
            </a:r>
            <a:endParaRPr lang="bg-BG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7</a:t>
            </a:fld>
            <a:endParaRPr lang="bg-B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785786" y="674555"/>
            <a:ext cx="7786742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За всяко от горните нива се оценяват следните три компетентности: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Знания и умения (Knowledge and Skills):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Какво трябва да знае и може водачът, за да се справи в конкретното ниво (напр. технически знания, разбиране на правилата).</a:t>
            </a:r>
            <a:endParaRPr kumimoji="0" 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Рискови фактори (Risk Increasing Factors):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Осъзнаване на факторите, които увеличават риска (напр. умора, алкохол, влияние на пътниците, </a:t>
            </a:r>
            <a:r>
              <a:rPr lang="bg-BG" sz="24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висока 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скорост).</a:t>
            </a:r>
            <a:endParaRPr kumimoji="0" 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Самооценка (Self-assessment):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Способността на водача да оцени собствените си умения, знания и ограничения, за да избегне надценяване.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lang="bg-BG" sz="800" dirty="0">
              <a:solidFill>
                <a:srgbClr val="0A0A0A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bg-BG" sz="2400" b="1" i="1" dirty="0">
                <a:latin typeface="Times New Roman" pitchFamily="18" charset="0"/>
                <a:cs typeface="Times New Roman" pitchFamily="18" charset="0"/>
              </a:rPr>
              <a:t>Основната идея на GDE е, че безопасното поведение на пътя зависи не само от уменията, но и от начина на мислене на водача.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8</a:t>
            </a:fld>
            <a:endParaRPr lang="bg-B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42910" y="1036687"/>
            <a:ext cx="785818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Защо е важна GDE матрицата?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>
                <a:tab pos="457200" algn="l"/>
              </a:tabLst>
            </a:pP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Традиционното обучение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се фокусира предимно върху </a:t>
            </a: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Нива 1 и 2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(техническо управление – кормуване и правила в трафик).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>
                <a:tab pos="457200" algn="l"/>
              </a:tabLst>
            </a:pP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GDE матрицата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подчертава, че катастрофите често се дължат на липса на компетентност в </a:t>
            </a: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Нива 3 и 4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(агресия на пътя, липса на опит, рисково поведение и надценяване на уменията).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>
                <a:tab pos="457200" algn="l"/>
              </a:tabLst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Тя цели създаването на по-безопасни водачи чрез насърчаване на самооценката и разбирането на рисковете.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9</a:t>
            </a:fld>
            <a:endParaRPr lang="bg-B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1028683"/>
            <a:ext cx="7786742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lang="bg-BG" sz="26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Практическият изпит </a:t>
            </a: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има за цел да установи дали кандидатът може да приложи знанията си в реална среда. Традиционно той акцентира върху:</a:t>
            </a:r>
            <a:endParaRPr lang="bg-BG" sz="26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правилно управление на автомобила </a:t>
            </a:r>
            <a:endParaRPr lang="bg-BG" sz="2600" dirty="0">
              <a:latin typeface="Times New Roman" pitchFamily="18" charset="0"/>
              <a:ea typeface="Aptos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спазване на пътните знаци и маркировка </a:t>
            </a:r>
            <a:endParaRPr lang="bg-BG" sz="2600" dirty="0">
              <a:latin typeface="Times New Roman" pitchFamily="18" charset="0"/>
              <a:ea typeface="Aptos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безопасно поведение в трафика </a:t>
            </a:r>
            <a:endParaRPr lang="bg-BG" sz="26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В контекста на GDE, изпитът следва да оценява и:</a:t>
            </a:r>
            <a:endParaRPr lang="bg-BG" sz="26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способността за предвиждане на опасности </a:t>
            </a:r>
            <a:endParaRPr lang="bg-BG" sz="2600" dirty="0">
              <a:latin typeface="Times New Roman" pitchFamily="18" charset="0"/>
              <a:ea typeface="Aptos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вземане на решения в динамична среда </a:t>
            </a:r>
            <a:endParaRPr lang="bg-BG" sz="2600" dirty="0">
              <a:latin typeface="Times New Roman" pitchFamily="18" charset="0"/>
              <a:ea typeface="Aptos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адекватна реакция при неочаквани ситуации </a:t>
            </a:r>
            <a:endParaRPr lang="bg-BG" sz="26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Това изисква по-дълбок подход, който надхвърля механичното изпълнение на действия.</a:t>
            </a:r>
            <a:endParaRPr lang="bg-BG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10</a:t>
            </a:fld>
            <a:endParaRPr lang="bg-B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ChangeArrowheads="1"/>
          </p:cNvSpPr>
          <p:nvPr/>
        </p:nvSpPr>
        <p:spPr bwMode="auto">
          <a:xfrm>
            <a:off x="857224" y="1561281"/>
            <a:ext cx="7715304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Задаването на въпроси</a:t>
            </a:r>
            <a:r>
              <a:rPr kumimoji="0" lang="bg-BG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е ключов метод за достигане до вътрешните процеси на мислене на кандидата. Чрез тях изпитващият може да оцени нивото на осъзнатост и разбиране.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bg-BG" sz="3200" dirty="0">
                <a:latin typeface="Times New Roman" pitchFamily="18" charset="0"/>
                <a:ea typeface="Aptos" charset="0"/>
                <a:cs typeface="Times New Roman" pitchFamily="18" charset="0"/>
              </a:rPr>
              <a:t>*Задаването на въпроси (от изпитващ или инструктор) е инструмент за достигане до по-високите нива на GDE.</a:t>
            </a:r>
            <a:endParaRPr kumimoji="0" lang="bg-BG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11</a:t>
            </a:fld>
            <a:endParaRPr lang="bg-B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ChangeArrowheads="1"/>
          </p:cNvSpPr>
          <p:nvPr/>
        </p:nvSpPr>
        <p:spPr bwMode="auto">
          <a:xfrm>
            <a:off x="714348" y="859363"/>
            <a:ext cx="8072494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Процес на ефективно задаване на въпроси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Ефективният процес включва няколко последователни етапа: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 Създаване на ситуация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Инструкторът използва реална пътна обстановка (напр. преминаване през пешеходна пътека).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000" dirty="0">
                <a:latin typeface="Times New Roman" pitchFamily="18" charset="0"/>
                <a:ea typeface="Aptos" charset="0"/>
                <a:cs typeface="Times New Roman" pitchFamily="18" charset="0"/>
              </a:rPr>
              <a:t>➡ Проверява се </a:t>
            </a:r>
            <a:r>
              <a:rPr lang="bg-BG" sz="2000" b="1" dirty="0">
                <a:latin typeface="Times New Roman" pitchFamily="18" charset="0"/>
                <a:ea typeface="Aptos" charset="0"/>
                <a:cs typeface="Times New Roman" pitchFamily="18" charset="0"/>
              </a:rPr>
              <a:t>знание</a:t>
            </a:r>
            <a:r>
              <a:rPr lang="bg-BG" sz="2000" dirty="0">
                <a:latin typeface="Times New Roman" pitchFamily="18" charset="0"/>
                <a:ea typeface="Aptos" charset="0"/>
                <a:cs typeface="Times New Roman" pitchFamily="18" charset="0"/>
              </a:rPr>
              <a:t>, но не и мислене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 Формулиране на отворен въпрос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„Какво виждаш пред себе си?“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000" dirty="0">
                <a:latin typeface="Times New Roman" pitchFamily="18" charset="0"/>
                <a:ea typeface="Aptos" charset="0"/>
                <a:cs typeface="Times New Roman" pitchFamily="18" charset="0"/>
              </a:rPr>
              <a:t>➡ Това принуждава кандидата да мисли</a:t>
            </a:r>
            <a:endParaRPr lang="bg-BG" sz="20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3. Търсене на обосновка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„Защо реши да намалиш скоростта?“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000" dirty="0">
                <a:latin typeface="Times New Roman" pitchFamily="18" charset="0"/>
                <a:ea typeface="Aptos" charset="0"/>
                <a:cs typeface="Times New Roman" pitchFamily="18" charset="0"/>
              </a:rPr>
              <a:t>➡ Проверява се </a:t>
            </a:r>
            <a:r>
              <a:rPr lang="bg-BG" sz="2000" b="1" dirty="0">
                <a:latin typeface="Times New Roman" pitchFamily="18" charset="0"/>
                <a:ea typeface="Aptos" charset="0"/>
                <a:cs typeface="Times New Roman" pitchFamily="18" charset="0"/>
              </a:rPr>
              <a:t>процесът на мислене</a:t>
            </a:r>
            <a:r>
              <a:rPr lang="bg-BG" sz="2000" dirty="0">
                <a:latin typeface="Times New Roman" pitchFamily="18" charset="0"/>
                <a:ea typeface="Aptos" charset="0"/>
                <a:cs typeface="Times New Roman" pitchFamily="18" charset="0"/>
              </a:rPr>
              <a:t>, не само действието</a:t>
            </a:r>
            <a:endParaRPr lang="bg-BG" sz="20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4. Разглеждане на алтернативи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„Какво би направил, ако пешеходецът внезапно излезе?“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Този процес позволява да се оцени не само действието, но и логиката зад него.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000" dirty="0">
                <a:latin typeface="Times New Roman" pitchFamily="18" charset="0"/>
                <a:ea typeface="Aptos" charset="0"/>
                <a:cs typeface="Times New Roman" pitchFamily="18" charset="0"/>
              </a:rPr>
              <a:t>➡ Проверява се </a:t>
            </a:r>
            <a:r>
              <a:rPr lang="bg-BG" sz="2000" b="1" dirty="0">
                <a:latin typeface="Times New Roman" pitchFamily="18" charset="0"/>
                <a:ea typeface="Aptos" charset="0"/>
                <a:cs typeface="Times New Roman" pitchFamily="18" charset="0"/>
              </a:rPr>
              <a:t>предвиждане на риск</a:t>
            </a:r>
            <a:endParaRPr lang="bg-BG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12</a:t>
            </a:fld>
            <a:endParaRPr lang="bg-B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642910" y="881180"/>
            <a:ext cx="7929618" cy="597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2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Цел на задаване на въпроси – проверка на осведомеността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sz="10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При практическите изпити, въпросите се задават с цел да се провери: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 кандидат‑водачът разбира рисковете;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 анализира конкретни ситуации;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 свързва техниката с правилата и личната отговорност.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Такива въпроси са важен елемент от GDE подхода, защото </a:t>
            </a:r>
            <a:r>
              <a:rPr lang="bg-BG" sz="2200" dirty="0">
                <a:solidFill>
                  <a:srgbClr val="27251E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премахват механично запомняне и насърчават рефлексивното мислене.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dirty="0">
              <a:solidFill>
                <a:srgbClr val="27251E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	</a:t>
            </a:r>
            <a:r>
              <a:rPr lang="bg-BG" sz="2200" dirty="0">
                <a:latin typeface="Times New Roman" pitchFamily="18" charset="0"/>
                <a:cs typeface="Times New Roman" pitchFamily="18" charset="0"/>
              </a:rPr>
              <a:t>Ако кандидатът е технично точен, но се паникьосва, бърза или взема рисковани решения, това показва слабост именно в по-високите нива на GDE матрицата. Затова добрата подготовка не е само упражнения на площадка, а тренировка за реални ситуации, предвиждане на опасности и контрол на собственото поведение.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13</a:t>
            </a:fld>
            <a:endParaRPr lang="bg-B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857224" y="1309703"/>
            <a:ext cx="785818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Оценка на осведомеността на кандидата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Осведомеността включва три основни компонента: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 Възприемане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Способност за забелязване на рискове и ключови елементи в средата.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 Прогнозиране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Умение за предвиждане на развитието на ситуацията.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3. Вземане на решения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Избор на най-безопасното поведение.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Добре зададените въпроси дават възможност тези компоненти да бъдат ясно оценени.</a:t>
            </a:r>
            <a:endParaRPr kumimoji="0" lang="bg-BG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14</a:t>
            </a:fld>
            <a:endParaRPr lang="bg-B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ChangeArrowheads="1"/>
          </p:cNvSpPr>
          <p:nvPr/>
        </p:nvSpPr>
        <p:spPr bwMode="auto">
          <a:xfrm>
            <a:off x="785786" y="1171558"/>
            <a:ext cx="7929618" cy="4576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sz="2000" dirty="0">
                <a:solidFill>
                  <a:srgbClr val="27251E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 матрицата не е отделна част от </a:t>
            </a:r>
            <a:r>
              <a:rPr lang="bg-BG" sz="2800" dirty="0">
                <a:solidFill>
                  <a:srgbClr val="27251E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обучението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а начин да се разбере защо някой е готов или не е готов за самостоятелно шофиране.</a:t>
            </a:r>
            <a:r>
              <a:rPr kumimoji="0" lang="bg-BG" sz="2800" b="0" i="0" u="none" strike="noStrike" cap="none" normalizeH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практическия изпит тя се проявява чрез оценка на технически умения, трафикова ориентация и безопасно поведение в реална среда.</a:t>
            </a:r>
            <a:endParaRPr kumimoji="0" lang="bg-BG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 матрицата (Goals for Driver Education) е европейски стандарт за обучение, който не се фокусира само върху въртенето на волана, а върху създаването на </a:t>
            </a: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безопасен и отговорен шофьор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15</a:t>
            </a:fld>
            <a:endParaRPr lang="bg-B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642910" y="781328"/>
            <a:ext cx="8143932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lang="bg-BG" sz="2800" b="1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bg-BG" sz="2600" b="1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Прилагане на 4-те нива в обучението: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kumimoji="0" lang="bg-BG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3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Теория (Листовки):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Въпросите често проверяват нива 2 и 3 (знаци, предимство, рискови ситуации, правилници).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3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Практика (Кормуване):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Изпитващият гледа ниво 1 и 2 (контрол на колата, дистанция, наблюдение), но </a:t>
            </a:r>
            <a:r>
              <a:rPr kumimoji="0" lang="bg-BG" sz="23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оценява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нива 3 и 4 (увереност, преценка на ситуациите и отговорност).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sz="23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Най-важното: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Курсистът трябва да покаже, че мисли, а не само, че </a:t>
            </a: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кормува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Ако сгреши, добре е да покаже, че разбира защо е грешка. 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3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Накратко: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Безопасният шофьор не е този, който никога не прави грешки, а този, който </a:t>
            </a:r>
            <a:r>
              <a:rPr kumimoji="0" lang="bg-BG" sz="23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предвижда рисковете и контролира емоциите си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 </a:t>
            </a: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dirty="0">
              <a:solidFill>
                <a:srgbClr val="0A0A0A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Прилагайки тази матрица, инструктора не просто ги учи, за да вземат изпита, а ги оценява по това </a:t>
            </a:r>
            <a:r>
              <a:rPr lang="bg-BG" sz="2300" b="1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какви хора ще бъдат на пътя</a:t>
            </a: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16</a:t>
            </a:fld>
            <a:endParaRPr lang="bg-B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8662" y="922794"/>
            <a:ext cx="7572428" cy="570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000" b="0" i="1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2300" b="0" i="1" u="sng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 матрицата кара инструкторите да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tabLst>
                <a:tab pos="457200" algn="l"/>
              </a:tabLst>
            </a:pP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задават повече въпроси, а не само команди;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tabLst>
                <a:tab pos="457200" algn="l"/>
              </a:tabLst>
            </a:pP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курсистите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да обясняват защо постъпват по даден начин;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tabLst>
                <a:tab pos="457200" algn="l"/>
              </a:tabLst>
            </a:pP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да се тренира наблюдението, анализът и контролът на риска, а не само „как да завъртя </a:t>
            </a: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волана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“.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300" b="1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2300" b="1" i="0" u="sng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Какво значи „проверка на осведомеността“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kumimoji="0" lang="bg-BG" sz="1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Понякога инструкторът задава въпроси по време или след каране, за да провери осведомеността на водача. </a:t>
            </a: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Целта не е просто да се </a:t>
            </a:r>
            <a:r>
              <a:rPr lang="ru-RU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проверят знанията на ниво запаметяване</a:t>
            </a: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а да се види: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tabLst>
                <a:tab pos="457200" algn="l"/>
              </a:tabLst>
            </a:pPr>
            <a:r>
              <a:rPr lang="bg-BG" sz="23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дали курсистът разбира защо действа </a:t>
            </a: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 даден начин;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tabLst>
                <a:tab pos="457200" algn="l"/>
              </a:tabLst>
            </a:pP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дали може да обясни риск от ситуацията;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tabLst>
                <a:tab pos="457200" algn="l"/>
              </a:tabLst>
            </a:pPr>
            <a:r>
              <a:rPr kumimoji="0" lang="bg-BG" sz="23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дали има „осмислено“ поведение, а не само „както са ми казали“.</a:t>
            </a:r>
            <a:endParaRPr kumimoji="0" lang="bg-BG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17</a:t>
            </a:fld>
            <a:endParaRPr lang="bg-B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348" y="1100120"/>
            <a:ext cx="78581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GDE матрицата (Goals for Driver Education – „Цели на обучението по управление на МПС“) е начин да се разгледат какво всъщност трябва да знаят и да умеят водачите. Тя не говори само за техника и правила, а за цялото мислене и поведение зад волана.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Според GDE водачът се развива от „новак, който едва успява да управлява колата“, до „опитен водач, който винаги гледа напред, мисли за рисковете и действа по‑отговорно.</a:t>
            </a:r>
            <a:endParaRPr lang="bg-BG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18</a:t>
            </a:fld>
            <a:endParaRPr lang="bg-B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785786" y="968251"/>
            <a:ext cx="785818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bg-BG" sz="2400" b="1" i="1" u="sng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</a:t>
            </a:r>
            <a:r>
              <a:rPr kumimoji="0" lang="bg-BG" sz="2400" b="1" i="1" u="sng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ъвети към курсистите: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sz="800" b="0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>
                <a:tab pos="457200" algn="l"/>
              </a:tabLst>
            </a:pP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Всеки път, когато седнете зад волана, питайте себе си:</a:t>
            </a:r>
            <a:r>
              <a:rPr kumimoji="0" lang="bg-BG" sz="2400" b="0" i="0" u="none" strike="noStrike" cap="none" normalizeH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„Какво виждам? Какво може да се случи? Какво ще направя?“</a:t>
            </a:r>
            <a:b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kumimoji="0" lang="bg-BG" sz="2400" b="1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Така работите</a:t>
            </a:r>
            <a:r>
              <a:rPr kumimoji="0" lang="bg-BG" sz="2400" b="1" i="1" u="none" strike="noStrike" cap="none" normalizeH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bg-BG" sz="2400" b="1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върху Ниво 2 и Ниво 3 от GDE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bg-B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>
                <a:tab pos="457200" algn="l"/>
              </a:tabLst>
            </a:pP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Мислете не само за себе си, а и за другите: пешеходците, колегите водачи, пасажерите.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bg-BG" sz="2400" b="1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Това е Ниво 5 – отговорен и социален водач</a:t>
            </a: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bg-B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>
                <a:tab pos="457200" algn="l"/>
              </a:tabLst>
            </a:pP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Не се страхувайте от въпросите на инструктора или на изпитващия:</a:t>
            </a:r>
            <a:b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kumimoji="0" lang="bg-BG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Това е признак, че се интересува дали разбираш какво правиш, а не само дали си „научил правила“.</a:t>
            </a:r>
            <a:endParaRPr kumimoji="0" 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19</a:t>
            </a:fld>
            <a:endParaRPr lang="bg-B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714348" y="945079"/>
            <a:ext cx="7929618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Проблеми в съществуващата практика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българската практика се наблюдават някои ограничения: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акцент върху механичното изпълнение 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Aptos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недостатъчно използване на отворени въпроси 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Aptos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ограничено време за анализ и дискусия </a:t>
            </a: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Aptos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ориентация към „вземане на изпита“, а не към безопасно поведение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Тези фактори затрудняват пълното прилагане на принципите на GDE.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20</a:t>
            </a:fld>
            <a:endParaRPr lang="bg-B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ChangeArrowheads="1"/>
          </p:cNvSpPr>
          <p:nvPr/>
        </p:nvSpPr>
        <p:spPr bwMode="auto">
          <a:xfrm>
            <a:off x="1000100" y="843096"/>
            <a:ext cx="7429552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Насоки за подобрение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За по-ефективно приложение на GDE е необходимо:</a:t>
            </a:r>
            <a:endParaRPr kumimoji="0" lang="bg-BG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по-широко използване на ситуационни въпроси </a:t>
            </a:r>
            <a:endParaRPr kumimoji="0" lang="bg-BG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Aptos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насърчаване на аргументация от страна на кандидата </a:t>
            </a:r>
            <a:endParaRPr kumimoji="0" lang="bg-BG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Aptos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обучение на инструкторите и изпитващите в техники за задаване на въпроси </a:t>
            </a:r>
            <a:endParaRPr kumimoji="0" lang="bg-BG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Aptos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акцент върху мисленето, а не само върху резултата </a:t>
            </a:r>
            <a:endParaRPr kumimoji="0" lang="bg-BG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21</a:t>
            </a:fld>
            <a:endParaRPr lang="bg-BG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1000100" y="1002787"/>
            <a:ext cx="7500990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3600" b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bg-BG" sz="360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заключение може да обобщим</a:t>
            </a:r>
            <a:r>
              <a:rPr lang="bg-BG" sz="3600" dirty="0">
                <a:solidFill>
                  <a:srgbClr val="0A0A0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kumimoji="0" lang="bg-BG" sz="360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bg-BG" sz="3600" b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GDE матрицата </a:t>
            </a:r>
            <a:r>
              <a:rPr kumimoji="0" lang="bg-BG" sz="3600" b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помага на новите водачи да се упражняват на разбиране на ситуациите. Помага да осъзнаят, че ако не разбират правилата, не могат да взимат правилни решения в трафика за себе си и за другите</a:t>
            </a:r>
            <a:r>
              <a:rPr kumimoji="0" lang="bg-BG" sz="3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sz="3600" i="1" dirty="0">
              <a:solidFill>
                <a:srgbClr val="0A0A0A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3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Благодаря за вниманието!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22</a:t>
            </a:fld>
            <a:endParaRPr lang="bg-BG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ChangeArrowheads="1"/>
          </p:cNvSpPr>
          <p:nvPr/>
        </p:nvSpPr>
        <p:spPr bwMode="auto">
          <a:xfrm>
            <a:off x="857224" y="1344801"/>
            <a:ext cx="7858180" cy="41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bg-BG" sz="3200" b="0" i="0" u="sng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Въпроси за дискусия:</a:t>
            </a:r>
            <a:r>
              <a:rPr kumimoji="0" lang="bg-BG" sz="3200" b="0" i="0" u="none" strike="noStrike" cap="none" normalizeH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ru-RU" sz="1000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Доколко моделът GDE матрицата подпомага начинаещите кандидати да развият отговорно поведение при управление?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ru-RU" sz="1000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По-ефективна ли е GDE матрицата от традиционното обучение за изграждане на отговорност у начинаещи кандидати?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90EF-4EEA-486F-936C-154EFCC256E2}" type="slidenum">
              <a:rPr lang="bg-BG" smtClean="0"/>
              <a:pPr/>
              <a:t>23</a:t>
            </a:fld>
            <a:endParaRPr lang="bg-BG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408</TotalTime>
  <Words>1982</Words>
  <Application>Microsoft Office PowerPoint</Application>
  <PresentationFormat>Custom</PresentationFormat>
  <Paragraphs>162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Constantia</vt:lpstr>
      <vt:lpstr>Times New Roman</vt:lpstr>
      <vt:lpstr>Wingdings</vt:lpstr>
      <vt:lpstr>Wingdings 2</vt:lpstr>
      <vt:lpstr>Flow</vt:lpstr>
      <vt:lpstr>GDE матрицата и практическия изпит на водачи.  Процес на задаване на въпрос с цел проверка на осведомеността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GDE матрицата и практическия изпит на водачи.  Процес на задаване на въпрос с цел проверка на осведомеността</dc:title>
  <dc:creator>user</dc:creator>
  <cp:lastModifiedBy>Parvanov</cp:lastModifiedBy>
  <cp:revision>51</cp:revision>
  <dcterms:created xsi:type="dcterms:W3CDTF">2026-04-28T21:27:03Z</dcterms:created>
  <dcterms:modified xsi:type="dcterms:W3CDTF">2026-05-31T12:14:43Z</dcterms:modified>
</cp:coreProperties>
</file>