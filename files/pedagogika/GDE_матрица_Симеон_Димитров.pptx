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82" y="173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4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GDE МАТРИЦАТА</a:t>
            </a:r>
            <a:endParaRPr lang="en-US" sz="3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 ПРАКТИЧЕСКИЯТ ИЗПИТ</a:t>
            </a:r>
            <a:endParaRPr lang="en-US" sz="3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 ВОДАЧИ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71600" y="3383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1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Изпитвания, свързани със самостоятелното управление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Симеон Васков Димитров  |  София,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Съдържание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2344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 матрицата — модел за обучение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7373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Четири нива на компетентност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008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2402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4592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Практическият изпит за водачи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40080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274320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4592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Самостоятелно управление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4008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324612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64592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Предимства и предизвикателства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640080" y="3703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3749040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645920" y="3703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Ролята на инструктора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640080" y="4206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8720" y="4251960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645920" y="4206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Увод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Подготовката на водачите на моторни превозни средства е сложен процес, който надхвърля техническите умения за управление. Съвременното обучение поставя акцент върху: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60320" cy="2560320"/>
          </a:xfrm>
          <a:prstGeom prst="rect">
            <a:avLst/>
          </a:prstGeom>
          <a:solidFill>
            <a:srgbClr val="E8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22402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71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Безопасно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поведение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Формиране на отговорно отношение към пътната среда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2011680"/>
            <a:ext cx="2560320" cy="2560320"/>
          </a:xfrm>
          <a:prstGeom prst="rect">
            <a:avLst/>
          </a:prstGeom>
          <a:solidFill>
            <a:srgbClr val="E8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24028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971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Оценка на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риска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6616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Разпознаване и предвиждане на рискови ситуации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2011680"/>
            <a:ext cx="2560320" cy="2560320"/>
          </a:xfrm>
          <a:prstGeom prst="rect">
            <a:avLst/>
          </a:prstGeom>
          <a:solidFill>
            <a:srgbClr val="E8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224028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0" y="2971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Самостоятелни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решения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0080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Способност за вземане на решения в реална обстановка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GDE матрицата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for Driver Education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 матрицата е разработена в рамките на европейски изследвания за безопасност на движението по пътищата. Основната идея е, че безопасното управление не зависи само от техническите умения, а и от начина на мислене и поведение на водача.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7680960" cy="502920"/>
          </a:xfrm>
          <a:prstGeom prst="rect">
            <a:avLst/>
          </a:prstGeom>
          <a:solidFill>
            <a:srgbClr val="0F2B4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Ниво 4: Личност и самоконтрол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3017520"/>
            <a:ext cx="7132320" cy="502920"/>
          </a:xfrm>
          <a:prstGeom prst="rect">
            <a:avLst/>
          </a:prstGeom>
          <a:solidFill>
            <a:srgbClr val="1A4A6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88720" y="301752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Ниво 3: Цели и условия на пътуването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80160" y="3657600"/>
            <a:ext cx="6583680" cy="502920"/>
          </a:xfrm>
          <a:prstGeom prst="rect">
            <a:avLst/>
          </a:prstGeom>
          <a:solidFill>
            <a:srgbClr val="1C7293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63040" y="36576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Ниво 2: Управление в пътната ситуация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54480" y="4297680"/>
            <a:ext cx="6035040" cy="502920"/>
          </a:xfrm>
          <a:prstGeom prst="rect">
            <a:avLst/>
          </a:prstGeom>
          <a:solidFill>
            <a:srgbClr val="2196A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37360" y="42976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Ниво 1: Техническо управление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Четирите нива на GDE матрицата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94360" cy="594360"/>
          </a:xfrm>
          <a:prstGeom prst="ellipse">
            <a:avLst/>
          </a:prstGeom>
          <a:solidFill>
            <a:srgbClr val="219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Техническо управление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691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Потегляне, спиране, паркиране, контрол върху превозното средство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0" y="12801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064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Пътна ситуация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06440" y="1691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Спазване на правила, взаимодействие с участници в движението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594360" cy="594360"/>
          </a:xfrm>
          <a:prstGeom prst="ellipse">
            <a:avLst/>
          </a:prstGeom>
          <a:solidFill>
            <a:srgbClr val="1A4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0876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Цели на пътуването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611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Влияние на умора, стрес, пътници и условия на средата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9718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0" y="3200400"/>
            <a:ext cx="594360" cy="594360"/>
          </a:xfrm>
          <a:prstGeom prst="ellipse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80644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Личност на водача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06440" y="3611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Самоконтрол, дисциплина, отношение към риска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Практическият изпит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Целта на практическия изпит е да установи дали кандидатът може безопасно и самостоятелно да управлява моторно превозно средство в реална пътна среда.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solidFill>
            <a:srgbClr val="E8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91440" cy="8229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 само техника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19659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Изпитът проверява способността за вземане на решения, реакция при различни ситуации и правилна оценка на риска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8046720" cy="822960"/>
          </a:xfrm>
          <a:prstGeom prst="rect">
            <a:avLst/>
          </a:prstGeom>
          <a:solidFill>
            <a:srgbClr val="E8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91440" cy="8229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Реални условия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29718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Съвременният изпит трябва да бъде максимално близък до реалните условия на движение по пътищата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E8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91440" cy="8229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977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Цялостна оценка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39776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Оценяват се увереност, спокойствие и способност за правилно поведение в движението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Какво се оценява?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Подготовка за потегляне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Правилни предварителни проверки и готовност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74920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7492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Управление в градска среда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2057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Навигация в условия на градски трафик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77240" y="3611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Извършване на маневри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977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Паркиране, обръщане, смяна на лента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9718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7492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074920" y="3611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Самостоятелно управление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3977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без указания от изпитващия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Самостоятелно управление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Най-важната част на съвременния практически изпит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680960" cy="2743200"/>
          </a:xfrm>
          <a:prstGeom prst="rect">
            <a:avLst/>
          </a:prstGeom>
          <a:solidFill>
            <a:srgbClr val="1A4A6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самостоятелното управление кандидатът трябва сам да управлява автомобила по зададен маршрут или към определена цел, без постоянни указания от изпитващия.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8346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Тази част показва дали кандидатът може самостоятелно да взема решения, да се ориентира по пътни знаци и да реагира правилно в реална пътна обстановка.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749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3749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Избор на лента  •  Следене на знаци  •  Планиране на действия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Ключови умения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проверява самостоятелното управление?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3108960"/>
          </a:xfrm>
          <a:prstGeom prst="rect">
            <a:avLst/>
          </a:prstGeom>
          <a:solidFill>
            <a:srgbClr val="E8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0" y="16459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8288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Концентрация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200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Едновременно наблюдение на пътя, знаците и останалите участници в движението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371600"/>
            <a:ext cx="2560320" cy="3108960"/>
          </a:xfrm>
          <a:prstGeom prst="rect">
            <a:avLst/>
          </a:prstGeom>
          <a:solidFill>
            <a:srgbClr val="E8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06240" y="16459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82880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Поведение при стрес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6160" y="3200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Справяне с напрежението при липса на постоянни указания от изпитващия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371600"/>
            <a:ext cx="2560320" cy="3108960"/>
          </a:xfrm>
          <a:prstGeom prst="rect">
            <a:avLst/>
          </a:prstGeom>
          <a:solidFill>
            <a:srgbClr val="E8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040880" y="16459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82880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Предвиждане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00800" y="3200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Разпознаване на рискови ситуации и навременна, правилна реакция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Предимства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solidFill>
            <a:srgbClr val="E8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1430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По-реалистична оценка на готовността на кандидата за участие в реално движение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8046720" cy="731520"/>
          </a:xfrm>
          <a:prstGeom prst="rect">
            <a:avLst/>
          </a:prstGeom>
          <a:solidFill>
            <a:srgbClr val="E8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0574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Намалява механичното изпълнение на команди — кандидатът мисли самостоятелно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solidFill>
            <a:srgbClr val="E8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" y="3063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29718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Развива критично мислене и способност за вземане на решения под натиск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solidFill>
            <a:srgbClr val="E8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8862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Показва дали кандидатът действително е подготвен, а не просто следва инструкции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Предизвикателства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91440" cy="105156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По-силно напрежение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кандидати изпитват засилен стрес по време на самостоятелната част, когато остават без постоянни указания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91440" cy="105156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Непознат маршрут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7889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Непознатата пътна обстановка или сложен маршрут могат да доведат до грешки и объркване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91440" cy="105156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Комплексна задача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Едновременното наблюдение на пътя, знаците и другите участници изисква висока концентрация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Ролята на инструктора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3474720"/>
          </a:xfrm>
          <a:prstGeom prst="rect">
            <a:avLst/>
          </a:prstGeom>
          <a:solidFill>
            <a:srgbClr val="0F2B4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371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Ключова роля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6517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Инструкторът трябва да развива не само техническите умения, но и способността за оценка на риска, спокойствие и правилно поведение в реални условия.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Добрата подготовка включва: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846320" y="1737360"/>
            <a:ext cx="3840480" cy="548640"/>
          </a:xfrm>
          <a:prstGeom prst="rect">
            <a:avLst/>
          </a:prstGeom>
          <a:solidFill>
            <a:srgbClr val="E8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0" y="1737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в разнообразни пътни ситуации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46320" y="2423160"/>
            <a:ext cx="3840480" cy="548640"/>
          </a:xfrm>
          <a:prstGeom prst="rect">
            <a:avLst/>
          </a:prstGeom>
          <a:solidFill>
            <a:srgbClr val="E8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0" y="2423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Преминаване през различни маршрути и условия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46320" y="3108960"/>
            <a:ext cx="3840480" cy="548640"/>
          </a:xfrm>
          <a:prstGeom prst="rect">
            <a:avLst/>
          </a:prstGeom>
          <a:solidFill>
            <a:srgbClr val="E8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029200" y="3108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на допуснатите грешки и обратна връзка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46320" y="3794760"/>
            <a:ext cx="3840480" cy="548640"/>
          </a:xfrm>
          <a:prstGeom prst="rect">
            <a:avLst/>
          </a:prstGeom>
          <a:solidFill>
            <a:srgbClr val="E8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0" y="3794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Развиване на самоконтрол и емоционална устойчивост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4572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Заключение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solidFill>
            <a:srgbClr val="1A4A6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188720" y="22860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 матрицата доказва, че безопасното управление зависи от техника, психология и самоконтрол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914400" y="3108960"/>
            <a:ext cx="7315200" cy="640080"/>
          </a:xfrm>
          <a:prstGeom prst="rect">
            <a:avLst/>
          </a:prstGeom>
          <a:solidFill>
            <a:srgbClr val="1A4A6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88720" y="31089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Практическият изпит и самостоятелното управление оценяват реалната готовност на кандидатите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3931920"/>
            <a:ext cx="7315200" cy="640080"/>
          </a:xfrm>
          <a:prstGeom prst="rect">
            <a:avLst/>
          </a:prstGeom>
          <a:solidFill>
            <a:srgbClr val="1A4A6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88720" y="39319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Системата за обучение трябва да формира отговорно и безопасно поведение на пътя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Симеон Васков Димитров  |  София,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672</Words>
  <Application>Microsoft Office PowerPoint</Application>
  <PresentationFormat>On-screen Show (16:9)</PresentationFormat>
  <Paragraphs>127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Karmen Agopyan</dc:creator>
  <cp:keywords/>
  <dc:description>generated using python-pptx</dc:description>
  <cp:lastModifiedBy>Karmen Agopyan</cp:lastModifiedBy>
  <cp:revision>2</cp:revision>
  <dcterms:created xsi:type="dcterms:W3CDTF">2013-01-27T09:14:16Z</dcterms:created>
  <dcterms:modified xsi:type="dcterms:W3CDTF">2026-05-27T21:22:35Z</dcterms:modified>
  <cp:category/>
</cp:coreProperties>
</file>