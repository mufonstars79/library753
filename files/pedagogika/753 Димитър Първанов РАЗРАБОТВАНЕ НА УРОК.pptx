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97" r:id="rId4"/>
    <p:sldId id="300" r:id="rId5"/>
    <p:sldId id="301" r:id="rId6"/>
    <p:sldId id="303" r:id="rId7"/>
    <p:sldId id="295" r:id="rId8"/>
    <p:sldId id="304" r:id="rId9"/>
    <p:sldId id="290" r:id="rId10"/>
    <p:sldId id="296" r:id="rId11"/>
    <p:sldId id="305" r:id="rId12"/>
    <p:sldId id="307" r:id="rId13"/>
  </p:sldIdLst>
  <p:sldSz cx="9144000" cy="6858000" type="screen4x3"/>
  <p:notesSz cx="6889750" cy="10018713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093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093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13E9709E-D705-4DD9-962B-FAA8A7DEFB76}" type="datetimeFigureOut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10150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758889"/>
            <a:ext cx="5511800" cy="4508421"/>
          </a:xfrm>
          <a:prstGeom prst="rect">
            <a:avLst/>
          </a:prstGeom>
        </p:spPr>
        <p:txBody>
          <a:bodyPr vert="horz" lIns="96616" tIns="48308" rIns="96616" bIns="4830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5558" cy="500936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7" y="9516038"/>
            <a:ext cx="2985558" cy="500936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358BBB1-20A7-43F5-9269-6C75F34191AA}" type="slidenum">
              <a:rPr lang="bg-BG" smtClean="0"/>
              <a:pPr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8BBB1-20A7-43F5-9269-6C75F34191AA}" type="slidenum">
              <a:rPr lang="bg-BG" smtClean="0"/>
              <a:pPr/>
              <a:t>1</a:t>
            </a:fld>
            <a:endParaRPr lang="bg-B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8BBB1-20A7-43F5-9269-6C75F34191AA}" type="slidenum">
              <a:rPr lang="bg-BG" smtClean="0"/>
              <a:pPr/>
              <a:t>2</a:t>
            </a:fld>
            <a:endParaRPr lang="bg-B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7F4EB-F5D0-4BB9-B3DE-8672802E5404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1A769-06FB-499A-94FE-3490F5353348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1839-A809-46C6-BB64-068A189D0592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52D2-E0FB-4011-B0A0-5A6691C8FC6F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FCE15-A015-441D-AB45-A13F6560C136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0C417-3748-4EC7-8137-F951C9808834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DB0E9-4F08-4874-B6AC-C10F312DDFEF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682D-CA10-4B11-976F-B109F61DBA97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90A4-A9CF-42FB-A615-A3A810BB8AB5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BC3A7-3D7C-4E52-BF28-E180CAC58C4C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1EA7-BC9C-4B7A-B7E5-8F2CF172C27C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21459F-0137-473C-BF43-B44798B03A1E}" type="datetime1">
              <a:rPr lang="bg-BG" smtClean="0"/>
              <a:pPr/>
              <a:t>31.5.2026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A3401C6-FFA8-4DE1-A4A2-D81B6F730549}" type="slidenum">
              <a:rPr lang="bg-BG" smtClean="0"/>
              <a:pPr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x.bg/laws/ldoc/2134649345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1714488"/>
            <a:ext cx="8215370" cy="3857652"/>
          </a:xfrm>
        </p:spPr>
        <p:txBody>
          <a:bodyPr>
            <a:normAutofit fontScale="90000"/>
          </a:bodyPr>
          <a:lstStyle/>
          <a:p>
            <a:pPr algn="ctr"/>
            <a:r>
              <a:rPr lang="bg-BG" sz="2700" dirty="0">
                <a:latin typeface="Arial" pitchFamily="34" charset="0"/>
                <a:cs typeface="Arial" pitchFamily="34" charset="0"/>
              </a:rPr>
              <a:t>РАЗРАБОТВАНЕ НА УРОК</a:t>
            </a:r>
            <a:br>
              <a:rPr lang="bg-BG" sz="2700" dirty="0">
                <a:latin typeface="Arial" pitchFamily="34" charset="0"/>
                <a:cs typeface="Arial" pitchFamily="34" charset="0"/>
              </a:rPr>
            </a:br>
            <a:r>
              <a:rPr lang="bg-BG" sz="2700" dirty="0">
                <a:latin typeface="Arial" pitchFamily="34" charset="0"/>
                <a:cs typeface="Arial" pitchFamily="34" charset="0"/>
              </a:rPr>
              <a:t> </a:t>
            </a:r>
            <a:br>
              <a:rPr lang="bg-BG" sz="2700" dirty="0">
                <a:latin typeface="Arial" pitchFamily="34" charset="0"/>
                <a:cs typeface="Arial" pitchFamily="34" charset="0"/>
              </a:rPr>
            </a:br>
            <a:r>
              <a:rPr lang="bg-BG" sz="2700" dirty="0">
                <a:latin typeface="Arial" pitchFamily="34" charset="0"/>
                <a:cs typeface="Arial" pitchFamily="34" charset="0"/>
              </a:rPr>
              <a:t>на тема:</a:t>
            </a:r>
            <a:br>
              <a:rPr lang="bg-BG" sz="2700" dirty="0">
                <a:latin typeface="Arial" pitchFamily="34" charset="0"/>
                <a:cs typeface="Arial" pitchFamily="34" charset="0"/>
              </a:rPr>
            </a:br>
            <a:r>
              <a:rPr lang="bg-BG" sz="2700" dirty="0">
                <a:latin typeface="Arial" pitchFamily="34" charset="0"/>
                <a:cs typeface="Arial" pitchFamily="34" charset="0"/>
              </a:rPr>
              <a:t> </a:t>
            </a:r>
            <a:br>
              <a:rPr lang="bg-BG" sz="2700" dirty="0">
                <a:latin typeface="Arial" pitchFamily="34" charset="0"/>
                <a:cs typeface="Arial" pitchFamily="34" charset="0"/>
              </a:rPr>
            </a:br>
            <a:r>
              <a:rPr lang="bg-BG" sz="2900" dirty="0">
                <a:latin typeface="Arial" pitchFamily="34" charset="0"/>
                <a:cs typeface="Arial" pitchFamily="34" charset="0"/>
              </a:rPr>
              <a:t>Сигнали на регулировчика и пътните светофари</a:t>
            </a:r>
            <a:br>
              <a:rPr lang="bg-BG" sz="2900" dirty="0">
                <a:latin typeface="Arial" pitchFamily="34" charset="0"/>
                <a:cs typeface="Arial" pitchFamily="34" charset="0"/>
              </a:rPr>
            </a:br>
            <a:br>
              <a:rPr lang="bg-BG" sz="2900" dirty="0">
                <a:latin typeface="Arial" pitchFamily="34" charset="0"/>
                <a:cs typeface="Arial" pitchFamily="34" charset="0"/>
              </a:rPr>
            </a:br>
            <a:r>
              <a:rPr lang="bg-BG" sz="2700" dirty="0">
                <a:latin typeface="Arial" pitchFamily="34" charset="0"/>
                <a:cs typeface="Arial" pitchFamily="34" charset="0"/>
              </a:rPr>
              <a:t> </a:t>
            </a:r>
            <a:br>
              <a:rPr lang="bg-BG" dirty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10" y="4643446"/>
            <a:ext cx="7745186" cy="1928826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bg-BG" sz="7200" dirty="0">
                <a:latin typeface="Arial" pitchFamily="34" charset="0"/>
                <a:cs typeface="Arial" pitchFamily="34" charset="0"/>
              </a:rPr>
              <a:t>Разработил:</a:t>
            </a:r>
          </a:p>
          <a:p>
            <a:pPr algn="l"/>
            <a:r>
              <a:rPr lang="bg-BG" sz="7200" dirty="0">
                <a:latin typeface="Arial" pitchFamily="34" charset="0"/>
                <a:cs typeface="Arial" pitchFamily="34" charset="0"/>
              </a:rPr>
              <a:t>Димитър Витанов Първанов</a:t>
            </a:r>
          </a:p>
          <a:p>
            <a:pPr algn="l"/>
            <a:r>
              <a:rPr lang="bg-BG" sz="7200" dirty="0">
                <a:latin typeface="Arial" pitchFamily="34" charset="0"/>
                <a:cs typeface="Arial" pitchFamily="34" charset="0"/>
              </a:rPr>
              <a:t>Фак.№ 25002070</a:t>
            </a:r>
          </a:p>
          <a:p>
            <a:pPr algn="l"/>
            <a:r>
              <a:rPr lang="bg-BG" sz="7200" dirty="0">
                <a:latin typeface="Arial" pitchFamily="34" charset="0"/>
                <a:cs typeface="Arial" pitchFamily="34" charset="0"/>
              </a:rPr>
              <a:t> </a:t>
            </a:r>
            <a:r>
              <a:rPr lang="bg-BG" sz="7200" b="1" dirty="0">
                <a:latin typeface="Arial" pitchFamily="34" charset="0"/>
                <a:cs typeface="Arial" pitchFamily="34" charset="0"/>
              </a:rPr>
              <a:t>  </a:t>
            </a:r>
            <a:endParaRPr lang="bg-BG" sz="72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bg-BG" sz="7200" dirty="0">
                <a:latin typeface="Arial" pitchFamily="34" charset="0"/>
                <a:cs typeface="Arial" pitchFamily="34" charset="0"/>
              </a:rPr>
              <a:t>София</a:t>
            </a:r>
          </a:p>
          <a:p>
            <a:pPr algn="ctr"/>
            <a:r>
              <a:rPr lang="bg-BG" sz="7200" dirty="0">
                <a:latin typeface="Arial" pitchFamily="34" charset="0"/>
                <a:cs typeface="Arial" pitchFamily="34" charset="0"/>
              </a:rPr>
              <a:t>2026 г.</a:t>
            </a:r>
          </a:p>
          <a:p>
            <a:endParaRPr lang="bg-BG" dirty="0"/>
          </a:p>
        </p:txBody>
      </p:sp>
      <p:pic>
        <p:nvPicPr>
          <p:cNvPr id="4" name="Picture 3" descr="TU-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857232"/>
            <a:ext cx="8215370" cy="915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85786" y="1221271"/>
            <a:ext cx="8001056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5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Тема на урока:</a:t>
            </a:r>
            <a:r>
              <a:rPr kumimoji="0" lang="bg-BG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endParaRPr kumimoji="0" lang="en-US" sz="25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500" i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Сигнали на регулировчика и пътните светофари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kumimoji="0" lang="bg-BG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kumimoji="0" lang="bg-BG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Тип на урока:</a:t>
            </a:r>
            <a:r>
              <a:rPr kumimoji="0" lang="bg-BG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br>
              <a:rPr kumimoji="0" lang="bg-BG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lang="bg-BG" sz="2500" dirty="0">
                <a:latin typeface="Arial" pitchFamily="34" charset="0"/>
                <a:cs typeface="Arial" pitchFamily="34" charset="0"/>
              </a:rPr>
              <a:t>Комбиниран урок - </a:t>
            </a:r>
            <a:r>
              <a:rPr kumimoji="0" lang="bg-BG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Урок за нови знания и </a:t>
            </a:r>
            <a:r>
              <a:rPr lang="bg-BG" sz="2500" dirty="0">
                <a:latin typeface="Arial" pitchFamily="34" charset="0"/>
                <a:cs typeface="Arial" pitchFamily="34" charset="0"/>
              </a:rPr>
              <a:t>формиране на</a:t>
            </a:r>
            <a:r>
              <a:rPr lang="bg-BG" sz="25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практически</a:t>
            </a:r>
            <a:r>
              <a:rPr lang="bg-BG" sz="2500" dirty="0">
                <a:latin typeface="Arial" pitchFamily="34" charset="0"/>
                <a:cs typeface="Arial" pitchFamily="34" charset="0"/>
              </a:rPr>
              <a:t> умения и навици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2500" dirty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500" b="1" dirty="0">
                <a:latin typeface="Arial" pitchFamily="34" charset="0"/>
                <a:cs typeface="Arial" pitchFamily="34" charset="0"/>
              </a:rPr>
              <a:t>Продължителност: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500" dirty="0">
                <a:latin typeface="Arial" pitchFamily="34" charset="0"/>
                <a:cs typeface="Arial" pitchFamily="34" charset="0"/>
              </a:rPr>
              <a:t>45 минути (1 учебен час)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2500" dirty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500" b="1" dirty="0">
                <a:latin typeface="Arial" pitchFamily="34" charset="0"/>
                <a:cs typeface="Arial" pitchFamily="34" charset="0"/>
              </a:rPr>
              <a:t>Място на провеждане:</a:t>
            </a:r>
            <a:br>
              <a:rPr lang="bg-BG" sz="2500" dirty="0">
                <a:latin typeface="Arial" pitchFamily="34" charset="0"/>
                <a:cs typeface="Arial" pitchFamily="34" charset="0"/>
              </a:rPr>
            </a:br>
            <a:r>
              <a:rPr lang="bg-BG" sz="2500" dirty="0">
                <a:latin typeface="Arial" pitchFamily="34" charset="0"/>
                <a:cs typeface="Arial" pitchFamily="34" charset="0"/>
              </a:rPr>
              <a:t>Кабинет по теоретично обучение </a:t>
            </a:r>
            <a:endParaRPr kumimoji="0" lang="bg-BG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2</a:t>
            </a:fld>
            <a:endParaRPr lang="bg-B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3</a:t>
            </a:fld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692695" y="768101"/>
            <a:ext cx="8003232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5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Цели на урока: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000" dirty="0">
                <a:latin typeface="Arial" pitchFamily="34" charset="0"/>
                <a:ea typeface="Calibri" pitchFamily="34" charset="0"/>
                <a:cs typeface="Arial" pitchFamily="34" charset="0"/>
              </a:rPr>
              <a:t>	</a:t>
            </a:r>
            <a:r>
              <a:rPr lang="bg-BG" sz="1900" dirty="0">
                <a:latin typeface="Arial" pitchFamily="34" charset="0"/>
                <a:ea typeface="Calibri" pitchFamily="34" charset="0"/>
                <a:cs typeface="Arial" pitchFamily="34" charset="0"/>
              </a:rPr>
              <a:t>Усвояване на системата от сигнали за регулиране на движението и изграждане на умения за правилно вземане на решения при преминаване през кръстовища, регулирани от светофар или регулировчик.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dirty="0"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300" b="1" u="sng" dirty="0">
                <a:latin typeface="Arial" pitchFamily="34" charset="0"/>
                <a:ea typeface="Times New Roman" pitchFamily="18" charset="0"/>
                <a:cs typeface="Arial" pitchFamily="34" charset="0"/>
              </a:rPr>
              <a:t>Образователни цели: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bg-BG" sz="1000" b="1" u="sng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да обясняват 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със свои думи йерархията на сигналите и предимството на регулировчика пред светофарите, пътните знаци и маркировката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да разпознават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 основните позиции на тялото и жестовете с ръце на регулировчика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да интерпретират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обясняват</a:t>
            </a: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със свои думи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 значението на звуковите сигнали (свирка) и средствата (палка), използвани от регулировчика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sz="1700" b="1" dirty="0">
                <a:latin typeface="Arial" panose="020B0604020202020204" pitchFamily="34" charset="0"/>
                <a:cs typeface="Arial" pitchFamily="34" charset="0"/>
              </a:rPr>
              <a:t>да разпознават </a:t>
            </a:r>
            <a:r>
              <a:rPr lang="ru-RU" sz="1700" dirty="0">
                <a:latin typeface="Arial" panose="020B0604020202020204" pitchFamily="34" charset="0"/>
                <a:cs typeface="Arial" pitchFamily="34" charset="0"/>
              </a:rPr>
              <a:t>светлинните сигнали на светофара</a:t>
            </a:r>
            <a:r>
              <a:rPr lang="en-US" sz="1700" dirty="0">
                <a:latin typeface="Arial" panose="020B0604020202020204" pitchFamily="34" charset="0"/>
                <a:cs typeface="Arial" pitchFamily="34" charset="0"/>
              </a:rPr>
              <a:t>;</a:t>
            </a:r>
            <a:endParaRPr lang="ru-RU" sz="1700" dirty="0">
              <a:latin typeface="Arial" panose="020B0604020202020204" pitchFamily="34" charset="0"/>
              <a:cs typeface="Arial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да посочват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 различните видове светофари (за автомобили, за пешеходци и за велосипедисти)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да описват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 със свои думи какво означават специфичните режими на работа на светофарите (например мигаща жълта светлина)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bg-BG" sz="1700" b="1" dirty="0">
                <a:latin typeface="Arial" panose="020B0604020202020204" pitchFamily="34" charset="0"/>
                <a:cs typeface="Arial" panose="020B0604020202020204" pitchFamily="34" charset="0"/>
              </a:rPr>
              <a:t>да разясняват</a:t>
            </a:r>
            <a:r>
              <a:rPr lang="bg-BG" sz="1700" dirty="0">
                <a:latin typeface="Arial" panose="020B0604020202020204" pitchFamily="34" charset="0"/>
                <a:cs typeface="Arial" panose="020B0604020202020204" pitchFamily="34" charset="0"/>
              </a:rPr>
              <a:t> как допълнителните стрелки/секции на светофара променят правото на преминаване през кръстовището.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4</a:t>
            </a:fld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611560" y="692696"/>
            <a:ext cx="7960968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300" b="1" u="sng" dirty="0">
                <a:latin typeface="Arial" pitchFamily="34" charset="0"/>
                <a:cs typeface="Arial" pitchFamily="34" charset="0"/>
              </a:rPr>
              <a:t>Практически цели:</a:t>
            </a:r>
          </a:p>
          <a:p>
            <a:pPr algn="just"/>
            <a:endParaRPr lang="bg-BG" sz="1000" b="1" u="sng" dirty="0">
              <a:latin typeface="Arial" panose="020B0604020202020204" pitchFamily="34" charset="0"/>
              <a:cs typeface="Arial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възпроизвеждат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(показват) физически основните жестове на регулировчика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определят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правилната си позиция и право на преминаване спрямо застаналото тяло на регулировчика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анализират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конкретни казуси (ситуации на кръстовище) с едновременно наличие на светофар и регулировчик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</a:t>
            </a:r>
            <a:r>
              <a:rPr lang="bg-BG" altLang="bg-BG" b="1" dirty="0">
                <a:latin typeface="Arial" panose="020B0604020202020204" pitchFamily="34" charset="0"/>
              </a:rPr>
              <a:t>избират</a:t>
            </a: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вземат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правилното решение за предимство.</a:t>
            </a:r>
          </a:p>
          <a:p>
            <a:pPr lvl="0" algn="just"/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300" b="1" u="sng" dirty="0">
                <a:latin typeface="Arial" pitchFamily="34" charset="0"/>
                <a:cs typeface="Arial" pitchFamily="34" charset="0"/>
              </a:rPr>
              <a:t>Възпитателни цели:</a:t>
            </a:r>
            <a:r>
              <a:rPr lang="ru-RU" sz="23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ru-RU" sz="1000" b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развиват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качества като самоконтрол и търпение при изчакване на разрешаващ сигнал на пътя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осъзнават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личната отговорност за своя живот и този на останалите участници в движението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проявяват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уважение към регулировчика и неговите указания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bg-BG" b="1" dirty="0">
                <a:latin typeface="Arial" panose="020B0604020202020204" pitchFamily="34" charset="0"/>
                <a:cs typeface="Arial" panose="020B0604020202020204" pitchFamily="34" charset="0"/>
              </a:rPr>
              <a:t>да показват</a:t>
            </a:r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 толерантност и готовност за оказване на помощ на по-слабите участници в движението (пешеходци, деца, възрастни).</a:t>
            </a: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5</a:t>
            </a:fld>
            <a:endParaRPr lang="bg-BG"/>
          </a:p>
        </p:txBody>
      </p:sp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857224" y="1112391"/>
            <a:ext cx="8143932" cy="460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Подбор на учебно съдържание:</a:t>
            </a:r>
            <a:endParaRPr kumimoji="0" lang="bg-BG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bg-BG" sz="1200" dirty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bg-BG" sz="12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Arial" pitchFamily="34" charset="0"/>
                <a:cs typeface="Arial" pitchFamily="34" charset="0"/>
              </a:rPr>
              <a:t>  </a:t>
            </a:r>
            <a:r>
              <a:rPr lang="bg-BG" sz="2500" dirty="0">
                <a:latin typeface="Arial" pitchFamily="34" charset="0"/>
                <a:cs typeface="Arial" pitchFamily="34" charset="0"/>
              </a:rPr>
              <a:t>Йерархия и общи правила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>
                <a:latin typeface="Arial" pitchFamily="34" charset="0"/>
                <a:cs typeface="Arial" pitchFamily="34" charset="0"/>
              </a:rPr>
              <a:t>  </a:t>
            </a:r>
            <a:r>
              <a:rPr lang="bg-BG" sz="2500" dirty="0">
                <a:latin typeface="Arial" pitchFamily="34" charset="0"/>
                <a:cs typeface="Arial" pitchFamily="34" charset="0"/>
              </a:rPr>
              <a:t>Регулировчик </a:t>
            </a:r>
          </a:p>
          <a:p>
            <a:pPr marL="45720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2.1. Основни положения на тялото на регулировчика</a:t>
            </a:r>
          </a:p>
          <a:p>
            <a:pPr marL="45720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2.2. Допълнителни сигнали</a:t>
            </a:r>
          </a:p>
          <a:p>
            <a:pPr marL="457200" lvl="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3. 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  </a:t>
            </a:r>
            <a:r>
              <a:rPr lang="bg-BG" sz="2500" dirty="0">
                <a:latin typeface="Arial" pitchFamily="34" charset="0"/>
                <a:cs typeface="Arial" pitchFamily="34" charset="0"/>
              </a:rPr>
              <a:t>Светофари</a:t>
            </a:r>
          </a:p>
          <a:p>
            <a:pPr marL="457200" lvl="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3.1. Регулирането чрез светлини с три цвята</a:t>
            </a:r>
          </a:p>
          <a:p>
            <a:pPr marL="457200" lvl="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3.2. Немигаща светлина</a:t>
            </a:r>
          </a:p>
          <a:p>
            <a:pPr marL="457200" lvl="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3.3. Мигаща светлина</a:t>
            </a:r>
          </a:p>
          <a:p>
            <a:pPr marL="457200" lvl="0" indent="-457200"/>
            <a:r>
              <a:rPr lang="bg-BG" sz="2500" dirty="0">
                <a:latin typeface="Arial" pitchFamily="34" charset="0"/>
                <a:cs typeface="Arial" pitchFamily="34" charset="0"/>
              </a:rPr>
              <a:t>3.4. Видове светофари</a:t>
            </a:r>
          </a:p>
          <a:p>
            <a:pPr marL="457200" lvl="0" indent="-457200"/>
            <a:r>
              <a:rPr kumimoji="0" lang="bg-BG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4.   </a:t>
            </a:r>
            <a:r>
              <a:rPr kumimoji="0" 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bg-BG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Предимство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6</a:t>
            </a:fld>
            <a:endParaRPr lang="bg-BG"/>
          </a:p>
        </p:txBody>
      </p:sp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714348" y="819424"/>
            <a:ext cx="821537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bg-BG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ptos" charset="0"/>
                <a:cs typeface="Arial" pitchFamily="34" charset="0"/>
              </a:rPr>
              <a:t>Дидактически принципи: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endParaRPr kumimoji="0" lang="bg-BG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ptos" charset="0"/>
              <a:cs typeface="Arial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1. </a:t>
            </a: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Нагледност (Визуализация)</a:t>
            </a:r>
            <a:endParaRPr lang="bg-BG" sz="2000" dirty="0">
              <a:latin typeface="Arial" pitchFamily="34" charset="0"/>
              <a:cs typeface="Arial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bg-BG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* използване на 3D симулации и софтуер, мултимедия</a:t>
            </a:r>
            <a:endParaRPr lang="bg-BG" sz="17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*</a:t>
            </a:r>
            <a:r>
              <a:rPr kumimoji="0" lang="bg-BG" sz="17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bg-BG" sz="17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р</a:t>
            </a:r>
            <a:r>
              <a:rPr kumimoji="0" lang="bg-BG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абота с макети и табла</a:t>
            </a:r>
            <a:endParaRPr lang="bg-BG" sz="17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bg-BG" sz="17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* д</a:t>
            </a:r>
            <a:r>
              <a:rPr kumimoji="0" lang="bg-BG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емонстрация на живо.</a:t>
            </a:r>
            <a:endParaRPr kumimoji="0" lang="bg-BG" sz="1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2. </a:t>
            </a:r>
            <a:r>
              <a:rPr lang="bg-BG" sz="2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	Достъпност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lang="bg-BG" sz="17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* преминаване от по-лесния елемент /светофар/ към по сложния /регулировчик/.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</a:pPr>
            <a:r>
              <a:rPr kumimoji="0" lang="bg-BG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3.</a:t>
            </a:r>
            <a:r>
              <a:rPr lang="bg-BG" sz="2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bg-BG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В</a:t>
            </a: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ръзка между </a:t>
            </a:r>
            <a:r>
              <a:rPr lang="bg-BG" sz="2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теорията</a:t>
            </a: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и практиката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* анализират се реални пътни ситуации.</a:t>
            </a:r>
            <a:endParaRPr kumimoji="0" lang="bg-BG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4.    </a:t>
            </a: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Съзнателност и активност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bg-BG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* не трябва да запаметяват сигналите механично, а да използват логически</a:t>
            </a:r>
            <a:r>
              <a:rPr kumimoji="0" lang="bg-BG" sz="17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обяснения.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bg-BG" sz="2000" baseline="0" dirty="0">
                <a:latin typeface="Arial" pitchFamily="34" charset="0"/>
                <a:ea typeface="Times New Roman" pitchFamily="18" charset="0"/>
                <a:cs typeface="Arial" pitchFamily="34" charset="0"/>
              </a:rPr>
              <a:t>5.	</a:t>
            </a: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Трайност на знанията </a:t>
            </a:r>
            <a:endParaRPr kumimoji="0" 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* интервално повторение</a:t>
            </a:r>
            <a:endParaRPr kumimoji="0" lang="bg-BG" sz="1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ptos" charset="0"/>
              <a:cs typeface="Arial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bg-BG" sz="17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* бърза </a:t>
            </a:r>
            <a:r>
              <a:rPr kumimoji="0" lang="bg-BG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проверка.</a:t>
            </a:r>
            <a:endParaRPr kumimoji="0" lang="bg-BG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6.</a:t>
            </a:r>
            <a:r>
              <a:rPr lang="bg-BG" sz="20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bg-B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Принцип за системност и последователност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bg-BG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* новите знания се вграждат в общата система от правила за предимство. </a:t>
            </a:r>
            <a:endParaRPr kumimoji="0" lang="bg-BG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7</a:t>
            </a:fld>
            <a:endParaRPr lang="bg-BG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928662" y="1000108"/>
            <a:ext cx="7358114" cy="490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Методи на преподаване: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Словесни:</a:t>
            </a: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Професионално лекционно изложение, анализ на казуси, беседа,</a:t>
            </a:r>
            <a:r>
              <a:rPr kumimoji="0" lang="bg-BG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обяснение.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ptos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Нагледни:</a:t>
            </a: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Работа с интерактивни 3D карти, мултимедийни симулации, демонстрация с макетна маса</a:t>
            </a:r>
            <a:r>
              <a:rPr kumimoji="0" lang="bg-BG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и схеми.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ptos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Интерактивни:</a:t>
            </a: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Разрешаване на изпитни ситуации от официалните масиви с изпитни въпроси (листовки) в реално време.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200" b="1" dirty="0">
                <a:latin typeface="Arial" pitchFamily="34" charset="0"/>
                <a:cs typeface="Arial" pitchFamily="34" charset="0"/>
              </a:rPr>
              <a:t> Практически:</a:t>
            </a:r>
            <a:r>
              <a:rPr lang="bg-BG" sz="2200" dirty="0">
                <a:latin typeface="Arial" pitchFamily="34" charset="0"/>
                <a:cs typeface="Arial" pitchFamily="34" charset="0"/>
              </a:rPr>
              <a:t> Демонстрация, ролева игра (ученици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 /</a:t>
            </a:r>
            <a:r>
              <a:rPr lang="bg-BG" sz="2200" dirty="0">
                <a:latin typeface="Arial" pitchFamily="34" charset="0"/>
                <a:cs typeface="Arial" pitchFamily="34" charset="0"/>
              </a:rPr>
              <a:t>курсисти влизат в ролята на пешеходци, велосипедисти и регулировчик), решаване на казуси.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8</a:t>
            </a:fld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1000100" y="1000109"/>
            <a:ext cx="7715304" cy="518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sz="25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Средства на обучение: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bg-BG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Компютър, мултимедиен проектор / специализиран софтуер.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400" dirty="0">
                <a:latin typeface="Arial" pitchFamily="34" charset="0"/>
                <a:ea typeface="Aptos"/>
                <a:cs typeface="Arial" pitchFamily="34" charset="0"/>
              </a:rPr>
              <a:t> Презентация.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Официални изпитни листовки (хартиени или таблети).</a:t>
            </a:r>
            <a:endParaRPr lang="bg-BG" sz="2400" dirty="0">
              <a:latin typeface="Arial" pitchFamily="34" charset="0"/>
              <a:ea typeface="Aptos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Настолен макет на кръстовище с подвижни елементи (колички, светофари, фигурка на регулировчик).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400" dirty="0">
                <a:latin typeface="Arial" pitchFamily="34" charset="0"/>
                <a:ea typeface="Aptos"/>
                <a:cs typeface="Arial" pitchFamily="34" charset="0"/>
              </a:rPr>
              <a:t> Работни листове с тестови задачи.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bg-BG" sz="24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Нормативна уредба - Закон за движението по пътищата и Правилник за прилагане на закона за движението по пътищата.</a:t>
            </a:r>
            <a:endParaRPr lang="ru-RU" sz="2400" u="sng" dirty="0">
              <a:latin typeface="Arial" pitchFamily="34" charset="0"/>
              <a:ea typeface="Times New Roman" pitchFamily="18" charset="0"/>
              <a:cs typeface="Arial" pitchFamily="34" charset="0"/>
              <a:hlinkClick r:id="rId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0AA064-688E-44D0-33AF-FBCBF991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9</a:t>
            </a:fld>
            <a:endParaRPr lang="bg-B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BC930-2A02-ED11-ADAA-697405F06E67}"/>
              </a:ext>
            </a:extLst>
          </p:cNvPr>
          <p:cNvSpPr txBox="1"/>
          <p:nvPr/>
        </p:nvSpPr>
        <p:spPr>
          <a:xfrm>
            <a:off x="785786" y="928671"/>
            <a:ext cx="81787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Организация на урока: </a:t>
            </a:r>
            <a:r>
              <a:rPr kumimoji="0" lang="bg-BG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itchFamily="34" charset="0"/>
              </a:rPr>
              <a:t>(45 минути)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sz="28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tabLst>
                <a:tab pos="457200" algn="l"/>
              </a:tabLst>
            </a:pPr>
            <a:r>
              <a:rPr kumimoji="0" lang="bg-BG" sz="20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Актуализация /</a:t>
            </a:r>
            <a:r>
              <a:rPr lang="bg-BG" sz="2000" dirty="0">
                <a:latin typeface="Arial" pitchFamily="34" charset="0"/>
                <a:cs typeface="Arial" pitchFamily="34" charset="0"/>
              </a:rPr>
              <a:t>опресняване/</a:t>
            </a:r>
            <a:r>
              <a:rPr kumimoji="0" lang="bg-BG" sz="20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на </a:t>
            </a: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предходни </a:t>
            </a:r>
            <a:r>
              <a:rPr kumimoji="0" lang="bg-BG" sz="20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знания (5 минути) – кратка беседа</a:t>
            </a:r>
            <a:endParaRPr lang="bg-BG" sz="20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tabLst>
                <a:tab pos="4572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Запознаване с нови знания (20 минути) – </a:t>
            </a:r>
            <a:r>
              <a:rPr lang="bg-BG" sz="2000" dirty="0">
                <a:latin typeface="Arial" pitchFamily="34" charset="0"/>
                <a:cs typeface="Arial" pitchFamily="34" charset="0"/>
              </a:rPr>
              <a:t>демонстрация чрез презентация/видео на жестовете на регулировчика, обясняване на сигналите на светофара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  <a:tabLst>
                <a:tab pos="4572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Обобщение (3 минути) </a:t>
            </a:r>
            <a:endParaRPr lang="en-US" sz="20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17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3.1. Регулировчикът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bg-BG" sz="2000" dirty="0">
                <a:latin typeface="Arial" pitchFamily="34" charset="0"/>
                <a:ea typeface="Calibri" pitchFamily="34" charset="0"/>
                <a:cs typeface="Arial" pitchFamily="34" charset="0"/>
              </a:rPr>
              <a:t>	3.2. Пътните светофари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 startAt="4"/>
              <a:tabLst>
                <a:tab pos="4572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Практическа част (7 минути) – ролева игра, демонстрация, въпроси по време на беседа, дискусия (наблюдение на активността), 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eriod" startAt="5"/>
              <a:tabLst>
                <a:tab pos="457200" algn="l"/>
              </a:tabLst>
            </a:pPr>
            <a:r>
              <a:rPr lang="bg-BG" sz="20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Оценка и контрол /обратна връзка/ (10 минути) – кратък тест, включващ разпознаване на жест на регулировчик или светлина на светофар и избор на верен отговор.</a:t>
            </a:r>
          </a:p>
        </p:txBody>
      </p:sp>
    </p:spTree>
    <p:extLst>
      <p:ext uri="{BB962C8B-B14F-4D97-AF65-F5344CB8AC3E}">
        <p14:creationId xmlns:p14="http://schemas.microsoft.com/office/powerpoint/2010/main" val="406025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10</a:t>
            </a:fld>
            <a:endParaRPr lang="bg-BG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39552" y="862768"/>
            <a:ext cx="821537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Основни звена в структурата на процеса на обучение са: </a:t>
            </a:r>
            <a:r>
              <a:rPr kumimoji="0" lang="bg-BG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възприемане, осмисляне, затвърждаване и приложение.</a:t>
            </a:r>
            <a:endParaRPr kumimoji="0" lang="bg-BG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Възприемане на новия учебен материал – начално звено в обучението, което предполага поставяне от учителя на цел и създаване на стимули за учене от учениците/курсистите.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Осмисляне на учебния материал – върху основата на конкретните възприятия и представи у учениците/курсистите се формират научни понятия и логически обяснения.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Затвърдяване на учебния материал – допринася за трайно усвояване и задържане на знания и умения в паметта. Най-голямо значение за това има повторението, упражнението и преговорът.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Прилагане на знанията и уменията – заключително звено в процеса на обучението. Приложението на знанията и уменията допринася за тяхното по-добро запаметяване и усвояване.</a:t>
            </a:r>
            <a:endParaRPr kumimoji="0" lang="bg-BG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11</a:t>
            </a:fld>
            <a:endParaRPr lang="bg-BG"/>
          </a:p>
        </p:txBody>
      </p:sp>
      <p:sp>
        <p:nvSpPr>
          <p:cNvPr id="3" name="Rectangle 2"/>
          <p:cNvSpPr/>
          <p:nvPr/>
        </p:nvSpPr>
        <p:spPr>
          <a:xfrm>
            <a:off x="642910" y="790487"/>
            <a:ext cx="785818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b="1" dirty="0">
                <a:latin typeface="Arial" pitchFamily="34" charset="0"/>
                <a:cs typeface="Arial" pitchFamily="34" charset="0"/>
              </a:rPr>
              <a:t>Очаквани резултати:</a:t>
            </a:r>
          </a:p>
          <a:p>
            <a:endParaRPr lang="ru-RU" sz="1000" b="1" dirty="0">
              <a:latin typeface="Arial" pitchFamily="34" charset="0"/>
              <a:cs typeface="Arial" pitchFamily="34" charset="0"/>
            </a:endParaRPr>
          </a:p>
          <a:p>
            <a:pPr algn="just">
              <a:buFont typeface="Courier New" pitchFamily="49" charset="0"/>
              <a:buChar char="o"/>
            </a:pPr>
            <a:r>
              <a:rPr lang="ru-RU" sz="2400" b="1" dirty="0">
                <a:latin typeface="Arial" pitchFamily="34" charset="0"/>
                <a:cs typeface="Arial" pitchFamily="34" charset="0"/>
              </a:rPr>
              <a:t> Бързото разпознаване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без колебание на всички средства за регулиране е задължително умение за всеки курсист.</a:t>
            </a:r>
          </a:p>
          <a:p>
            <a:pPr algn="just">
              <a:buFont typeface="Courier New" pitchFamily="49" charset="0"/>
              <a:buChar char="o"/>
            </a:pPr>
            <a:r>
              <a:rPr lang="ru-RU" sz="2400" b="1" dirty="0">
                <a:latin typeface="Arial" pitchFamily="34" charset="0"/>
                <a:cs typeface="Arial" pitchFamily="34" charset="0"/>
              </a:rPr>
              <a:t> Разбирането на предимството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и </a:t>
            </a:r>
            <a:r>
              <a:rPr lang="ru-RU" sz="2400" b="1" dirty="0">
                <a:latin typeface="Arial" pitchFamily="34" charset="0"/>
                <a:cs typeface="Arial" pitchFamily="34" charset="0"/>
              </a:rPr>
              <a:t>спазването на йерархията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в динамична среда предпазва от грешки, объркване и опасни конфликти на пътя.</a:t>
            </a:r>
          </a:p>
          <a:p>
            <a:pPr algn="just">
              <a:buFont typeface="Courier New" pitchFamily="49" charset="0"/>
              <a:buChar char="o"/>
            </a:pPr>
            <a:r>
              <a:rPr lang="ru-RU" sz="2400" b="1" dirty="0">
                <a:latin typeface="Arial" pitchFamily="34" charset="0"/>
                <a:cs typeface="Arial" pitchFamily="34" charset="0"/>
              </a:rPr>
              <a:t> Навременната реакция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и вниманието към всеки детайл гарантират безопасност при всяка промяна на сигналите.</a:t>
            </a:r>
          </a:p>
          <a:p>
            <a:pPr algn="just">
              <a:buFont typeface="Courier New" pitchFamily="49" charset="0"/>
              <a:buChar char="o"/>
            </a:pPr>
            <a:r>
              <a:rPr lang="ru-RU" sz="2400" b="1" dirty="0">
                <a:latin typeface="Arial" pitchFamily="34" charset="0"/>
                <a:cs typeface="Arial" pitchFamily="34" charset="0"/>
              </a:rPr>
              <a:t> Прилагането на знанията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на практика трябва да се превърне в автоматичен и сигурен рефлекс.</a:t>
            </a:r>
          </a:p>
          <a:p>
            <a:pPr algn="just">
              <a:buFont typeface="Courier New" pitchFamily="49" charset="0"/>
              <a:buChar char="o"/>
            </a:pPr>
            <a:r>
              <a:rPr lang="bg-BG" sz="2400" b="1" dirty="0">
                <a:latin typeface="Arial" pitchFamily="34" charset="0"/>
                <a:cs typeface="Arial" pitchFamily="34" charset="0"/>
              </a:rPr>
              <a:t> Развиването на толерантност и търпение</a:t>
            </a:r>
            <a:r>
              <a:rPr lang="bg-BG" sz="2400" dirty="0">
                <a:latin typeface="Arial" pitchFamily="34" charset="0"/>
                <a:cs typeface="Arial" pitchFamily="34" charset="0"/>
              </a:rPr>
              <a:t> чрез правилното прилагане на тези умения в крайна сметка ни прави по-отговорни и пази човешкия живот.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3A5EE7-30DA-04DA-EC4C-A036ED43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401C6-FFA8-4DE1-A4A2-D81B6F730549}" type="slidenum">
              <a:rPr lang="bg-BG" smtClean="0"/>
              <a:pPr/>
              <a:t>12</a:t>
            </a:fld>
            <a:endParaRPr lang="bg-B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91313-05BC-1545-F186-5FF803CBBEDC}"/>
              </a:ext>
            </a:extLst>
          </p:cNvPr>
          <p:cNvSpPr txBox="1"/>
          <p:nvPr/>
        </p:nvSpPr>
        <p:spPr>
          <a:xfrm>
            <a:off x="1357290" y="2643182"/>
            <a:ext cx="710314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bg-BG" sz="2500" b="1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БЛАГОДАРЯ ЗА ВНИМАНИЕТО!</a:t>
            </a:r>
            <a:endParaRPr lang="bg-BG" sz="2500" b="1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793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913</TotalTime>
  <Words>1037</Words>
  <Application>Microsoft Office PowerPoint</Application>
  <PresentationFormat>On-screen Show (4:3)</PresentationFormat>
  <Paragraphs>120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Constantia</vt:lpstr>
      <vt:lpstr>Courier New</vt:lpstr>
      <vt:lpstr>Wingdings</vt:lpstr>
      <vt:lpstr>Wingdings 2</vt:lpstr>
      <vt:lpstr>Flow</vt:lpstr>
      <vt:lpstr>РАЗРАБОТВАНЕ НА УРОК   на тема:   Сигнали на регулировчика и пътните светофари  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РАЗРАБОТВАНЕ НА УРОК   на тема:   Сигнали на регулировчика и пътните светофари   Дисциплина: Педагогическа практика</dc:title>
  <dc:creator>user</dc:creator>
  <cp:lastModifiedBy>Parvanov</cp:lastModifiedBy>
  <cp:revision>97</cp:revision>
  <cp:lastPrinted>2026-05-31T11:52:00Z</cp:lastPrinted>
  <dcterms:created xsi:type="dcterms:W3CDTF">2026-05-20T16:44:15Z</dcterms:created>
  <dcterms:modified xsi:type="dcterms:W3CDTF">2026-05-31T12:07:49Z</dcterms:modified>
</cp:coreProperties>
</file>