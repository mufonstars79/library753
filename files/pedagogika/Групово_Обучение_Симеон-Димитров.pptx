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7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Ниво на ефективност</c:v>
                </c:pt>
              </c:strCache>
            </c:strRef>
          </c:tx>
          <c:spPr>
            <a:solidFill>
              <a:srgbClr val="C41E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Знания и
правила</c:v>
                </c:pt>
                <c:pt idx="1">
                  <c:v>Практически
умения</c:v>
                </c:pt>
                <c:pt idx="2">
                  <c:v>Увереност
зад волана</c:v>
                </c:pt>
                <c:pt idx="3">
                  <c:v>Промяна на
нагласи</c:v>
                </c:pt>
                <c:pt idx="4">
                  <c:v>Устойчиво
поведение</c:v>
                </c:pt>
                <c:pt idx="5">
                  <c:v>Намаляване
на ПТП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42</c:v>
                </c:pt>
                <c:pt idx="4">
                  <c:v>32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17-4A67-B8CF-72AA80657B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0E0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4444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D2D2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841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ПРОМЯНА НА ОТНОШЕНИЕТО</a:t>
            </a:r>
            <a:endParaRPr lang="en-US" sz="3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ПОВЕДЕНИЕТО В ОБУЧЕНИЕТО</a:t>
            </a:r>
            <a:endParaRPr lang="en-US" sz="3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 ШОФЬОРИ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461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Симеон Васков Димитров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София, 2014 г.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УВОД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Обучението на шофьори надхвърля усвояването на технически умения. То включва: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Формиране на отговорно отношение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Осъзнаване на риска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Изграждане на безопасно поведение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Нагласите на бъдещия водач определят как той прилага знанията си в реална пътна среда.</a:t>
            </a:r>
            <a:endParaRPr lang="en-US" sz="1300" dirty="0"/>
          </a:p>
        </p:txBody>
      </p:sp>
      <p:pic>
        <p:nvPicPr>
          <p:cNvPr id="4" name="Image 0" descr="/agent/turn1/workspace/images/young-person-sitting-in-a-driving-simulator-cockpi_2026-05-28T12-19-54_image_DAS_0.jpg"/>
          <p:cNvPicPr>
            <a:picLocks noChangeAspect="1"/>
          </p:cNvPicPr>
          <p:nvPr/>
        </p:nvPicPr>
        <p:blipFill>
          <a:blip r:embed="rId3"/>
          <a:srcRect l="19565" r="19565"/>
          <a:stretch/>
        </p:blipFill>
        <p:spPr>
          <a:xfrm>
            <a:off x="4846320" y="457200"/>
            <a:ext cx="384048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conceptual-illustration-of-human-brain-sp_2026-05-28T12-19-52_image_DAS_0.jpg"/>
          <p:cNvPicPr>
            <a:picLocks noChangeAspect="1"/>
          </p:cNvPicPr>
          <p:nvPr/>
        </p:nvPicPr>
        <p:blipFill>
          <a:blip r:embed="rId3"/>
          <a:srcRect t="29750" b="29750"/>
          <a:stretch/>
        </p:blipFill>
        <p:spPr>
          <a:xfrm>
            <a:off x="0" y="0"/>
            <a:ext cx="9144000" cy="2468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46888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СЪЩНОСТ НА ПРОМЯНАТА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Промяната на отношението е вътрешна трансформация. Промяната в поведението е нейното практическо проявление.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2514600" cy="2057400"/>
          </a:xfrm>
          <a:prstGeom prst="rect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2514600" cy="4572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Когнитивно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Разбиране защо правилата са необходими и какви са последствията от неспазването им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02152" y="2788920"/>
            <a:ext cx="2514600" cy="2057400"/>
          </a:xfrm>
          <a:prstGeom prst="rect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02152" y="2788920"/>
            <a:ext cx="2514600" cy="4572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730752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Емоционално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30752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Осъзнаване на риска и емпатия към останалите участници в движението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64224" y="2788920"/>
            <a:ext cx="2514600" cy="2057400"/>
          </a:xfrm>
          <a:prstGeom prst="rect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364224" y="2788920"/>
            <a:ext cx="2514600" cy="4572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92824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Ценностно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92824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Безопасността се превръща в лична ценност, а не формално изискване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ФАКТОРИ, ВЛИЯЕЩИ ВЪРХУ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НАГЛАСИТЕ НА ВОДАЧИТЕ</a:t>
            </a:r>
            <a:endParaRPr lang="en-US" sz="2400" dirty="0"/>
          </a:p>
        </p:txBody>
      </p:sp>
      <p:pic>
        <p:nvPicPr>
          <p:cNvPr id="3" name="Image 0" descr="/agent/turn1/workspace/images/group-of-young-adults-in-a-modern-classroom-settin_2026-05-28T12-19-57_image_DAS_0.jpg"/>
          <p:cNvPicPr>
            <a:picLocks noChangeAspect="1"/>
          </p:cNvPicPr>
          <p:nvPr/>
        </p:nvPicPr>
        <p:blipFill>
          <a:blip r:embed="rId3"/>
          <a:srcRect l="13964" r="13964"/>
          <a:stretch/>
        </p:blipFill>
        <p:spPr>
          <a:xfrm>
            <a:off x="640080" y="1371600"/>
            <a:ext cx="3657600" cy="3383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63440" y="1417320"/>
            <a:ext cx="54864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937760" y="1435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Социална среда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937760" y="1764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Семейство, приятели и обществени модели формират възприятието за нормално поведение на пътя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2532888"/>
            <a:ext cx="54864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37760" y="2551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Лична мотивация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93776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Разликата между формално изискване и реално осъзнаване на значимостта на безопасното управление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3648456"/>
            <a:ext cx="54864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37760" y="3666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Възраст и опит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37760" y="3995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Младите водачи надценяват способностите си и са по-податливи на групов натиск от връстници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close-up-of-experienced-driving-instructor-in-a-ca_2026-05-28T12-20-03_image_DAS_0.jpg"/>
          <p:cNvPicPr>
            <a:picLocks noChangeAspect="1"/>
          </p:cNvPicPr>
          <p:nvPr/>
        </p:nvPicPr>
        <p:blipFill>
          <a:blip r:embed="rId3"/>
          <a:srcRect l="20370" r="2037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РОЛЯТА НА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ИНСТРУКТОРА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Преподавател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Предава правила и техники за управление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35915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23591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Възпитател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0160" y="2615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Формира ценности и отговорно отношение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163824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3163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80160" y="3419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Личен пример за безопасно поведение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96849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80160" y="39684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Посредник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80160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Свързва теорията с реалната практика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Качеството на инструктора определя качеството на крайния резултат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modern-driving-school-classroom-with-interactive-s_2026-05-28T12-19-57_image_DAS_0.jpg"/>
          <p:cNvPicPr>
            <a:picLocks noChangeAspect="1"/>
          </p:cNvPicPr>
          <p:nvPr/>
        </p:nvPicPr>
        <p:blipFill>
          <a:blip r:embed="rId3"/>
          <a:srcRect t="28250" b="28250"/>
          <a:stretch/>
        </p:blipFill>
        <p:spPr>
          <a:xfrm>
            <a:off x="0" y="0"/>
            <a:ext cx="9144000" cy="2651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65176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ОБУЧИТЕЛНАТА СРЕДА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Атмосферата на обучение пряко влияе върху дълбочината на промяна в нагласите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926080"/>
            <a:ext cx="3657600" cy="1920240"/>
          </a:xfrm>
          <a:prstGeom prst="rect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926080"/>
            <a:ext cx="3657600" cy="45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3090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Ефективна среда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474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Атмосфера на уважение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Последователност в преподаването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Реалистична практика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Насърчаване на критично мислене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2926080"/>
            <a:ext cx="3657600" cy="1920240"/>
          </a:xfrm>
          <a:prstGeom prst="rect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2926080"/>
            <a:ext cx="3657600" cy="45720"/>
          </a:xfrm>
          <a:prstGeom prst="rect">
            <a:avLst/>
          </a:prstGeom>
          <a:solidFill>
            <a:srgbClr val="E83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74920" y="3090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38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Неефективна среда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74920" y="3474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Прекалено формален процес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Прибързано обучение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само върху изпита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Липса на реална обратна връзка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МЕТОДИ ЗА УСТОЙЧИВО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 ПОВЕДЕНИЕ</a:t>
            </a:r>
            <a:endParaRPr lang="en-US" sz="2400" dirty="0"/>
          </a:p>
        </p:txBody>
      </p:sp>
      <p:pic>
        <p:nvPicPr>
          <p:cNvPr id="3" name="Image 0" descr="/agent/turn1/workspace/images/flat-modern-infographic-style-illustration-showing_2026-05-28T12-19-40_image_DAS_0.jpg"/>
          <p:cNvPicPr>
            <a:picLocks noChangeAspect="1"/>
          </p:cNvPicPr>
          <p:nvPr/>
        </p:nvPicPr>
        <p:blipFill>
          <a:blip r:embed="rId3"/>
          <a:srcRect t="3125" b="3125"/>
          <a:stretch/>
        </p:blipFill>
        <p:spPr>
          <a:xfrm>
            <a:off x="5029200" y="228600"/>
            <a:ext cx="36576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на казуси и реални пътни инциденти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Симулации на рискови ситуации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2560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Учене чрез преживяване и вземане на решения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7492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Ролеви задачи и групови дискусии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0" y="3383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74920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Рефлексия и самонаблюдение след практика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0" y="3931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7492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 връзка и механизми за контрол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" y="4434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 принцип: промяната в поведението трябва да е вътрешно приета норма, а не външно наложена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АНАЛИЗ НА РЕЗУЛТАТИТЕ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постига обучението и къде среща ограничения?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3017520" cy="3200400"/>
          </a:xfrm>
          <a:prstGeom prst="rect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0" y="1508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Интерпретация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96596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Знания и умения — висок ефект от обучението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56032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364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Увереност расте, но може да маскира надценяване на способностите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200400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63640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Дълбоките нагласи и реалното поведение остават трудни за промяна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794760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63640" y="3794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Доказателствата за намаляване на ПТП са ограничени (Akbari et al., 2021)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Данните са илюстративни, базирани на тенденциите от анализираната литература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ОЦЕНКА: КАКВО РАБОТИ И КАКВО НЕ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49040" cy="411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КАКВО РАБОТИ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Учене чрез преживяване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156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Симулации и реални ситуации развиват и умения, и отношение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Поведенчески подходи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5156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Интервенции, основани на теории, са по-успешни (NORC, 2024)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4612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Критично мислене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515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Свързване на теорията с реални случаи формира трайни модели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977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Обновена документация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051560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България се работи по актуализиране на стандартите (БТА, 2024)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754880" y="1051560"/>
            <a:ext cx="3749040" cy="41148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489204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КАКВО НЕ РАБОТИ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691640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6636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Само лекционно обучение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16636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Предаването на информация без ангажиране не променя поведение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6888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66360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Фокус върху изпита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16636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Подготовката за тест не гарантира безопасно шофиране в реалния трафик</a:t>
            </a:r>
            <a:endParaRPr lang="en-US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46120"/>
            <a:ext cx="228600" cy="2286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66360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Еднократен курс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51663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последващо затвърждаване нагласите се връщат към старите модели</a:t>
            </a:r>
            <a:endParaRPr lang="en-US" sz="10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023360"/>
            <a:ext cx="228600" cy="2286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66360" y="3977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Игнориране на емоцията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5166360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работа с групов натиск и самоконтрол, рискът остава висок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2"/>
          <p:cNvSpPr/>
          <p:nvPr/>
        </p:nvSpPr>
        <p:spPr>
          <a:xfrm>
            <a:off x="822960" y="4480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Извод: Обучението трябва да се разглежда като процес на личностно формиране, а не само административна подготовка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Промяната на отношението и поведението е сложен и дългосрочен процес, изискващ съчетаване на знания, умения, ценности и самоконтрол.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Ефективното обучение трябва да въздейства не само на равнището на информираността, но и на равнището на нагласите и устойчивите поведенчески модели.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Истинският успех не се измерва с изпит, а с формирането на отговорен, разумен и безопасен водач.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Симеон Васков Димитров  |  София, 2014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585</Words>
  <Application>Microsoft Office PowerPoint</Application>
  <PresentationFormat>On-screen Show (16:9)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Karmen Agopyan</dc:creator>
  <cp:lastModifiedBy>Karmen Agopyan</cp:lastModifiedBy>
  <cp:revision>1</cp:revision>
  <dcterms:created xsi:type="dcterms:W3CDTF">2026-05-28T12:32:38Z</dcterms:created>
  <dcterms:modified xsi:type="dcterms:W3CDTF">2026-05-28T12:35:00Z</dcterms:modified>
</cp:coreProperties>
</file>