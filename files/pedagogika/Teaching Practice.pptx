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66" r:id="rId3"/>
    <p:sldId id="268" r:id="rId4"/>
    <p:sldId id="257" r:id="rId5"/>
    <p:sldId id="274" r:id="rId6"/>
    <p:sldId id="267" r:id="rId7"/>
    <p:sldId id="272" r:id="rId8"/>
    <p:sldId id="273" r:id="rId9"/>
    <p:sldId id="270" r:id="rId10"/>
    <p:sldId id="25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26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2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2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0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5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32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749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000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24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23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872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167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85341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9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475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7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32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Пътища</a:t>
            </a:r>
            <a:r>
              <a:rPr dirty="0"/>
              <a:t> и </a:t>
            </a:r>
            <a:r>
              <a:rPr dirty="0" err="1"/>
              <a:t>улици</a:t>
            </a:r>
            <a:r>
              <a:rPr lang="bg-BG" dirty="0"/>
              <a:t>те, по които се движим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bg-BG" dirty="0"/>
              <a:t>Безопасност </a:t>
            </a:r>
            <a:r>
              <a:rPr dirty="0" err="1"/>
              <a:t>на</a:t>
            </a:r>
            <a:r>
              <a:rPr dirty="0"/>
              <a:t> </a:t>
            </a:r>
            <a:r>
              <a:rPr lang="bg-BG" dirty="0"/>
              <a:t>движението по пътя за </a:t>
            </a:r>
            <a:r>
              <a:rPr dirty="0" err="1"/>
              <a:t>кандидати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водачи</a:t>
            </a:r>
            <a:r>
              <a:rPr lang="bg-BG" dirty="0"/>
              <a:t> – категория </a:t>
            </a:r>
            <a:r>
              <a:rPr lang="en-US" dirty="0"/>
              <a:t>B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873820-C3AD-5799-2291-6D5C184F8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8666" y="237066"/>
            <a:ext cx="4767847" cy="2679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0C880-5F93-86E6-8BFC-E485981A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333" y="1346200"/>
            <a:ext cx="7476067" cy="5080000"/>
          </a:xfrm>
        </p:spPr>
        <p:txBody>
          <a:bodyPr>
            <a:normAutofit/>
          </a:bodyPr>
          <a:lstStyle/>
          <a:p>
            <a:r>
              <a:rPr lang="en-US" b="1" dirty="0"/>
              <a:t>МЕТОДИЧЕСКА РАЗРАБОТКА</a:t>
            </a:r>
          </a:p>
          <a:p>
            <a:endParaRPr lang="en-US" dirty="0"/>
          </a:p>
          <a:p>
            <a:r>
              <a:rPr lang="en-US" b="1" dirty="0" err="1"/>
              <a:t>Обучение</a:t>
            </a:r>
            <a:r>
              <a:rPr lang="en-US" b="1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придобиване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правоспособност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МПС – </a:t>
            </a:r>
            <a:r>
              <a:rPr lang="en-US" dirty="0" err="1"/>
              <a:t>категория</a:t>
            </a:r>
            <a:r>
              <a:rPr lang="en-US" dirty="0"/>
              <a:t> B</a:t>
            </a:r>
          </a:p>
          <a:p>
            <a:endParaRPr lang="en-US" dirty="0"/>
          </a:p>
          <a:p>
            <a:r>
              <a:rPr lang="en-US" b="1" dirty="0" err="1"/>
              <a:t>Учебна</a:t>
            </a:r>
            <a:r>
              <a:rPr lang="en-US" b="1" dirty="0"/>
              <a:t> </a:t>
            </a:r>
            <a:r>
              <a:rPr lang="en-US" b="1" dirty="0" err="1"/>
              <a:t>дисциплина</a:t>
            </a:r>
            <a:r>
              <a:rPr lang="en-US" b="1" dirty="0"/>
              <a:t>: </a:t>
            </a:r>
            <a:r>
              <a:rPr lang="ru-RU" dirty="0"/>
              <a:t>Безопасност на движението по пътя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Тема</a:t>
            </a:r>
            <a:r>
              <a:rPr lang="en-US" b="1" dirty="0"/>
              <a:t>: </a:t>
            </a:r>
            <a:r>
              <a:rPr lang="en-US" dirty="0" err="1"/>
              <a:t>Пътища</a:t>
            </a:r>
            <a:r>
              <a:rPr lang="en-US" dirty="0"/>
              <a:t> и </a:t>
            </a:r>
            <a:r>
              <a:rPr lang="en-US" dirty="0" err="1"/>
              <a:t>улиците</a:t>
            </a:r>
            <a:r>
              <a:rPr lang="en-US" dirty="0"/>
              <a:t>,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които</a:t>
            </a:r>
            <a:r>
              <a:rPr lang="en-US" dirty="0"/>
              <a:t> </a:t>
            </a:r>
            <a:r>
              <a:rPr lang="en-US" dirty="0" err="1"/>
              <a:t>се</a:t>
            </a:r>
            <a:r>
              <a:rPr lang="en-US" dirty="0"/>
              <a:t> </a:t>
            </a:r>
            <a:r>
              <a:rPr lang="en-US" dirty="0" err="1"/>
              <a:t>движим</a:t>
            </a:r>
            <a:endParaRPr lang="en-US" dirty="0"/>
          </a:p>
          <a:p>
            <a:endParaRPr lang="en-US" dirty="0"/>
          </a:p>
          <a:p>
            <a:r>
              <a:rPr lang="en-US" b="1" dirty="0" err="1"/>
              <a:t>Вид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занятието</a:t>
            </a:r>
            <a:r>
              <a:rPr lang="en-US" b="1" dirty="0"/>
              <a:t>: </a:t>
            </a:r>
            <a:r>
              <a:rPr lang="en-US" dirty="0" err="1"/>
              <a:t>Теоретично</a:t>
            </a:r>
            <a:r>
              <a:rPr lang="en-US" dirty="0"/>
              <a:t> (</a:t>
            </a:r>
            <a:r>
              <a:rPr lang="en-US" dirty="0" err="1"/>
              <a:t>лекция</a:t>
            </a:r>
            <a:r>
              <a:rPr lang="en-US" dirty="0"/>
              <a:t> + </a:t>
            </a:r>
            <a:r>
              <a:rPr lang="en-US" dirty="0" err="1"/>
              <a:t>дискусия</a:t>
            </a:r>
            <a:r>
              <a:rPr lang="en-US" dirty="0"/>
              <a:t> + </a:t>
            </a:r>
            <a:r>
              <a:rPr lang="en-US" dirty="0" err="1"/>
              <a:t>казуси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bg-BG" b="1" dirty="0"/>
              <a:t>Продължителност – </a:t>
            </a:r>
            <a:r>
              <a:rPr lang="bg-BG" dirty="0"/>
              <a:t>две занятия по 45 минути</a:t>
            </a:r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137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22AE-9A67-2CE2-7182-A67BC9F3A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F3FC9-768A-E4FB-C8C1-757F40B67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133046"/>
            <a:ext cx="6589199" cy="1280890"/>
          </a:xfrm>
        </p:spPr>
        <p:txBody>
          <a:bodyPr>
            <a:normAutofit fontScale="90000"/>
          </a:bodyPr>
          <a:lstStyle/>
          <a:p>
            <a:r>
              <a:rPr lang="ru-RU" dirty="0"/>
              <a:t>Организация и провеждане на обучението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3ACC-F6FE-09B7-C5D5-3D79E5DED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523998"/>
            <a:ext cx="6591985" cy="4461933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ru-RU" dirty="0"/>
              <a:t>Материална база – учебен кабинет за обучение по теория, оборудван с необходимите средства за кандидатите, както и средства за визуализация на представяната теория </a:t>
            </a:r>
            <a:r>
              <a:rPr lang="en-US" dirty="0"/>
              <a:t>(</a:t>
            </a:r>
            <a:r>
              <a:rPr lang="ru-RU" dirty="0"/>
              <a:t>лаптоп, проектор, бял екран, схеми и карти</a:t>
            </a:r>
            <a:r>
              <a:rPr lang="en-US" dirty="0"/>
              <a:t>)</a:t>
            </a:r>
          </a:p>
          <a:p>
            <a:pPr>
              <a:defRPr sz="2400"/>
            </a:pPr>
            <a:r>
              <a:rPr lang="bg-BG" sz="2400" dirty="0"/>
              <a:t>У</a:t>
            </a:r>
            <a:r>
              <a:rPr lang="ru-RU" sz="2400" dirty="0"/>
              <a:t>частници: групи от по 20 кандидата максимален брой</a:t>
            </a:r>
          </a:p>
          <a:p>
            <a:pPr>
              <a:defRPr sz="2400"/>
            </a:pPr>
            <a:r>
              <a:rPr lang="bg-BG" sz="2400" dirty="0"/>
              <a:t>Продължителност – две занятия по 45 минути</a:t>
            </a:r>
            <a:endParaRPr lang="en-US" sz="2400" dirty="0"/>
          </a:p>
          <a:p>
            <a:pPr>
              <a:defRPr sz="2400"/>
            </a:pPr>
            <a:endParaRPr lang="ru-RU" sz="2400" dirty="0"/>
          </a:p>
          <a:p>
            <a:pPr>
              <a:defRPr sz="2400"/>
            </a:pPr>
            <a:endParaRPr lang="ru-RU" sz="2400" dirty="0"/>
          </a:p>
          <a:p>
            <a:pPr>
              <a:defRPr sz="2400"/>
            </a:pPr>
            <a:endParaRPr lang="ru-RU" sz="2400" dirty="0"/>
          </a:p>
          <a:p>
            <a:pPr>
              <a:defRPr sz="2400"/>
            </a:pP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60578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124576"/>
            <a:ext cx="6589199" cy="1280890"/>
          </a:xfrm>
        </p:spPr>
        <p:txBody>
          <a:bodyPr/>
          <a:lstStyle/>
          <a:p>
            <a:r>
              <a:rPr lang="bg-BG" dirty="0"/>
              <a:t>Основни ц</a:t>
            </a:r>
            <a:r>
              <a:rPr dirty="0" err="1"/>
              <a:t>ели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1523998"/>
            <a:ext cx="6591985" cy="5113869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bg-BG" sz="1600" dirty="0"/>
              <a:t>След успешно преминаване на обучението участникът трябва:</a:t>
            </a:r>
          </a:p>
          <a:p>
            <a:pPr>
              <a:defRPr sz="2400"/>
            </a:pPr>
            <a:r>
              <a:rPr lang="bg-BG" sz="1600" dirty="0"/>
              <a:t>Да обяснява със свои думи</a:t>
            </a:r>
            <a:r>
              <a:rPr lang="en-US" sz="1600" dirty="0"/>
              <a:t>:</a:t>
            </a:r>
          </a:p>
          <a:p>
            <a:pPr marL="0" indent="0">
              <a:buNone/>
              <a:defRPr sz="2400"/>
            </a:pPr>
            <a:r>
              <a:rPr lang="en-US" sz="1600" dirty="0"/>
              <a:t> 	 - </a:t>
            </a:r>
            <a:r>
              <a:rPr lang="ru-RU" sz="1600" dirty="0"/>
              <a:t>характеристиките на различните видове пътища, 	</a:t>
            </a:r>
          </a:p>
          <a:p>
            <a:pPr marL="0" indent="0">
              <a:buNone/>
              <a:defRPr sz="2400"/>
            </a:pPr>
            <a:r>
              <a:rPr lang="ru-RU" sz="1600" dirty="0"/>
              <a:t>	 - нормативни изисквания за движение по тях 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специфичните особености на другите участници в движението; </a:t>
            </a:r>
          </a:p>
          <a:p>
            <a:pPr>
              <a:defRPr sz="2400"/>
            </a:pPr>
            <a:r>
              <a:rPr lang="ru-RU" sz="1600" dirty="0"/>
              <a:t>Да различава специфичните опасности при движение: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в завой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по наклонени пътни участъци, 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в тунел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по мост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в стеснен участък;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в градска среда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7021B-D9AF-D5EE-E5B4-B45E88CD5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050" y="129119"/>
            <a:ext cx="14859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DD2B-116B-EE10-72AE-291B47ACF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636D-6951-6D2E-B9E1-C4A57351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124576"/>
            <a:ext cx="6589199" cy="1280890"/>
          </a:xfrm>
        </p:spPr>
        <p:txBody>
          <a:bodyPr/>
          <a:lstStyle/>
          <a:p>
            <a:r>
              <a:rPr lang="bg-BG" dirty="0"/>
              <a:t>Основни ц</a:t>
            </a:r>
            <a:r>
              <a:rPr dirty="0" err="1"/>
              <a:t>ели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52809-BBE4-212A-D295-6C411F53B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523998"/>
            <a:ext cx="6591985" cy="5113869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bg-BG" sz="1600" dirty="0"/>
              <a:t>След успешно преминаване на обучението участникът трябва:</a:t>
            </a:r>
          </a:p>
          <a:p>
            <a:pPr>
              <a:defRPr sz="2400"/>
            </a:pPr>
            <a:endParaRPr lang="bg-BG" sz="1200" dirty="0"/>
          </a:p>
          <a:p>
            <a:pPr>
              <a:defRPr sz="2400"/>
            </a:pPr>
            <a:r>
              <a:rPr lang="bg-BG" sz="1600"/>
              <a:t>Да </a:t>
            </a:r>
            <a:r>
              <a:rPr lang="bg-BG" sz="1600" dirty="0"/>
              <a:t>прилага </a:t>
            </a:r>
            <a:r>
              <a:rPr lang="ru-RU" sz="1600" dirty="0"/>
              <a:t>правилата за извършване на различните маневри:</a:t>
            </a:r>
          </a:p>
          <a:p>
            <a:pPr marL="0" indent="0">
              <a:buNone/>
              <a:defRPr sz="2400"/>
            </a:pPr>
            <a:r>
              <a:rPr lang="ru-RU" sz="1600" dirty="0"/>
              <a:t>	 -  за преминаване през кръстовища, пътен възел, </a:t>
            </a:r>
          </a:p>
          <a:p>
            <a:pPr marL="0" indent="0">
              <a:buNone/>
              <a:defRPr sz="2400"/>
            </a:pPr>
            <a:r>
              <a:rPr lang="ru-RU" sz="1600" dirty="0"/>
              <a:t>	 - стеснен участък от пътя, </a:t>
            </a:r>
          </a:p>
          <a:p>
            <a:pPr marL="0" indent="0">
              <a:buNone/>
              <a:defRPr sz="2400"/>
            </a:pPr>
            <a:r>
              <a:rPr lang="ru-RU" sz="1600" dirty="0"/>
              <a:t>	 - ж. п. прелез</a:t>
            </a:r>
          </a:p>
          <a:p>
            <a:pPr marL="0" indent="0">
              <a:buNone/>
              <a:defRPr sz="2400"/>
            </a:pPr>
            <a:r>
              <a:rPr lang="ru-RU" sz="1600" dirty="0"/>
              <a:t>	 - за движението по автомагистрала </a:t>
            </a:r>
            <a:endParaRPr lang="en-US" sz="1600" dirty="0"/>
          </a:p>
          <a:p>
            <a:pPr marL="0" indent="0">
              <a:buNone/>
              <a:defRPr sz="2400"/>
            </a:pPr>
            <a:r>
              <a:rPr lang="en-US" sz="1600" dirty="0"/>
              <a:t>	 - </a:t>
            </a:r>
            <a:r>
              <a:rPr lang="bg-BG" sz="1600" dirty="0"/>
              <a:t>за движението по </a:t>
            </a:r>
            <a:r>
              <a:rPr lang="ru-RU" sz="1600" dirty="0"/>
              <a:t>скоростен път</a:t>
            </a:r>
          </a:p>
          <a:p>
            <a:pPr marL="0" indent="0">
              <a:buNone/>
              <a:defRPr sz="2400"/>
            </a:pPr>
            <a:r>
              <a:rPr lang="ru-RU" sz="1600" dirty="0"/>
              <a:t>	 - да движетието по автомобилен път;</a:t>
            </a: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BC96F-E847-C928-6FA6-CFAEAF995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050" y="129119"/>
            <a:ext cx="14859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17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D2EF-CDD3-EA4F-CB5F-3A2D6795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6730-C02D-DC0A-DD31-74C52759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99178"/>
            <a:ext cx="6589199" cy="1280890"/>
          </a:xfrm>
        </p:spPr>
        <p:txBody>
          <a:bodyPr/>
          <a:lstStyle/>
          <a:p>
            <a:r>
              <a:rPr lang="bg-BG" dirty="0"/>
              <a:t>Допълнителни ц</a:t>
            </a:r>
            <a:r>
              <a:rPr dirty="0" err="1"/>
              <a:t>ели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BF8C8-0073-840C-508F-F0DB2451D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523998"/>
            <a:ext cx="6591985" cy="4461933"/>
          </a:xfrm>
        </p:spPr>
        <p:txBody>
          <a:bodyPr>
            <a:normAutofit/>
          </a:bodyPr>
          <a:lstStyle/>
          <a:p>
            <a:pPr>
              <a:defRPr sz="2400"/>
            </a:pPr>
            <a:r>
              <a:rPr lang="bg-BG" dirty="0"/>
              <a:t>След успешно преминаване на обучението кандидатът за провоспособност трябва да може </a:t>
            </a:r>
            <a:r>
              <a:rPr lang="en-US" dirty="0"/>
              <a:t>(</a:t>
            </a:r>
            <a:r>
              <a:rPr lang="bg-BG" dirty="0"/>
              <a:t>в съчетание и с практическото обучение</a:t>
            </a:r>
            <a:r>
              <a:rPr lang="en-US" dirty="0"/>
              <a:t>)</a:t>
            </a:r>
            <a:r>
              <a:rPr lang="bg-BG" dirty="0"/>
              <a:t>:</a:t>
            </a:r>
          </a:p>
          <a:p>
            <a:pPr>
              <a:defRPr sz="2400"/>
            </a:pPr>
            <a:endParaRPr lang="bg-BG" dirty="0"/>
          </a:p>
          <a:p>
            <a:pPr>
              <a:defRPr sz="2400"/>
            </a:pPr>
            <a:r>
              <a:rPr lang="ru-RU" sz="1600" dirty="0"/>
              <a:t>да изброява най-малко 10 възможни опасни ситуации в пътното движение, да преценяват тяхната сериозност и да реагират адекватно при възникването им;</a:t>
            </a:r>
          </a:p>
          <a:p>
            <a:pPr>
              <a:defRPr sz="2400"/>
            </a:pPr>
            <a:endParaRPr lang="ru-RU" sz="1600" dirty="0"/>
          </a:p>
          <a:p>
            <a:pPr>
              <a:defRPr sz="2400"/>
            </a:pPr>
            <a:r>
              <a:rPr lang="ru-RU" sz="1600" dirty="0"/>
              <a:t>да демонстрира безопасно управление на превозното средство</a:t>
            </a:r>
            <a:endParaRPr lang="bg-BG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C4EFC-2243-CD5D-1F9F-1E6B68C45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2050" y="129119"/>
            <a:ext cx="14859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828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9A6E9-46BF-3E86-E65E-F80AE0754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8EAD7-522F-DE2F-E674-EEF6586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99178"/>
            <a:ext cx="6589199" cy="1280890"/>
          </a:xfrm>
        </p:spPr>
        <p:txBody>
          <a:bodyPr/>
          <a:lstStyle/>
          <a:p>
            <a:r>
              <a:rPr lang="bg-BG" dirty="0"/>
              <a:t>Дидактически принципи: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D48F4-5A49-0275-709F-B35EF299B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523998"/>
            <a:ext cx="6591985" cy="4461933"/>
          </a:xfrm>
        </p:spPr>
        <p:txBody>
          <a:bodyPr>
            <a:normAutofit/>
          </a:bodyPr>
          <a:lstStyle/>
          <a:p>
            <a:r>
              <a:rPr lang="bg-BG" dirty="0"/>
              <a:t>1</a:t>
            </a:r>
            <a:r>
              <a:rPr lang="bg-BG" b="1" dirty="0"/>
              <a:t>. </a:t>
            </a:r>
            <a:r>
              <a:rPr lang="bg-BG" dirty="0"/>
              <a:t>Нагледност.</a:t>
            </a:r>
          </a:p>
          <a:p>
            <a:endParaRPr lang="bg-BG" dirty="0"/>
          </a:p>
          <a:p>
            <a:r>
              <a:rPr lang="bg-BG" dirty="0"/>
              <a:t>2. Научност.</a:t>
            </a:r>
          </a:p>
          <a:p>
            <a:endParaRPr lang="bg-BG" dirty="0"/>
          </a:p>
          <a:p>
            <a:r>
              <a:rPr lang="bg-BG" dirty="0"/>
              <a:t>3. Достъпност.</a:t>
            </a:r>
          </a:p>
          <a:p>
            <a:endParaRPr lang="bg-BG" dirty="0"/>
          </a:p>
          <a:p>
            <a:r>
              <a:rPr lang="bg-BG" dirty="0"/>
              <a:t>4. Съзнателност и активност.</a:t>
            </a:r>
          </a:p>
          <a:p>
            <a:endParaRPr lang="bg-BG" dirty="0"/>
          </a:p>
          <a:p>
            <a:r>
              <a:rPr lang="bg-BG" dirty="0"/>
              <a:t>5. Индивидуален подход.</a:t>
            </a:r>
          </a:p>
          <a:p>
            <a:endParaRPr lang="bg-BG" dirty="0"/>
          </a:p>
          <a:p>
            <a:r>
              <a:rPr lang="bg-BG" dirty="0"/>
              <a:t>6. Трайност на знанията.</a:t>
            </a:r>
            <a:endParaRPr lang="bg-BG" sz="1400" dirty="0"/>
          </a:p>
        </p:txBody>
      </p:sp>
    </p:spTree>
    <p:extLst>
      <p:ext uri="{BB962C8B-B14F-4D97-AF65-F5344CB8AC3E}">
        <p14:creationId xmlns:p14="http://schemas.microsoft.com/office/powerpoint/2010/main" val="1463726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F6DD2-9369-38D0-5926-3AF6C5D3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1B93D-E062-6394-2468-A9F2D1FF3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99178"/>
            <a:ext cx="6589199" cy="1280890"/>
          </a:xfrm>
        </p:spPr>
        <p:txBody>
          <a:bodyPr/>
          <a:lstStyle/>
          <a:p>
            <a:r>
              <a:rPr lang="bg-BG" dirty="0"/>
              <a:t>Дидактически методи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5744D-585F-6C4F-E84C-EAE2380B3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523998"/>
            <a:ext cx="6591985" cy="4461933"/>
          </a:xfrm>
        </p:spPr>
        <p:txBody>
          <a:bodyPr>
            <a:normAutofit/>
          </a:bodyPr>
          <a:lstStyle/>
          <a:p>
            <a:endParaRPr lang="bg-BG" b="1" dirty="0"/>
          </a:p>
          <a:p>
            <a:endParaRPr lang="bg-BG" b="1" dirty="0"/>
          </a:p>
          <a:p>
            <a:pPr>
              <a:lnSpc>
                <a:spcPct val="150000"/>
              </a:lnSpc>
            </a:pPr>
            <a:r>
              <a:rPr lang="bg-BG" dirty="0"/>
              <a:t>1</a:t>
            </a:r>
            <a:r>
              <a:rPr lang="bg-BG" b="1" dirty="0"/>
              <a:t>. </a:t>
            </a:r>
            <a:r>
              <a:rPr lang="bg-BG" dirty="0"/>
              <a:t>Лекция</a:t>
            </a:r>
          </a:p>
          <a:p>
            <a:pPr>
              <a:lnSpc>
                <a:spcPct val="150000"/>
              </a:lnSpc>
            </a:pPr>
            <a:r>
              <a:rPr lang="bg-BG" dirty="0"/>
              <a:t>2. Демонстрация</a:t>
            </a:r>
          </a:p>
          <a:p>
            <a:pPr>
              <a:lnSpc>
                <a:spcPct val="150000"/>
              </a:lnSpc>
            </a:pPr>
            <a:r>
              <a:rPr lang="bg-BG" dirty="0"/>
              <a:t>3. Беседа</a:t>
            </a:r>
          </a:p>
          <a:p>
            <a:pPr>
              <a:lnSpc>
                <a:spcPct val="150000"/>
              </a:lnSpc>
            </a:pPr>
            <a:r>
              <a:rPr lang="bg-BG" dirty="0"/>
              <a:t>4. Илюстрация</a:t>
            </a:r>
          </a:p>
          <a:p>
            <a:pPr>
              <a:lnSpc>
                <a:spcPct val="150000"/>
              </a:lnSpc>
            </a:pPr>
            <a:r>
              <a:rPr lang="bg-BG" dirty="0"/>
              <a:t>5. Проблемно-творчески</a:t>
            </a:r>
          </a:p>
          <a:p>
            <a:pPr>
              <a:lnSpc>
                <a:spcPct val="150000"/>
              </a:lnSpc>
            </a:pPr>
            <a:r>
              <a:rPr lang="bg-BG" dirty="0"/>
              <a:t>6.  Упражнение</a:t>
            </a:r>
          </a:p>
          <a:p>
            <a:endParaRPr lang="bg-B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0A8158-9A49-B4E5-8901-A9B26B153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930" y="1473203"/>
            <a:ext cx="3962400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08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E873C-DDFE-2731-27AE-0DCEEFDDE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6A07B-8ABC-7152-626A-5385D591B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99178"/>
            <a:ext cx="6589199" cy="1280890"/>
          </a:xfrm>
        </p:spPr>
        <p:txBody>
          <a:bodyPr/>
          <a:lstStyle/>
          <a:p>
            <a:r>
              <a:rPr lang="bg-BG" dirty="0"/>
              <a:t>Ход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урока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3E8D4D-D0C5-D663-BB43-2698CF30A9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758065"/>
              </p:ext>
            </p:extLst>
          </p:nvPr>
        </p:nvGraphicFramePr>
        <p:xfrm>
          <a:off x="880533" y="872063"/>
          <a:ext cx="8144934" cy="5931380"/>
        </p:xfrm>
        <a:graphic>
          <a:graphicData uri="http://schemas.openxmlformats.org/drawingml/2006/table">
            <a:tbl>
              <a:tblPr firstRow="1" firstCol="1" bandRow="1">
                <a:tableStyleId>{616DA210-FB5B-4158-B5E0-FEB733F419BA}</a:tableStyleId>
              </a:tblPr>
              <a:tblGrid>
                <a:gridCol w="462505">
                  <a:extLst>
                    <a:ext uri="{9D8B030D-6E8A-4147-A177-3AD203B41FA5}">
                      <a16:colId xmlns:a16="http://schemas.microsoft.com/office/drawing/2014/main" val="548666146"/>
                    </a:ext>
                  </a:extLst>
                </a:gridCol>
                <a:gridCol w="2077495">
                  <a:extLst>
                    <a:ext uri="{9D8B030D-6E8A-4147-A177-3AD203B41FA5}">
                      <a16:colId xmlns:a16="http://schemas.microsoft.com/office/drawing/2014/main" val="4107198223"/>
                    </a:ext>
                  </a:extLst>
                </a:gridCol>
                <a:gridCol w="1184372">
                  <a:extLst>
                    <a:ext uri="{9D8B030D-6E8A-4147-A177-3AD203B41FA5}">
                      <a16:colId xmlns:a16="http://schemas.microsoft.com/office/drawing/2014/main" val="967843212"/>
                    </a:ext>
                  </a:extLst>
                </a:gridCol>
                <a:gridCol w="4420562">
                  <a:extLst>
                    <a:ext uri="{9D8B030D-6E8A-4147-A177-3AD203B41FA5}">
                      <a16:colId xmlns:a16="http://schemas.microsoft.com/office/drawing/2014/main" val="1803269199"/>
                    </a:ext>
                  </a:extLst>
                </a:gridCol>
              </a:tblGrid>
              <a:tr h="5139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Етап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Съдържание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Методи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00" dirty="0" err="1">
                          <a:effectLst/>
                        </a:rPr>
                        <a:t>Въпроси</a:t>
                      </a:r>
                      <a:r>
                        <a:rPr lang="en-US" sz="1200" b="1" kern="100" dirty="0">
                          <a:effectLst/>
                        </a:rPr>
                        <a:t> </a:t>
                      </a:r>
                      <a:r>
                        <a:rPr lang="en-US" sz="1200" b="1" kern="100" dirty="0" err="1">
                          <a:effectLst/>
                        </a:rPr>
                        <a:t>към</a:t>
                      </a:r>
                      <a:r>
                        <a:rPr lang="en-US" sz="1200" b="1" kern="100" dirty="0">
                          <a:effectLst/>
                        </a:rPr>
                        <a:t> </a:t>
                      </a:r>
                      <a:r>
                        <a:rPr lang="bg-BG" sz="1200" b="1" kern="100" dirty="0">
                          <a:effectLst/>
                        </a:rPr>
                        <a:t>кандидатите</a:t>
                      </a:r>
                      <a:endParaRPr lang="en-US" sz="12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81824729"/>
                  </a:ext>
                </a:extLst>
              </a:tr>
              <a:tr h="8183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Въведение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Беседа</a:t>
                      </a:r>
                      <a:r>
                        <a:rPr lang="bg-BG" sz="1200" kern="100" dirty="0">
                          <a:effectLst/>
                        </a:rPr>
                        <a:t> + Проблемно-творчески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Избройте видовете пътиша, които </a:t>
                      </a: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познавате?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 какво се различават и по какво си приличат?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Защо има различни видове пътиша?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133208135"/>
                  </a:ext>
                </a:extLst>
              </a:tr>
              <a:tr h="6254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Видове пътища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Лекция + Илюстрация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effectLst/>
                        </a:rPr>
                        <a:t>Теоретична част с обяснения и при необходимост корекции на отговорите от етап </a:t>
                      </a:r>
                      <a:r>
                        <a:rPr lang="en-US" sz="1200" kern="100" dirty="0">
                          <a:effectLst/>
                        </a:rPr>
                        <a:t>I</a:t>
                      </a:r>
                      <a:r>
                        <a:rPr lang="bg-BG" sz="1200" kern="100" dirty="0">
                          <a:effectLst/>
                        </a:rPr>
                        <a:t>. Визуализиране на отделните видове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80451775"/>
                  </a:ext>
                </a:extLst>
              </a:tr>
              <a:tr h="5140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III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Елементи на улицата</a:t>
                      </a:r>
                      <a:endParaRPr lang="en-US" sz="12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Илюстрация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Какво</a:t>
                      </a:r>
                      <a:r>
                        <a:rPr lang="en-US" sz="1200" kern="100" dirty="0">
                          <a:effectLst/>
                        </a:rPr>
                        <a:t> е </a:t>
                      </a:r>
                      <a:r>
                        <a:rPr lang="en-US" sz="1200" kern="100" dirty="0" err="1">
                          <a:effectLst/>
                        </a:rPr>
                        <a:t>тротоар</a:t>
                      </a:r>
                      <a:r>
                        <a:rPr lang="en-US" sz="1200" kern="100" dirty="0">
                          <a:effectLst/>
                        </a:rPr>
                        <a:t>?</a:t>
                      </a:r>
                      <a:r>
                        <a:rPr lang="bg-BG" sz="1200" kern="100" dirty="0">
                          <a:effectLst/>
                        </a:rPr>
                        <a:t> Каква е ролята му?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18005366"/>
                  </a:ext>
                </a:extLst>
              </a:tr>
              <a:tr h="8265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IV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Основни рискове при различните видове пътиша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Беседа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Неочаквани действия на други участници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/>
                        <a:t>Неочаквани неравности или други препятствия на пътя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78683754"/>
                  </a:ext>
                </a:extLst>
              </a:tr>
              <a:tr h="8265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V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Безопасност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Демонстрация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Къде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трябва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да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се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движи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пешеходецът</a:t>
                      </a:r>
                      <a:r>
                        <a:rPr lang="bg-BG" sz="1200" kern="100" dirty="0">
                          <a:effectLst/>
                        </a:rPr>
                        <a:t> в </a:t>
                      </a: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града</a:t>
                      </a: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?</a:t>
                      </a:r>
                      <a:endParaRPr lang="bg-BG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 извън града? Защо има разлика?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97791966"/>
                  </a:ext>
                </a:extLst>
              </a:tr>
              <a:tr h="99494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VI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Приложение</a:t>
                      </a: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Пролремно-творчески + упражнение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 err="1">
                          <a:effectLst/>
                        </a:rPr>
                        <a:t>Какво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ще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направите</a:t>
                      </a:r>
                      <a:r>
                        <a:rPr lang="en-US" sz="1200" kern="100" dirty="0">
                          <a:effectLst/>
                        </a:rPr>
                        <a:t> в </a:t>
                      </a:r>
                      <a:r>
                        <a:rPr lang="en-US" sz="1200" kern="100" dirty="0" err="1">
                          <a:effectLst/>
                        </a:rPr>
                        <a:t>конкретна</a:t>
                      </a:r>
                      <a:r>
                        <a:rPr lang="en-US" sz="1200" kern="100" dirty="0">
                          <a:effectLst/>
                        </a:rPr>
                        <a:t> </a:t>
                      </a:r>
                      <a:r>
                        <a:rPr lang="en-US" sz="1200" kern="100" dirty="0" err="1">
                          <a:effectLst/>
                        </a:rPr>
                        <a:t>ситуация</a:t>
                      </a:r>
                      <a:r>
                        <a:rPr lang="bg-BG" sz="1200" kern="100" dirty="0">
                          <a:effectLst/>
                        </a:rPr>
                        <a:t> – тясна улица, нерегурирано кръстовише, пешеходна пътека</a:t>
                      </a:r>
                      <a:r>
                        <a:rPr lang="en-US" sz="1200" kern="100" dirty="0">
                          <a:effectLst/>
                        </a:rPr>
                        <a:t>?</a:t>
                      </a:r>
                      <a:endParaRPr lang="bg-BG" sz="12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Как променяте поведението си при лоша видимост?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22690820"/>
                  </a:ext>
                </a:extLst>
              </a:tr>
              <a:tr h="76699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VII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Обобщение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bg-BG" sz="120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Беседа</a:t>
                      </a:r>
                      <a:endParaRPr lang="en-US" sz="120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bg-BG" sz="1200" kern="100" dirty="0">
                          <a:effectLst/>
                        </a:rPr>
                        <a:t>Кои неща останаха след обучението? Как ще ги приложите на практика?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19156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254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778931"/>
            <a:ext cx="6591985" cy="3777622"/>
          </a:xfrm>
        </p:spPr>
        <p:txBody>
          <a:bodyPr>
            <a:normAutofit/>
          </a:bodyPr>
          <a:lstStyle/>
          <a:p>
            <a:pPr marL="0" indent="0">
              <a:buNone/>
              <a:defRPr sz="2400"/>
            </a:pPr>
            <a:r>
              <a:rPr lang="bg-BG" sz="8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 ЛЕК ПЪТ!</a:t>
            </a:r>
            <a:endParaRPr sz="8800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BE7D-4AD6-2734-B28B-E48A5C440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49" y="2379133"/>
            <a:ext cx="5885344" cy="41232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230</TotalTime>
  <Words>562</Words>
  <Application>Microsoft Office PowerPoint</Application>
  <PresentationFormat>On-screen Show (4:3)</PresentationFormat>
  <Paragraphs>109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Century Gothic</vt:lpstr>
      <vt:lpstr>Wingdings 3</vt:lpstr>
      <vt:lpstr>Wisp</vt:lpstr>
      <vt:lpstr>Пътища и улиците, по които се движим</vt:lpstr>
      <vt:lpstr>PowerPoint Presentation</vt:lpstr>
      <vt:lpstr>Организация и провеждане на обучението</vt:lpstr>
      <vt:lpstr>Основни цели</vt:lpstr>
      <vt:lpstr>Основни цели</vt:lpstr>
      <vt:lpstr>Допълнителни цели</vt:lpstr>
      <vt:lpstr>Дидактически принципи:</vt:lpstr>
      <vt:lpstr>Дидактически методи </vt:lpstr>
      <vt:lpstr>Ход на урока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Konstantin Todorov</dc:creator>
  <cp:keywords/>
  <dc:description>generated using python-pptx</dc:description>
  <cp:lastModifiedBy>Konstantin Todorov</cp:lastModifiedBy>
  <cp:revision>24</cp:revision>
  <dcterms:created xsi:type="dcterms:W3CDTF">2026-05-30T10:25:48Z</dcterms:created>
  <dcterms:modified xsi:type="dcterms:W3CDTF">2026-05-31T14:46:24Z</dcterms:modified>
  <cp:category/>
</cp:coreProperties>
</file>