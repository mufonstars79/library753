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02C6878-99E1-4A2F-9833-3FC48FC5481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E904586-4079-47A9-85D1-7C44ECCA492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7624" y="785795"/>
            <a:ext cx="7270576" cy="192882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GDE матрицата при </a:t>
            </a:r>
            <a:r>
              <a:rPr lang="bg-BG" b="1" dirty="0" smtClean="0"/>
              <a:t>обучението</a:t>
            </a:r>
            <a:r>
              <a:rPr lang="ru-RU" b="1" dirty="0" smtClean="0"/>
              <a:t> </a:t>
            </a:r>
            <a:r>
              <a:rPr lang="ru-RU" b="1" dirty="0" smtClean="0"/>
              <a:t>и подготовката на водачи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3571876"/>
            <a:ext cx="7742664" cy="2781304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/>
            </a:r>
            <a:br>
              <a:rPr lang="ru-RU" dirty="0" smtClean="0"/>
            </a:br>
            <a:r>
              <a:rPr lang="ru-RU" sz="2400" dirty="0" smtClean="0"/>
              <a:t>Намиране на подходящото обучение</a:t>
            </a:r>
          </a:p>
          <a:p>
            <a:r>
              <a:rPr lang="ru-RU" sz="2400" dirty="0" smtClean="0"/>
              <a:t>Дисциплина</a:t>
            </a:r>
            <a:r>
              <a:rPr lang="ru-RU" sz="2400" dirty="0" smtClean="0"/>
              <a:t>: Методика и </a:t>
            </a:r>
            <a:r>
              <a:rPr lang="bg-BG" sz="2400" dirty="0" err="1" smtClean="0"/>
              <a:t>Авито</a:t>
            </a:r>
            <a:endParaRPr lang="bg-BG" sz="2400" dirty="0" smtClean="0"/>
          </a:p>
          <a:p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bg-BG" sz="2400" dirty="0" smtClean="0"/>
              <a:t>Изготвил</a:t>
            </a:r>
            <a:r>
              <a:rPr lang="ru-RU" sz="2400" dirty="0" smtClean="0"/>
              <a:t>: </a:t>
            </a:r>
            <a:r>
              <a:rPr lang="ru-RU" sz="2400" dirty="0"/>
              <a:t>Бисер </a:t>
            </a:r>
            <a:r>
              <a:rPr lang="bg-BG" sz="2400" dirty="0" smtClean="0"/>
              <a:t>Бъчваров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000" dirty="0">
                <a:latin typeface="Arial" pitchFamily="34" charset="0"/>
                <a:cs typeface="Arial" pitchFamily="34" charset="0"/>
              </a:rPr>
              <a:t>Курс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753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Ф.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No 25002072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Безопасността на младите водачи е глобален приоритет, като с най-висок риск от ПТП са първите години след придобиване на книжка, а основни причини са: </a:t>
            </a:r>
          </a:p>
          <a:p>
            <a:r>
              <a:rPr lang="bg-BG" dirty="0" smtClean="0"/>
              <a:t>липса на опит;</a:t>
            </a:r>
          </a:p>
          <a:p>
            <a:r>
              <a:rPr lang="bg-BG" dirty="0" smtClean="0"/>
              <a:t>слаба оценка на риска; </a:t>
            </a:r>
          </a:p>
          <a:p>
            <a:r>
              <a:rPr lang="bg-BG" dirty="0" smtClean="0"/>
              <a:t>влияние на социалната среда; </a:t>
            </a:r>
          </a:p>
          <a:p>
            <a:r>
              <a:rPr lang="bg-BG" dirty="0" smtClean="0"/>
              <a:t>необходимост от нови модели на обучение;</a:t>
            </a:r>
            <a:endParaRPr lang="bg-B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Какво представлява </a:t>
            </a:r>
            <a:r>
              <a:rPr lang="en-US" dirty="0" smtClean="0"/>
              <a:t>GDE </a:t>
            </a:r>
            <a:r>
              <a:rPr lang="bg-BG" dirty="0" smtClean="0"/>
              <a:t>матрицата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pPr marL="82296" indent="0">
              <a:buNone/>
            </a:pPr>
            <a:r>
              <a:rPr lang="ru-RU" b="1" dirty="0" smtClean="0"/>
              <a:t>GDE = Goals for Driver Education </a:t>
            </a:r>
            <a:r>
              <a:rPr lang="ru-RU" dirty="0" smtClean="0"/>
              <a:t>Съвременен модел за обучение на </a:t>
            </a:r>
            <a:r>
              <a:rPr lang="bg-BG" dirty="0" smtClean="0"/>
              <a:t>водачи, който разглежда управлението като </a:t>
            </a:r>
            <a:r>
              <a:rPr lang="bg-BG" b="1" dirty="0" smtClean="0"/>
              <a:t>комплексен процес</a:t>
            </a:r>
            <a:r>
              <a:rPr lang="bg-BG" dirty="0" smtClean="0"/>
              <a:t> </a:t>
            </a:r>
            <a:r>
              <a:rPr lang="ru-RU" dirty="0" smtClean="0"/>
              <a:t>и </a:t>
            </a:r>
            <a:r>
              <a:rPr lang="bg-BG" dirty="0" smtClean="0"/>
              <a:t>включва</a:t>
            </a:r>
            <a:r>
              <a:rPr lang="ru-RU" dirty="0" smtClean="0"/>
              <a:t>: </a:t>
            </a:r>
          </a:p>
          <a:p>
            <a:r>
              <a:rPr lang="ru-RU" dirty="0" smtClean="0"/>
              <a:t>технически </a:t>
            </a:r>
            <a:r>
              <a:rPr lang="ru-RU" dirty="0" smtClean="0"/>
              <a:t>умения </a:t>
            </a:r>
          </a:p>
          <a:p>
            <a:r>
              <a:rPr lang="ru-RU" dirty="0" smtClean="0"/>
              <a:t>мисловни процеси </a:t>
            </a:r>
          </a:p>
          <a:p>
            <a:r>
              <a:rPr lang="ru-RU" dirty="0" smtClean="0"/>
              <a:t>поведение и мотивация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Основна идея на модела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ru-RU" dirty="0" smtClean="0"/>
              <a:t>Обучението </a:t>
            </a:r>
            <a:r>
              <a:rPr lang="ru-RU" dirty="0" smtClean="0"/>
              <a:t>не е само „как да </a:t>
            </a:r>
            <a:r>
              <a:rPr lang="ru-RU" dirty="0" smtClean="0"/>
              <a:t>управлявам МПС’’, а </a:t>
            </a:r>
            <a:r>
              <a:rPr lang="bg-BG" dirty="0" smtClean="0"/>
              <a:t>включва</a:t>
            </a:r>
            <a:r>
              <a:rPr lang="ru-RU" dirty="0" smtClean="0"/>
              <a:t>: </a:t>
            </a:r>
          </a:p>
          <a:p>
            <a:r>
              <a:rPr lang="ru-RU" dirty="0" smtClean="0"/>
              <a:t>как да </a:t>
            </a:r>
            <a:r>
              <a:rPr lang="bg-BG" dirty="0" smtClean="0"/>
              <a:t>мисля? </a:t>
            </a:r>
          </a:p>
          <a:p>
            <a:r>
              <a:rPr lang="bg-BG" dirty="0" smtClean="0"/>
              <a:t>как вземам </a:t>
            </a:r>
            <a:r>
              <a:rPr lang="ru-RU" dirty="0" smtClean="0"/>
              <a:t>решения?</a:t>
            </a:r>
          </a:p>
          <a:p>
            <a:r>
              <a:rPr lang="ru-RU" dirty="0" smtClean="0"/>
              <a:t>как </a:t>
            </a:r>
            <a:r>
              <a:rPr lang="ru-RU" dirty="0" smtClean="0"/>
              <a:t>реагирам на </a:t>
            </a:r>
            <a:r>
              <a:rPr lang="ru-RU" dirty="0" smtClean="0"/>
              <a:t>риск? </a:t>
            </a:r>
          </a:p>
          <a:p>
            <a:endParaRPr lang="ru-RU" dirty="0" smtClean="0"/>
          </a:p>
          <a:p>
            <a:pPr marL="82296" indent="0">
              <a:buNone/>
            </a:pPr>
            <a:r>
              <a:rPr lang="ru-RU" sz="3600" dirty="0" smtClean="0"/>
              <a:t>Акцент е </a:t>
            </a:r>
            <a:r>
              <a:rPr lang="ru-RU" sz="3600" b="1" dirty="0" smtClean="0"/>
              <a:t>безопасното поведение</a:t>
            </a:r>
            <a:r>
              <a:rPr lang="ru-RU" sz="3600" dirty="0" smtClean="0"/>
              <a:t>, а не само </a:t>
            </a:r>
            <a:r>
              <a:rPr lang="bg-BG" sz="3600" dirty="0" smtClean="0"/>
              <a:t>уменията</a:t>
            </a:r>
            <a:r>
              <a:rPr lang="ru-RU" sz="3600" dirty="0" smtClean="0"/>
              <a:t>!!!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Структура на </a:t>
            </a:r>
            <a:r>
              <a:rPr lang="en-US" dirty="0" smtClean="0"/>
              <a:t>GDE </a:t>
            </a:r>
            <a:r>
              <a:rPr lang="bg-BG" dirty="0" smtClean="0"/>
              <a:t>матрицата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 smtClean="0"/>
          </a:p>
          <a:p>
            <a:pPr>
              <a:buNone/>
            </a:pPr>
            <a:r>
              <a:rPr lang="ru-RU" dirty="0" smtClean="0"/>
              <a:t>Матрицата включва </a:t>
            </a:r>
            <a:r>
              <a:rPr lang="ru-RU" b="1" dirty="0" smtClean="0"/>
              <a:t>4 нива</a:t>
            </a:r>
            <a:r>
              <a:rPr lang="ru-RU" dirty="0" smtClean="0"/>
              <a:t>:</a:t>
            </a:r>
          </a:p>
          <a:p>
            <a:r>
              <a:rPr lang="bg-BG" dirty="0" smtClean="0"/>
              <a:t>Управление на автомобила; </a:t>
            </a:r>
          </a:p>
          <a:p>
            <a:r>
              <a:rPr lang="bg-BG" dirty="0" smtClean="0"/>
              <a:t>Взаимодействие с трафика;</a:t>
            </a:r>
          </a:p>
          <a:p>
            <a:r>
              <a:rPr lang="bg-BG" dirty="0" smtClean="0"/>
              <a:t>Планиране на пътуването; </a:t>
            </a:r>
          </a:p>
          <a:p>
            <a:r>
              <a:rPr lang="bg-BG" dirty="0" smtClean="0"/>
              <a:t>Личност и поведение; </a:t>
            </a:r>
          </a:p>
          <a:p>
            <a:endParaRPr lang="bg-BG" dirty="0" smtClean="0"/>
          </a:p>
          <a:p>
            <a:pPr marL="82296" indent="0">
              <a:buNone/>
            </a:pPr>
            <a:r>
              <a:rPr lang="bg-BG" dirty="0" smtClean="0"/>
              <a:t>Всички нива са взаимосвързани!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Ниво 1: Управление на МПС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bg-BG" dirty="0" smtClean="0"/>
          </a:p>
          <a:p>
            <a:r>
              <a:rPr lang="ru-RU" dirty="0" smtClean="0"/>
              <a:t>Основни технически умения: </a:t>
            </a:r>
          </a:p>
          <a:p>
            <a:pPr lvl="1"/>
            <a:r>
              <a:rPr lang="ru-RU" dirty="0" smtClean="0"/>
              <a:t>волан </a:t>
            </a:r>
          </a:p>
          <a:p>
            <a:pPr lvl="1"/>
            <a:r>
              <a:rPr lang="ru-RU" dirty="0" smtClean="0"/>
              <a:t>педали </a:t>
            </a:r>
          </a:p>
          <a:p>
            <a:pPr lvl="1"/>
            <a:r>
              <a:rPr lang="ru-RU" dirty="0" smtClean="0"/>
              <a:t>скорости </a:t>
            </a:r>
          </a:p>
          <a:p>
            <a:r>
              <a:rPr lang="ru-RU" dirty="0" smtClean="0"/>
              <a:t>Контрол на автомобила </a:t>
            </a:r>
          </a:p>
          <a:p>
            <a:r>
              <a:rPr lang="ru-RU" dirty="0" smtClean="0"/>
              <a:t>Базово ниво на обучение </a:t>
            </a:r>
          </a:p>
          <a:p>
            <a:pPr marL="82296" indent="0">
              <a:buNone/>
            </a:pPr>
            <a:r>
              <a:rPr lang="ru-RU" dirty="0" smtClean="0"/>
              <a:t>➡ Без него </a:t>
            </a:r>
            <a:r>
              <a:rPr lang="ru-RU" b="1" dirty="0" smtClean="0"/>
              <a:t>няма</a:t>
            </a:r>
            <a:r>
              <a:rPr lang="ru-RU" dirty="0" smtClean="0"/>
              <a:t> безопасно </a:t>
            </a:r>
            <a:r>
              <a:rPr lang="ru-RU" dirty="0" smtClean="0"/>
              <a:t>управление!</a:t>
            </a:r>
            <a:endParaRPr lang="ru-RU" dirty="0" smtClean="0"/>
          </a:p>
          <a:p>
            <a:endParaRPr lang="bg-B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Ниво 2: Поведение в трафика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 smtClean="0"/>
          </a:p>
          <a:p>
            <a:r>
              <a:rPr lang="ru-RU" dirty="0" smtClean="0"/>
              <a:t>Спазване на правилата </a:t>
            </a:r>
          </a:p>
          <a:p>
            <a:r>
              <a:rPr lang="ru-RU" dirty="0" smtClean="0"/>
              <a:t>Разпознаване на опасности </a:t>
            </a:r>
          </a:p>
          <a:p>
            <a:r>
              <a:rPr lang="ru-RU" dirty="0" smtClean="0"/>
              <a:t>Реакция в реални ситуации </a:t>
            </a:r>
          </a:p>
          <a:p>
            <a:r>
              <a:rPr lang="ru-RU" dirty="0" smtClean="0"/>
              <a:t>Взаимодействие с други участници </a:t>
            </a:r>
          </a:p>
          <a:p>
            <a:r>
              <a:rPr lang="ru-RU" dirty="0" smtClean="0"/>
              <a:t>➡ Най-силно застъпено в </a:t>
            </a:r>
            <a:r>
              <a:rPr lang="bg-BG" dirty="0" smtClean="0"/>
              <a:t>обучението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Ниво 3: Планиране на пътуването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 smtClean="0"/>
          </a:p>
          <a:p>
            <a:r>
              <a:rPr lang="ru-RU" dirty="0" smtClean="0"/>
              <a:t>Избор на маршрут </a:t>
            </a:r>
          </a:p>
          <a:p>
            <a:r>
              <a:rPr lang="ru-RU" dirty="0" smtClean="0"/>
              <a:t>Преценка на условията </a:t>
            </a:r>
          </a:p>
          <a:p>
            <a:r>
              <a:rPr lang="ru-RU" dirty="0" smtClean="0"/>
              <a:t>Оценка на риска </a:t>
            </a:r>
          </a:p>
          <a:p>
            <a:r>
              <a:rPr lang="ru-RU" dirty="0" smtClean="0"/>
              <a:t>Предвиждане на проблеми </a:t>
            </a:r>
          </a:p>
          <a:p>
            <a:pPr marL="82296" indent="0">
              <a:buNone/>
            </a:pPr>
            <a:r>
              <a:rPr lang="ru-RU" dirty="0" smtClean="0"/>
              <a:t>➡ Често подценявано в </a:t>
            </a:r>
            <a:r>
              <a:rPr lang="bg-BG" dirty="0" smtClean="0"/>
              <a:t>обучението</a:t>
            </a:r>
            <a:r>
              <a:rPr lang="ru-RU" dirty="0" smtClean="0"/>
              <a:t>!</a:t>
            </a:r>
            <a:endParaRPr lang="ru-RU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Ниво 4: Личност и поведение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 smtClean="0"/>
          </a:p>
          <a:p>
            <a:r>
              <a:rPr lang="ru-RU" dirty="0" smtClean="0"/>
              <a:t>Нагласи към риска </a:t>
            </a:r>
          </a:p>
          <a:p>
            <a:r>
              <a:rPr lang="ru-RU" dirty="0" smtClean="0"/>
              <a:t>Самоконтрол </a:t>
            </a:r>
          </a:p>
          <a:p>
            <a:r>
              <a:rPr lang="ru-RU" dirty="0" smtClean="0"/>
              <a:t>Влияние на социалната среда </a:t>
            </a:r>
          </a:p>
          <a:p>
            <a:r>
              <a:rPr lang="ru-RU" dirty="0" smtClean="0"/>
              <a:t>Мотивация и ценности </a:t>
            </a:r>
            <a:endParaRPr lang="ru-RU" dirty="0" smtClean="0"/>
          </a:p>
          <a:p>
            <a:pPr marL="82296" indent="0">
              <a:buNone/>
            </a:pPr>
            <a:endParaRPr lang="ru-RU" dirty="0" smtClean="0"/>
          </a:p>
          <a:p>
            <a:pPr marL="82296" indent="0">
              <a:buNone/>
            </a:pPr>
            <a:r>
              <a:rPr lang="ru-RU" sz="2800" dirty="0" smtClean="0"/>
              <a:t>➡ Най-важно, но най-слабо развито </a:t>
            </a:r>
            <a:r>
              <a:rPr lang="bg-BG" sz="2800" dirty="0" smtClean="0"/>
              <a:t>ниво</a:t>
            </a:r>
            <a:r>
              <a:rPr lang="ru-RU" sz="2800" dirty="0" smtClean="0"/>
              <a:t>!</a:t>
            </a:r>
            <a:endParaRPr lang="ru-RU" sz="2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Проблеми в традиционното обучение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ru-RU" dirty="0" smtClean="0"/>
              <a:t>Фокус </a:t>
            </a:r>
            <a:r>
              <a:rPr lang="ru-RU" dirty="0" smtClean="0"/>
              <a:t>само върху първите 2 нива </a:t>
            </a:r>
            <a:r>
              <a:rPr lang="ru-RU" dirty="0" smtClean="0"/>
              <a:t>и </a:t>
            </a:r>
            <a:r>
              <a:rPr lang="bg-BG" dirty="0" smtClean="0"/>
              <a:t>липса на работа върху: </a:t>
            </a:r>
          </a:p>
          <a:p>
            <a:r>
              <a:rPr lang="bg-BG" b="1" dirty="0" smtClean="0"/>
              <a:t>Мислене</a:t>
            </a:r>
            <a:r>
              <a:rPr lang="bg-BG" b="1" dirty="0" smtClean="0"/>
              <a:t>;</a:t>
            </a:r>
            <a:endParaRPr lang="bg-BG" b="1" dirty="0" smtClean="0"/>
          </a:p>
          <a:p>
            <a:r>
              <a:rPr lang="bg-BG" b="1" dirty="0" smtClean="0"/>
              <a:t>Поведение; </a:t>
            </a:r>
          </a:p>
          <a:p>
            <a:r>
              <a:rPr lang="bg-BG" b="1" dirty="0" smtClean="0"/>
              <a:t>Самоконтрол.</a:t>
            </a:r>
          </a:p>
          <a:p>
            <a:pPr marL="82296" indent="0">
              <a:buNone/>
            </a:pPr>
            <a:endParaRPr lang="bg-BG" b="1" dirty="0" smtClean="0"/>
          </a:p>
          <a:p>
            <a:pPr marL="82296" indent="0">
              <a:buNone/>
            </a:pPr>
            <a:r>
              <a:rPr lang="bg-BG" dirty="0" smtClean="0"/>
              <a:t>Резултат: добри </a:t>
            </a:r>
            <a:r>
              <a:rPr lang="ru-RU" dirty="0" smtClean="0"/>
              <a:t>умения, но </a:t>
            </a:r>
            <a:r>
              <a:rPr lang="ru-RU" dirty="0" smtClean="0"/>
              <a:t>висока вероятност от грешки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„Липсващи“ компетенции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Самооценка </a:t>
            </a:r>
            <a:endParaRPr lang="ru-RU" dirty="0" smtClean="0"/>
          </a:p>
          <a:p>
            <a:r>
              <a:rPr lang="ru-RU" dirty="0" smtClean="0"/>
              <a:t>Контрол на емоции </a:t>
            </a:r>
          </a:p>
          <a:p>
            <a:r>
              <a:rPr lang="ru-RU" dirty="0" smtClean="0"/>
              <a:t>Осъзнаване на риска </a:t>
            </a:r>
          </a:p>
          <a:p>
            <a:r>
              <a:rPr lang="ru-RU" dirty="0" smtClean="0"/>
              <a:t>Влияние на приятели и среда </a:t>
            </a:r>
            <a:endParaRPr lang="ru-RU" dirty="0" smtClean="0"/>
          </a:p>
          <a:p>
            <a:pPr marL="82296" indent="0">
              <a:buNone/>
            </a:pPr>
            <a:endParaRPr lang="ru-RU" dirty="0" smtClean="0"/>
          </a:p>
          <a:p>
            <a:pPr marL="82296" indent="0">
              <a:buNone/>
            </a:pPr>
            <a:r>
              <a:rPr lang="ru-RU" dirty="0" smtClean="0"/>
              <a:t>Пример:</a:t>
            </a:r>
          </a:p>
          <a:p>
            <a:pPr marL="82296" indent="0">
              <a:buNone/>
            </a:pPr>
            <a:r>
              <a:rPr lang="ru-RU" dirty="0"/>
              <a:t>М</a:t>
            </a:r>
            <a:r>
              <a:rPr lang="ru-RU" dirty="0" smtClean="0"/>
              <a:t>лад </a:t>
            </a:r>
            <a:r>
              <a:rPr lang="ru-RU" dirty="0" smtClean="0"/>
              <a:t>водач кара рисково под натиск от </a:t>
            </a:r>
            <a:r>
              <a:rPr lang="ru-RU" dirty="0" smtClean="0"/>
              <a:t>приятели.</a:t>
            </a:r>
            <a:endParaRPr lang="ru-RU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Международни практики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 smtClean="0"/>
          </a:p>
          <a:p>
            <a:r>
              <a:rPr lang="ru-RU" dirty="0" smtClean="0"/>
              <a:t>Повече часове зад волана </a:t>
            </a:r>
            <a:endParaRPr lang="ru-RU" dirty="0" smtClean="0"/>
          </a:p>
          <a:p>
            <a:r>
              <a:rPr lang="bg-BG" dirty="0" smtClean="0"/>
              <a:t>Придружено управление</a:t>
            </a:r>
          </a:p>
          <a:p>
            <a:r>
              <a:rPr lang="bg-BG" dirty="0" smtClean="0"/>
              <a:t>Ограничения за нови водачи: (скорост</a:t>
            </a:r>
            <a:r>
              <a:rPr lang="bg-BG" dirty="0" smtClean="0"/>
              <a:t>, </a:t>
            </a:r>
            <a:r>
              <a:rPr lang="bg-BG" dirty="0" smtClean="0"/>
              <a:t>алкохол </a:t>
            </a:r>
            <a:r>
              <a:rPr lang="ru-RU" dirty="0" smtClean="0"/>
              <a:t>и др</a:t>
            </a:r>
            <a:r>
              <a:rPr lang="ru-RU" dirty="0" smtClean="0"/>
              <a:t>.)</a:t>
            </a:r>
            <a:endParaRPr lang="ru-RU" dirty="0" smtClean="0"/>
          </a:p>
          <a:p>
            <a:r>
              <a:rPr lang="ru-RU" dirty="0" smtClean="0"/>
              <a:t>Постепенно въвеждане в реалната среда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Подходящо обучение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bg-BG" dirty="0" smtClean="0"/>
          </a:p>
          <a:p>
            <a:pPr marL="82296" indent="0">
              <a:buNone/>
            </a:pPr>
            <a:r>
              <a:rPr lang="ru-RU" dirty="0" smtClean="0"/>
              <a:t>Комбинира: теория и практика </a:t>
            </a:r>
          </a:p>
          <a:p>
            <a:r>
              <a:rPr lang="ru-RU" dirty="0" smtClean="0"/>
              <a:t>анализ на поведение </a:t>
            </a:r>
          </a:p>
          <a:p>
            <a:pPr marL="82296" indent="0">
              <a:buNone/>
            </a:pPr>
            <a:r>
              <a:rPr lang="ru-RU" dirty="0" smtClean="0"/>
              <a:t>Индивидуален </a:t>
            </a:r>
            <a:r>
              <a:rPr lang="ru-RU" dirty="0" smtClean="0"/>
              <a:t>подход, с работа </a:t>
            </a:r>
            <a:r>
              <a:rPr lang="ru-RU" dirty="0" err="1" smtClean="0"/>
              <a:t>върху</a:t>
            </a:r>
            <a:r>
              <a:rPr lang="ru-RU" dirty="0" smtClean="0"/>
              <a:t>:</a:t>
            </a:r>
          </a:p>
          <a:p>
            <a:r>
              <a:rPr lang="bg-BG" dirty="0" smtClean="0"/>
              <a:t>Мислене; </a:t>
            </a:r>
          </a:p>
          <a:p>
            <a:r>
              <a:rPr lang="bg-BG" dirty="0" smtClean="0"/>
              <a:t>Реакции; </a:t>
            </a:r>
          </a:p>
          <a:p>
            <a:r>
              <a:rPr lang="bg-BG" dirty="0" smtClean="0"/>
              <a:t>Навици;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Интеграция на </a:t>
            </a:r>
            <a:r>
              <a:rPr lang="en-US" dirty="0" smtClean="0"/>
              <a:t>GDE </a:t>
            </a:r>
            <a:r>
              <a:rPr lang="bg-BG" dirty="0" smtClean="0"/>
              <a:t>матрицата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bg-BG" dirty="0" smtClean="0"/>
          </a:p>
          <a:p>
            <a:r>
              <a:rPr lang="ru-RU" dirty="0" smtClean="0"/>
              <a:t>Дискусии и анализ на ситуации </a:t>
            </a:r>
          </a:p>
          <a:p>
            <a:r>
              <a:rPr lang="ru-RU" dirty="0" smtClean="0"/>
              <a:t>Групова работа </a:t>
            </a:r>
          </a:p>
          <a:p>
            <a:r>
              <a:rPr lang="ru-RU" dirty="0" smtClean="0"/>
              <a:t>Реални казуси </a:t>
            </a:r>
          </a:p>
          <a:p>
            <a:r>
              <a:rPr lang="ru-RU" dirty="0" smtClean="0"/>
              <a:t>Активно участие на обучаемите </a:t>
            </a:r>
          </a:p>
          <a:p>
            <a:pPr marL="82296" indent="0">
              <a:buNone/>
            </a:pPr>
            <a:r>
              <a:rPr lang="ru-RU" dirty="0" smtClean="0"/>
              <a:t>➡ Развива:</a:t>
            </a:r>
          </a:p>
          <a:p>
            <a:r>
              <a:rPr lang="ru-RU" dirty="0" smtClean="0"/>
              <a:t>критично мислене </a:t>
            </a:r>
          </a:p>
          <a:p>
            <a:r>
              <a:rPr lang="ru-RU" dirty="0" smtClean="0"/>
              <a:t>вземане на решения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Заключение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 smtClean="0"/>
          </a:p>
          <a:p>
            <a:r>
              <a:rPr lang="bg-BG" dirty="0" smtClean="0"/>
              <a:t>GDE матрицата е съвременен модел, при който </a:t>
            </a:r>
            <a:r>
              <a:rPr lang="bg-BG" b="1" dirty="0" smtClean="0"/>
              <a:t>обучението</a:t>
            </a:r>
            <a:r>
              <a:rPr lang="bg-BG" dirty="0" smtClean="0"/>
              <a:t> трябва да бъде комплексно - </a:t>
            </a:r>
            <a:r>
              <a:rPr lang="bg-BG" b="1" dirty="0" smtClean="0"/>
              <a:t>НЕ само умения, а и поведение!</a:t>
            </a:r>
          </a:p>
          <a:p>
            <a:pPr marL="82296" indent="0">
              <a:buNone/>
            </a:pPr>
            <a:r>
              <a:rPr lang="bg-BG" dirty="0" smtClean="0"/>
              <a:t>Ключ към: </a:t>
            </a:r>
          </a:p>
          <a:p>
            <a:r>
              <a:rPr lang="bg-BG" dirty="0" smtClean="0"/>
              <a:t>по-безопасни водачи </a:t>
            </a:r>
          </a:p>
          <a:p>
            <a:r>
              <a:rPr lang="bg-BG" dirty="0" smtClean="0"/>
              <a:t>по-малко ПТП</a:t>
            </a:r>
            <a:endParaRPr lang="bg-BG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2348880"/>
            <a:ext cx="7498080" cy="1143000"/>
          </a:xfrm>
        </p:spPr>
        <p:txBody>
          <a:bodyPr/>
          <a:lstStyle/>
          <a:p>
            <a:r>
              <a:rPr lang="bg-BG" dirty="0" smtClean="0"/>
              <a:t>Благодаря Ви за вниманието!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145590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39</TotalTime>
  <Words>428</Words>
  <Application>Microsoft Office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Solstice</vt:lpstr>
      <vt:lpstr>GDE матрицата при обучението и подготовката на водачи</vt:lpstr>
      <vt:lpstr>Въведение</vt:lpstr>
      <vt:lpstr>Какво представлява GDE матрицата</vt:lpstr>
      <vt:lpstr>Основна идея на модела</vt:lpstr>
      <vt:lpstr>Структура на GDE матрицата</vt:lpstr>
      <vt:lpstr>Ниво 1: Управление на МПС</vt:lpstr>
      <vt:lpstr>Ниво 2: Поведение в трафика</vt:lpstr>
      <vt:lpstr>Ниво 3: Планиране на пътуването</vt:lpstr>
      <vt:lpstr>Ниво 4: Личност и поведение</vt:lpstr>
      <vt:lpstr>Проблеми в традиционното обучение</vt:lpstr>
      <vt:lpstr>„Липсващи“ компетенции</vt:lpstr>
      <vt:lpstr>Международни практики</vt:lpstr>
      <vt:lpstr>Подходящо обучение</vt:lpstr>
      <vt:lpstr>Интеграция на GDE матрицата</vt:lpstr>
      <vt:lpstr>Заключение</vt:lpstr>
      <vt:lpstr>Благодаря Ви за вниманието!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GDE матрицата при обучението и подготовката на водачи</dc:title>
  <dc:creator>Home</dc:creator>
  <cp:lastModifiedBy>User</cp:lastModifiedBy>
  <cp:revision>22</cp:revision>
  <dcterms:created xsi:type="dcterms:W3CDTF">2026-04-29T14:16:56Z</dcterms:created>
  <dcterms:modified xsi:type="dcterms:W3CDTF">2026-05-05T06:56:50Z</dcterms:modified>
</cp:coreProperties>
</file>