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436DC-98DA-4321-A49C-57791429D996}" type="datetimeFigureOut">
              <a:rPr lang="bg-BG" smtClean="0"/>
              <a:t>27.5.2026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1F99A-4D01-49F9-8EF1-0A6A3BB5EB8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09983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41F99A-4D01-49F9-8EF1-0A6A3BB5EB86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334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B2E988A3-8364-45DF-943F-48C41740AD0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E1A3E670-B66A-4ACF-8192-600667A6D76E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836712"/>
            <a:ext cx="8062912" cy="317503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bg-BG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Базови</a:t>
            </a:r>
            <a:r>
              <a:rPr lang="ru-RU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условия за 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ru-RU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провеждане на подобрителни курсове за </a:t>
            </a:r>
            <a:r>
              <a:rPr lang="ru-RU" b="1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водачи</a:t>
            </a:r>
            <a:r>
              <a:rPr lang="ru-RU" dirty="0" smtClean="0"/>
              <a:t/>
            </a:r>
            <a:br>
              <a:rPr lang="ru-RU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3861048"/>
            <a:ext cx="8062912" cy="1752600"/>
          </a:xfrm>
        </p:spPr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ru-RU" dirty="0" smtClean="0"/>
              <a:t>Проект: Групово обучение на инструктори (DVR</a:t>
            </a:r>
            <a:r>
              <a:rPr lang="en-US" dirty="0" smtClean="0"/>
              <a:t>)</a:t>
            </a:r>
          </a:p>
          <a:p>
            <a:r>
              <a:rPr lang="ru-RU" dirty="0" smtClean="0"/>
              <a:t>Изготвил: Бисер Бъчваров</a:t>
            </a:r>
            <a:br>
              <a:rPr lang="ru-RU" dirty="0" smtClean="0"/>
            </a:br>
            <a:r>
              <a:rPr lang="ru-RU" dirty="0" smtClean="0"/>
              <a:t>Курс 75</a:t>
            </a:r>
            <a:r>
              <a:rPr lang="en-US" dirty="0" smtClean="0"/>
              <a:t>3</a:t>
            </a:r>
            <a:endParaRPr lang="ru-RU" dirty="0" smtClean="0"/>
          </a:p>
          <a:p>
            <a:r>
              <a:rPr lang="ru-RU" dirty="0" smtClean="0"/>
              <a:t>Ф.</a:t>
            </a:r>
            <a:r>
              <a:rPr lang="en-US" dirty="0"/>
              <a:t>No 25002072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Въведение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r>
              <a:rPr lang="ru-RU" dirty="0" smtClean="0"/>
              <a:t>Пътната безопасност – ключов обществен приоритет!</a:t>
            </a:r>
          </a:p>
          <a:p>
            <a:r>
              <a:rPr lang="bg-BG" dirty="0" smtClean="0"/>
              <a:t>Основна причина за ПТП е човешкия фактор! </a:t>
            </a:r>
          </a:p>
          <a:p>
            <a:pPr marL="64008" indent="0">
              <a:buNone/>
            </a:pPr>
            <a:r>
              <a:rPr lang="bg-BG" b="1" dirty="0" smtClean="0"/>
              <a:t>Проблеми: </a:t>
            </a:r>
          </a:p>
          <a:p>
            <a:r>
              <a:rPr lang="bg-BG" dirty="0" smtClean="0"/>
              <a:t>рисково </a:t>
            </a:r>
            <a:r>
              <a:rPr lang="ru-RU" dirty="0" smtClean="0"/>
              <a:t>поведение </a:t>
            </a:r>
          </a:p>
          <a:p>
            <a:r>
              <a:rPr lang="ru-RU" dirty="0" smtClean="0"/>
              <a:t>грешна преценка </a:t>
            </a:r>
          </a:p>
          <a:p>
            <a:r>
              <a:rPr lang="ru-RU" dirty="0" smtClean="0"/>
              <a:t>недостатъчни умения </a:t>
            </a:r>
          </a:p>
          <a:p>
            <a:r>
              <a:rPr lang="ru-RU" dirty="0" smtClean="0"/>
              <a:t>Роля на подобрителните курсове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8229600" cy="1399032"/>
          </a:xfrm>
        </p:spPr>
        <p:txBody>
          <a:bodyPr>
            <a:normAutofit/>
          </a:bodyPr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Какво представляват подобрителните курсове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3922456"/>
          </a:xfrm>
        </p:spPr>
        <p:txBody>
          <a:bodyPr/>
          <a:lstStyle/>
          <a:p>
            <a:endParaRPr lang="en-US" dirty="0" smtClean="0"/>
          </a:p>
          <a:p>
            <a:r>
              <a:rPr lang="bg-BG" dirty="0" smtClean="0"/>
              <a:t>Насочени</a:t>
            </a:r>
            <a:r>
              <a:rPr lang="ru-RU" dirty="0" smtClean="0"/>
              <a:t> </a:t>
            </a:r>
            <a:r>
              <a:rPr lang="bg-BG" dirty="0" smtClean="0"/>
              <a:t>към</a:t>
            </a:r>
            <a:r>
              <a:rPr lang="ru-RU" dirty="0" smtClean="0"/>
              <a:t> </a:t>
            </a:r>
            <a:r>
              <a:rPr lang="bg-BG" dirty="0" smtClean="0"/>
              <a:t>правоспособни</a:t>
            </a:r>
            <a:r>
              <a:rPr lang="ru-RU" dirty="0" smtClean="0"/>
              <a:t> </a:t>
            </a:r>
            <a:r>
              <a:rPr lang="bg-BG" dirty="0" smtClean="0"/>
              <a:t>водачи</a:t>
            </a:r>
            <a:r>
              <a:rPr lang="ru-RU" dirty="0" smtClean="0"/>
              <a:t>, лица с нарушения и рисково поведение; </a:t>
            </a:r>
          </a:p>
          <a:p>
            <a:r>
              <a:rPr lang="ru-RU" b="1" dirty="0" smtClean="0"/>
              <a:t>Цел: </a:t>
            </a:r>
            <a:r>
              <a:rPr lang="ru-RU" dirty="0" smtClean="0"/>
              <a:t>реална промяна в поведението Не само знания, а и </a:t>
            </a:r>
            <a:r>
              <a:rPr lang="ru-RU" b="1" dirty="0" smtClean="0"/>
              <a:t>НАГЛАСИ</a:t>
            </a:r>
            <a:r>
              <a:rPr lang="ru-RU" dirty="0" smtClean="0"/>
              <a:t>!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Основни цели на курсовете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Повишаване на осъзнаването на риска; </a:t>
            </a:r>
          </a:p>
          <a:p>
            <a:r>
              <a:rPr lang="ru-RU" dirty="0" smtClean="0"/>
              <a:t>Подобряване на решенията на </a:t>
            </a:r>
            <a:r>
              <a:rPr lang="ru-RU" dirty="0" err="1" smtClean="0"/>
              <a:t>пътя</a:t>
            </a:r>
            <a:r>
              <a:rPr lang="ru-RU" dirty="0" smtClean="0"/>
              <a:t>; </a:t>
            </a:r>
          </a:p>
          <a:p>
            <a:r>
              <a:rPr lang="bg-BG" dirty="0" smtClean="0"/>
              <a:t>Коригиране</a:t>
            </a:r>
            <a:r>
              <a:rPr lang="ru-RU" dirty="0" smtClean="0"/>
              <a:t> </a:t>
            </a:r>
            <a:r>
              <a:rPr lang="bg-BG" dirty="0" smtClean="0"/>
              <a:t>на лоши навици</a:t>
            </a:r>
            <a:r>
              <a:rPr lang="ru-RU" dirty="0" smtClean="0"/>
              <a:t>; </a:t>
            </a:r>
          </a:p>
          <a:p>
            <a:r>
              <a:rPr lang="ru-RU" dirty="0" smtClean="0"/>
              <a:t>Изграждане на </a:t>
            </a:r>
            <a:r>
              <a:rPr lang="bg-BG" dirty="0" smtClean="0"/>
              <a:t>отговорност</a:t>
            </a:r>
            <a:r>
              <a:rPr lang="ru-RU" dirty="0" smtClean="0"/>
              <a:t>; </a:t>
            </a:r>
          </a:p>
          <a:p>
            <a:pPr marL="64008" indent="0">
              <a:buNone/>
            </a:pPr>
            <a:r>
              <a:rPr lang="ru-RU" dirty="0" smtClean="0"/>
              <a:t>➡ Фокус върху личността на </a:t>
            </a:r>
            <a:r>
              <a:rPr lang="bg-BG" dirty="0" smtClean="0"/>
              <a:t>водача!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Значение на проекта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DVR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ru-RU" dirty="0" smtClean="0"/>
              <a:t>Въвежда съвременни подходи Основни принципи: групово обучение </a:t>
            </a:r>
          </a:p>
          <a:p>
            <a:r>
              <a:rPr lang="ru-RU" dirty="0" smtClean="0"/>
              <a:t>интерактивност </a:t>
            </a:r>
          </a:p>
          <a:p>
            <a:r>
              <a:rPr lang="ru-RU" dirty="0" smtClean="0"/>
              <a:t>активност на участниците </a:t>
            </a:r>
          </a:p>
          <a:p>
            <a:r>
              <a:rPr lang="ru-RU" dirty="0" smtClean="0"/>
              <a:t>Работа с: нагласи </a:t>
            </a:r>
          </a:p>
          <a:p>
            <a:r>
              <a:rPr lang="ru-RU" dirty="0" smtClean="0"/>
              <a:t>емоции </a:t>
            </a:r>
          </a:p>
          <a:p>
            <a:r>
              <a:rPr lang="ru-RU" dirty="0" smtClean="0"/>
              <a:t>мотивация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Организационни условия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Ясно дефинирани цели </a:t>
            </a:r>
          </a:p>
          <a:p>
            <a:r>
              <a:rPr lang="ru-RU" dirty="0" smtClean="0"/>
              <a:t>Очаквани резултати </a:t>
            </a:r>
          </a:p>
          <a:p>
            <a:r>
              <a:rPr lang="ru-RU" dirty="0" smtClean="0"/>
              <a:t>Добро планиране </a:t>
            </a:r>
          </a:p>
          <a:p>
            <a:pPr marL="64008" indent="0">
              <a:buNone/>
            </a:pPr>
            <a:r>
              <a:rPr lang="ru-RU" dirty="0" smtClean="0"/>
              <a:t>➡ Без ясна цел обучението става </a:t>
            </a:r>
            <a:r>
              <a:rPr lang="bg-BG" dirty="0" smtClean="0"/>
              <a:t>формално</a:t>
            </a:r>
            <a:r>
              <a:rPr lang="ru-RU" dirty="0" smtClean="0"/>
              <a:t>!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Подбор на участници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Според профила: </a:t>
            </a:r>
          </a:p>
          <a:p>
            <a:pPr lvl="1"/>
            <a:r>
              <a:rPr lang="ru-RU" dirty="0" smtClean="0"/>
              <a:t>млади водачи </a:t>
            </a:r>
          </a:p>
          <a:p>
            <a:pPr lvl="1"/>
            <a:r>
              <a:rPr lang="ru-RU" dirty="0" smtClean="0"/>
              <a:t>системни нарушители </a:t>
            </a:r>
          </a:p>
          <a:p>
            <a:pPr lvl="1"/>
            <a:r>
              <a:rPr lang="ru-RU" dirty="0" smtClean="0"/>
              <a:t>опитни, но санкционирани </a:t>
            </a:r>
          </a:p>
          <a:p>
            <a:r>
              <a:rPr lang="ru-RU" dirty="0" smtClean="0"/>
              <a:t>Индивидуален подход </a:t>
            </a:r>
          </a:p>
          <a:p>
            <a:pPr marL="64008" indent="0">
              <a:buNone/>
            </a:pPr>
            <a:r>
              <a:rPr lang="ru-RU" dirty="0" smtClean="0"/>
              <a:t>➡ По-висока ефективност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Материална база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Необходими условия:</a:t>
            </a:r>
          </a:p>
          <a:p>
            <a:r>
              <a:rPr lang="ru-RU" dirty="0" smtClean="0"/>
              <a:t>учебна зала </a:t>
            </a:r>
          </a:p>
          <a:p>
            <a:r>
              <a:rPr lang="ru-RU" dirty="0" smtClean="0"/>
              <a:t>техника (презентации, видео) </a:t>
            </a:r>
          </a:p>
          <a:p>
            <a:r>
              <a:rPr lang="ru-RU" dirty="0" smtClean="0"/>
              <a:t>практическа среда </a:t>
            </a:r>
          </a:p>
          <a:p>
            <a:pPr marL="64008" indent="0">
              <a:buNone/>
            </a:pPr>
            <a:r>
              <a:rPr lang="ru-RU" dirty="0" smtClean="0"/>
              <a:t>➡ Качествена среда = </a:t>
            </a:r>
            <a:r>
              <a:rPr lang="ru-RU" dirty="0" err="1" smtClean="0"/>
              <a:t>по-добро</a:t>
            </a:r>
            <a:r>
              <a:rPr lang="ru-RU" dirty="0" smtClean="0"/>
              <a:t> обучение!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Продължителност на обучението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Твърде кратко → слаб ефект </a:t>
            </a:r>
          </a:p>
          <a:p>
            <a:r>
              <a:rPr lang="ru-RU" dirty="0" smtClean="0"/>
              <a:t>Твърде дълго → загуба на внимание </a:t>
            </a:r>
          </a:p>
          <a:p>
            <a:r>
              <a:rPr lang="ru-RU" dirty="0" smtClean="0"/>
              <a:t>Нужен е баланс </a:t>
            </a:r>
          </a:p>
          <a:p>
            <a:pPr marL="64008" indent="0">
              <a:buNone/>
            </a:pPr>
            <a:r>
              <a:rPr lang="ru-RU" dirty="0" smtClean="0"/>
              <a:t>➡ Оптимално време за усвояване</a:t>
            </a:r>
            <a:endParaRPr lang="en-US" dirty="0" smtClean="0"/>
          </a:p>
          <a:p>
            <a:pPr>
              <a:buNone/>
            </a:pPr>
            <a:endParaRPr lang="ru-RU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Методика на обучение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Интерактивен подход </a:t>
            </a:r>
          </a:p>
          <a:p>
            <a:r>
              <a:rPr lang="ru-RU" dirty="0" smtClean="0"/>
              <a:t>Активно участие </a:t>
            </a:r>
          </a:p>
          <a:p>
            <a:r>
              <a:rPr lang="ru-RU" dirty="0" smtClean="0"/>
              <a:t>Работа в групи </a:t>
            </a:r>
          </a:p>
          <a:p>
            <a:r>
              <a:rPr lang="ru-RU" dirty="0" smtClean="0"/>
              <a:t>Дискусии </a:t>
            </a:r>
          </a:p>
          <a:p>
            <a:pPr marL="64008" indent="0">
              <a:buNone/>
            </a:pPr>
            <a:r>
              <a:rPr lang="ru-RU" dirty="0" smtClean="0"/>
              <a:t>➡ Участниците мислят, а не </a:t>
            </a:r>
            <a:r>
              <a:rPr lang="ru-RU" dirty="0" err="1" smtClean="0"/>
              <a:t>слушат</a:t>
            </a:r>
            <a:r>
              <a:rPr lang="ru-RU" dirty="0" smtClean="0"/>
              <a:t> </a:t>
            </a:r>
            <a:r>
              <a:rPr lang="ru-RU" dirty="0" err="1" smtClean="0"/>
              <a:t>пасивно</a:t>
            </a:r>
            <a:r>
              <a:rPr lang="ru-RU" dirty="0" smtClean="0"/>
              <a:t>!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Работа с реални ситуации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Анализ на казуси </a:t>
            </a:r>
          </a:p>
          <a:p>
            <a:r>
              <a:rPr lang="ru-RU" dirty="0" smtClean="0"/>
              <a:t>Разглеждане на ПТП </a:t>
            </a:r>
          </a:p>
          <a:p>
            <a:r>
              <a:rPr lang="ru-RU" dirty="0" smtClean="0"/>
              <a:t>Обсъждане на грешки </a:t>
            </a:r>
          </a:p>
          <a:p>
            <a:pPr marL="64008" indent="0">
              <a:buNone/>
            </a:pPr>
            <a:r>
              <a:rPr lang="ru-RU" dirty="0" smtClean="0"/>
              <a:t>Пример:</a:t>
            </a:r>
          </a:p>
          <a:p>
            <a:r>
              <a:rPr lang="ru-RU" dirty="0" smtClean="0"/>
              <a:t>неправилна реакция в опасна ситуация </a:t>
            </a:r>
          </a:p>
          <a:p>
            <a:pPr marL="64008" indent="0">
              <a:buNone/>
            </a:pPr>
            <a:r>
              <a:rPr lang="ru-RU" dirty="0" smtClean="0"/>
              <a:t>➡ По-дълбоко разбиране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Роля на инструкторите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 само преподаватели </a:t>
            </a:r>
          </a:p>
          <a:p>
            <a:r>
              <a:rPr lang="ru-RU" dirty="0" smtClean="0"/>
              <a:t>Фасилитатори на процеса </a:t>
            </a:r>
          </a:p>
          <a:p>
            <a:r>
              <a:rPr lang="bg-BG" dirty="0" err="1" smtClean="0"/>
              <a:t>Съзидатели</a:t>
            </a:r>
            <a:r>
              <a:rPr lang="ru-RU" dirty="0" smtClean="0"/>
              <a:t> на доверие </a:t>
            </a:r>
          </a:p>
          <a:p>
            <a:endParaRPr lang="ru-RU" dirty="0" smtClean="0"/>
          </a:p>
          <a:p>
            <a:pPr>
              <a:buNone/>
            </a:pPr>
            <a:r>
              <a:rPr lang="ru-RU" dirty="0" smtClean="0"/>
              <a:t>Необходими умения:</a:t>
            </a:r>
          </a:p>
          <a:p>
            <a:r>
              <a:rPr lang="ru-RU" dirty="0" smtClean="0"/>
              <a:t>комуникация </a:t>
            </a:r>
          </a:p>
          <a:p>
            <a:r>
              <a:rPr lang="ru-RU" dirty="0" smtClean="0"/>
              <a:t>мотивация </a:t>
            </a:r>
          </a:p>
          <a:p>
            <a:r>
              <a:rPr lang="ru-RU" dirty="0" smtClean="0"/>
              <a:t>управление на група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Подготовка на инструкторите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ru-RU" dirty="0" smtClean="0"/>
              <a:t>Цели:</a:t>
            </a:r>
          </a:p>
          <a:p>
            <a:r>
              <a:rPr lang="ru-RU" dirty="0" smtClean="0"/>
              <a:t>уеднаквяване на стандартите </a:t>
            </a:r>
          </a:p>
          <a:p>
            <a:r>
              <a:rPr lang="ru-RU" dirty="0" smtClean="0"/>
              <a:t>развитие на педагогика </a:t>
            </a:r>
          </a:p>
          <a:p>
            <a:r>
              <a:rPr lang="ru-RU" dirty="0" smtClean="0"/>
              <a:t>подобряване на комуникация </a:t>
            </a:r>
          </a:p>
          <a:p>
            <a:pPr marL="64008" indent="0">
              <a:buNone/>
            </a:pPr>
            <a:r>
              <a:rPr lang="ru-RU" dirty="0" smtClean="0"/>
              <a:t>➡ Ключов фактор за успеха!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Практическо обучение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ru-RU" dirty="0" smtClean="0"/>
              <a:t>Реално управление </a:t>
            </a:r>
          </a:p>
          <a:p>
            <a:r>
              <a:rPr lang="ru-RU" dirty="0" smtClean="0"/>
              <a:t>Градска среда </a:t>
            </a:r>
          </a:p>
          <a:p>
            <a:r>
              <a:rPr lang="ru-RU" dirty="0" smtClean="0"/>
              <a:t>Извънградско движение </a:t>
            </a:r>
          </a:p>
          <a:p>
            <a:r>
              <a:rPr lang="ru-RU" dirty="0" smtClean="0"/>
              <a:t>Критични ситуации </a:t>
            </a:r>
          </a:p>
          <a:p>
            <a:pPr marL="64008" indent="0">
              <a:buNone/>
            </a:pPr>
            <a:r>
              <a:rPr lang="ru-RU" dirty="0" smtClean="0"/>
              <a:t>➡ Приложение на </a:t>
            </a:r>
            <a:r>
              <a:rPr lang="ru-RU" dirty="0" err="1" smtClean="0"/>
              <a:t>знанията</a:t>
            </a:r>
            <a:r>
              <a:rPr lang="ru-RU" dirty="0" smtClean="0"/>
              <a:t>!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Обратна връзка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ru-RU" dirty="0" smtClean="0"/>
              <a:t>Наблюдение от инструктор </a:t>
            </a:r>
          </a:p>
          <a:p>
            <a:r>
              <a:rPr lang="ru-RU" dirty="0" smtClean="0"/>
              <a:t>Анализ на поведението </a:t>
            </a:r>
          </a:p>
          <a:p>
            <a:r>
              <a:rPr lang="ru-RU" dirty="0" smtClean="0"/>
              <a:t>Конструктивна критика </a:t>
            </a:r>
          </a:p>
          <a:p>
            <a:pPr marL="64008" indent="0">
              <a:buNone/>
            </a:pPr>
            <a:r>
              <a:rPr lang="ru-RU" dirty="0" smtClean="0"/>
              <a:t>➡ Цел: подобрение, не наказание!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Оценка на резултатите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ru-RU" dirty="0" smtClean="0"/>
              <a:t>Методи:</a:t>
            </a:r>
          </a:p>
          <a:p>
            <a:r>
              <a:rPr lang="ru-RU" dirty="0" smtClean="0"/>
              <a:t>тестове </a:t>
            </a:r>
          </a:p>
          <a:p>
            <a:r>
              <a:rPr lang="ru-RU" dirty="0" smtClean="0"/>
              <a:t>наблюдение </a:t>
            </a:r>
          </a:p>
          <a:p>
            <a:r>
              <a:rPr lang="ru-RU" dirty="0" smtClean="0"/>
              <a:t>самооценка </a:t>
            </a:r>
          </a:p>
          <a:p>
            <a:r>
              <a:rPr lang="ru-RU" dirty="0" smtClean="0"/>
              <a:t>групова обратна връзка </a:t>
            </a:r>
          </a:p>
          <a:p>
            <a:pPr marL="64008" indent="0">
              <a:buNone/>
            </a:pPr>
            <a:r>
              <a:rPr lang="ru-RU" dirty="0" smtClean="0"/>
              <a:t>➡ Оценяват се знания и поведение!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Ефективност на курсовете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3850448"/>
          </a:xfrm>
        </p:spPr>
        <p:txBody>
          <a:bodyPr/>
          <a:lstStyle/>
          <a:p>
            <a:pPr>
              <a:buNone/>
            </a:pPr>
            <a:r>
              <a:rPr lang="bg-BG" dirty="0" smtClean="0"/>
              <a:t>Намаляване</a:t>
            </a:r>
            <a:r>
              <a:rPr lang="ru-RU" dirty="0" smtClean="0"/>
              <a:t> на нарушенията </a:t>
            </a:r>
          </a:p>
          <a:p>
            <a:r>
              <a:rPr lang="ru-RU" dirty="0" smtClean="0"/>
              <a:t>По-добро поведение </a:t>
            </a:r>
          </a:p>
          <a:p>
            <a:r>
              <a:rPr lang="bg-BG" dirty="0" smtClean="0"/>
              <a:t>Повишена</a:t>
            </a:r>
            <a:r>
              <a:rPr lang="ru-RU" dirty="0" smtClean="0"/>
              <a:t> </a:t>
            </a:r>
            <a:r>
              <a:rPr lang="bg-BG" dirty="0" err="1" smtClean="0"/>
              <a:t>осъзнатост</a:t>
            </a:r>
            <a:r>
              <a:rPr lang="ru-RU" dirty="0" smtClean="0"/>
              <a:t> </a:t>
            </a:r>
          </a:p>
          <a:p>
            <a:endParaRPr lang="ru-RU" dirty="0" smtClean="0"/>
          </a:p>
          <a:p>
            <a:pPr marL="64008" indent="0">
              <a:buNone/>
            </a:pPr>
            <a:r>
              <a:rPr lang="ru-RU" dirty="0" smtClean="0"/>
              <a:t>➡ Най-добри резултати:</a:t>
            </a:r>
          </a:p>
          <a:p>
            <a:r>
              <a:rPr lang="ru-RU" dirty="0" smtClean="0"/>
              <a:t>теория + практика + интерактивност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399032"/>
          </a:xfrm>
        </p:spPr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Предизвикателства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ниска мотивация </a:t>
            </a:r>
          </a:p>
          <a:p>
            <a:r>
              <a:rPr lang="ru-RU" dirty="0" smtClean="0"/>
              <a:t>формално участие </a:t>
            </a:r>
          </a:p>
          <a:p>
            <a:r>
              <a:rPr lang="ru-RU" dirty="0" smtClean="0"/>
              <a:t>ограничено време </a:t>
            </a:r>
          </a:p>
          <a:p>
            <a:r>
              <a:rPr lang="ru-RU" dirty="0" smtClean="0"/>
              <a:t>липса на контрол </a:t>
            </a:r>
          </a:p>
          <a:p>
            <a:pPr marL="64008" indent="0">
              <a:buNone/>
            </a:pPr>
            <a:r>
              <a:rPr lang="ru-RU" dirty="0" smtClean="0"/>
              <a:t>➡ Основни слабости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Възможности за развитие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ru-RU" dirty="0" smtClean="0"/>
              <a:t>периодични обучения </a:t>
            </a:r>
          </a:p>
          <a:p>
            <a:r>
              <a:rPr lang="ru-RU" dirty="0" smtClean="0"/>
              <a:t>дигитални технологии </a:t>
            </a:r>
          </a:p>
          <a:p>
            <a:r>
              <a:rPr lang="ru-RU" dirty="0" smtClean="0"/>
              <a:t>индивидуален подход </a:t>
            </a:r>
          </a:p>
          <a:p>
            <a:r>
              <a:rPr lang="ru-RU" dirty="0" smtClean="0"/>
              <a:t>по-строг контрол </a:t>
            </a:r>
          </a:p>
          <a:p>
            <a:pPr marL="64008" indent="0">
              <a:buNone/>
            </a:pPr>
            <a:r>
              <a:rPr lang="ru-RU" dirty="0" smtClean="0"/>
              <a:t>➡ Посока за бъдещо развитие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Заключение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72000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r>
              <a:rPr lang="ru-RU" dirty="0" smtClean="0"/>
              <a:t>Подобрителните курсове са важен инструмент </a:t>
            </a:r>
          </a:p>
          <a:p>
            <a:r>
              <a:rPr lang="ru-RU" dirty="0" smtClean="0"/>
              <a:t>Ефективността зависи от: </a:t>
            </a:r>
          </a:p>
          <a:p>
            <a:pPr lvl="1"/>
            <a:r>
              <a:rPr lang="ru-RU" dirty="0" smtClean="0"/>
              <a:t>организация </a:t>
            </a:r>
          </a:p>
          <a:p>
            <a:pPr lvl="1"/>
            <a:r>
              <a:rPr lang="ru-RU" dirty="0" smtClean="0"/>
              <a:t>методика </a:t>
            </a:r>
          </a:p>
          <a:p>
            <a:pPr lvl="1"/>
            <a:r>
              <a:rPr lang="ru-RU" dirty="0" smtClean="0"/>
              <a:t>инструктори </a:t>
            </a:r>
          </a:p>
          <a:p>
            <a:r>
              <a:rPr lang="ru-RU" dirty="0" smtClean="0"/>
              <a:t>Проектът DVR доказва: </a:t>
            </a:r>
          </a:p>
          <a:p>
            <a:pPr lvl="1"/>
            <a:r>
              <a:rPr lang="ru-RU" dirty="0" smtClean="0"/>
              <a:t>възможна е реална промяна </a:t>
            </a:r>
          </a:p>
          <a:p>
            <a:pPr marL="64008" indent="0">
              <a:buNone/>
            </a:pPr>
            <a:r>
              <a:rPr lang="ru-RU" dirty="0" smtClean="0"/>
              <a:t>➡ Ключът е в системния подход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636912"/>
            <a:ext cx="8229600" cy="1296144"/>
          </a:xfrm>
        </p:spPr>
        <p:txBody>
          <a:bodyPr/>
          <a:lstStyle/>
          <a:p>
            <a:pPr marL="64008" indent="0" algn="ctr">
              <a:buNone/>
            </a:pPr>
            <a:r>
              <a:rPr lang="bg-BG" dirty="0" smtClean="0"/>
              <a:t>Благодаря за вниманието!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538328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177</TotalTime>
  <Words>419</Words>
  <Application>Microsoft Office PowerPoint</Application>
  <PresentationFormat>On-screen Show (4:3)</PresentationFormat>
  <Paragraphs>146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Verve</vt:lpstr>
      <vt:lpstr>          Базови условия за  провеждане на подобрителни курсове за водачи </vt:lpstr>
      <vt:lpstr>Въведение</vt:lpstr>
      <vt:lpstr>Какво представляват подобрителните курсове</vt:lpstr>
      <vt:lpstr>Основни цели на курсовете</vt:lpstr>
      <vt:lpstr>Значение на проекта DVR</vt:lpstr>
      <vt:lpstr>Организационни условия</vt:lpstr>
      <vt:lpstr>Подбор на участници</vt:lpstr>
      <vt:lpstr>Материална база</vt:lpstr>
      <vt:lpstr>Продължителност на обучението</vt:lpstr>
      <vt:lpstr>Методика на обучение</vt:lpstr>
      <vt:lpstr>Работа с реални ситуации</vt:lpstr>
      <vt:lpstr>Роля на инструкторите</vt:lpstr>
      <vt:lpstr>Подготовка на инструкторите</vt:lpstr>
      <vt:lpstr>Практическо обучение</vt:lpstr>
      <vt:lpstr>Обратна връзка</vt:lpstr>
      <vt:lpstr>Оценка на резултатите</vt:lpstr>
      <vt:lpstr>Ефективност на курсовете</vt:lpstr>
      <vt:lpstr>Предизвикателства</vt:lpstr>
      <vt:lpstr>Възможности за развитие</vt:lpstr>
      <vt:lpstr>Заключение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Базови условия за  провеждане на подобрителни курсове за водачи  </dc:title>
  <dc:creator>Home</dc:creator>
  <cp:lastModifiedBy>User</cp:lastModifiedBy>
  <cp:revision>25</cp:revision>
  <dcterms:created xsi:type="dcterms:W3CDTF">2026-04-29T14:31:05Z</dcterms:created>
  <dcterms:modified xsi:type="dcterms:W3CDTF">2026-05-27T16:55:19Z</dcterms:modified>
</cp:coreProperties>
</file>