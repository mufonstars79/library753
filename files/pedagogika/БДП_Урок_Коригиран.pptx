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8" d="100"/>
          <a:sy n="128" d="100"/>
        </p:scale>
        <p:origin x="-130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193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820585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52886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bg-BG" sz="3000" b="1" dirty="0" smtClean="0">
                <a:solidFill>
                  <a:srgbClr val="FFFFFF"/>
                </a:solidFill>
              </a:rPr>
              <a:t>Комбиниран урок по БДП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79121"/>
            <a:ext cx="8229600" cy="2339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600" b="1" dirty="0" smtClean="0">
                <a:solidFill>
                  <a:schemeClr val="bg1"/>
                </a:solidFill>
              </a:rPr>
              <a:t>Дисциплина: Педагогическа практика</a:t>
            </a:r>
          </a:p>
          <a:p>
            <a:pPr marL="0" indent="0">
              <a:buNone/>
            </a:pPr>
            <a:r>
              <a:rPr lang="bg-BG" sz="1600" b="1" dirty="0" smtClean="0">
                <a:solidFill>
                  <a:schemeClr val="bg1"/>
                </a:solidFill>
              </a:rPr>
              <a:t>Тема</a:t>
            </a:r>
            <a:r>
              <a:rPr lang="bg-BG" sz="1600" b="1" dirty="0" smtClean="0">
                <a:solidFill>
                  <a:schemeClr val="bg1"/>
                </a:solidFill>
              </a:rPr>
              <a:t>: Разположение на нерелсови ППС върху пътя</a:t>
            </a:r>
          </a:p>
          <a:p>
            <a:pPr marL="0" indent="0">
              <a:buNone/>
            </a:pPr>
            <a:r>
              <a:rPr lang="bg-BG" sz="1600" b="1" dirty="0" smtClean="0">
                <a:solidFill>
                  <a:schemeClr val="bg1"/>
                </a:solidFill>
              </a:rPr>
              <a:t>Предмет: Безопасност на движението по пътищата (БДП) </a:t>
            </a:r>
          </a:p>
          <a:p>
            <a:pPr marL="0" indent="0">
              <a:buNone/>
            </a:pPr>
            <a:r>
              <a:rPr lang="bg-BG" sz="1600" b="1" dirty="0" smtClean="0">
                <a:solidFill>
                  <a:schemeClr val="bg1"/>
                </a:solidFill>
              </a:rPr>
              <a:t>Тип урок: Комбиниран</a:t>
            </a:r>
          </a:p>
          <a:p>
            <a:pPr marL="0" indent="0">
              <a:buNone/>
            </a:pPr>
            <a:r>
              <a:rPr lang="bg-BG" sz="1600" b="1" dirty="0" smtClean="0">
                <a:solidFill>
                  <a:schemeClr val="bg1"/>
                </a:solidFill>
              </a:rPr>
              <a:t>Ниво: Начинаещи водачи</a:t>
            </a:r>
          </a:p>
          <a:p>
            <a:r>
              <a:rPr lang="bg-BG" sz="1600" b="1" dirty="0" smtClean="0">
                <a:solidFill>
                  <a:schemeClr val="bg1"/>
                </a:solidFill>
              </a:rPr>
              <a:t>Място на провеждане</a:t>
            </a:r>
            <a:r>
              <a:rPr lang="en-US" sz="1600" b="1" dirty="0" smtClean="0">
                <a:solidFill>
                  <a:schemeClr val="bg1"/>
                </a:solidFill>
              </a:rPr>
              <a:t>: </a:t>
            </a:r>
            <a:r>
              <a:rPr lang="bg-BG" sz="1600" b="1" dirty="0" smtClean="0">
                <a:solidFill>
                  <a:schemeClr val="bg1"/>
                </a:solidFill>
              </a:rPr>
              <a:t>Кабинет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bg-BG" sz="1600" b="1" dirty="0" smtClean="0">
                <a:solidFill>
                  <a:schemeClr val="bg1"/>
                </a:solidFill>
              </a:rPr>
              <a:t>по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БДП </a:t>
            </a:r>
            <a:r>
              <a:rPr lang="bg-BG" sz="1600" b="1" dirty="0">
                <a:solidFill>
                  <a:schemeClr val="bg1"/>
                </a:solidFill>
              </a:rPr>
              <a:t>- </a:t>
            </a:r>
            <a:r>
              <a:rPr lang="bg-BG" sz="1600" b="1" dirty="0" smtClean="0">
                <a:solidFill>
                  <a:schemeClr val="bg1"/>
                </a:solidFill>
              </a:rPr>
              <a:t>симулатор</a:t>
            </a:r>
            <a:r>
              <a:rPr lang="en-US" sz="1600" dirty="0" smtClean="0">
                <a:solidFill>
                  <a:srgbClr val="2C3E50"/>
                </a:solidFill>
              </a:rPr>
              <a:t>.</a:t>
            </a:r>
            <a:endParaRPr lang="en-US" sz="1600" dirty="0"/>
          </a:p>
          <a:p>
            <a:pPr marL="0" indent="0">
              <a:buNone/>
            </a:pPr>
            <a:r>
              <a:rPr lang="bg-BG" sz="1600" b="1" dirty="0" smtClean="0">
                <a:solidFill>
                  <a:schemeClr val="bg1"/>
                </a:solidFill>
              </a:rPr>
              <a:t>Времетраене: 90 минути</a:t>
            </a:r>
          </a:p>
          <a:p>
            <a:r>
              <a:rPr lang="bg-BG" sz="1600" b="1" dirty="0" smtClean="0">
                <a:solidFill>
                  <a:schemeClr val="bg1"/>
                </a:solidFill>
              </a:rPr>
              <a:t>Изготвил: Бисер Бъчваров, курс 753, Ф. </a:t>
            </a:r>
            <a:r>
              <a:rPr lang="bg-BG" sz="1600" b="1" dirty="0">
                <a:solidFill>
                  <a:schemeClr val="bg1"/>
                </a:solidFill>
              </a:rPr>
              <a:t>номер 25002072</a:t>
            </a:r>
            <a:endParaRPr lang="bg-BG" sz="1600" b="1" dirty="0" smtClean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21408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I. Цели на урока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0DCF0"/>
                </a:solidFill>
              </a:rPr>
              <a:t>Образователни · Възпитателни · Практически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594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I.1 Образователни цели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Учениците </a:t>
            </a:r>
            <a:r>
              <a:rPr lang="bg-BG" sz="1600" dirty="0" smtClean="0">
                <a:solidFill>
                  <a:srgbClr val="2C3E50"/>
                </a:solidFill>
              </a:rPr>
              <a:t>д</a:t>
            </a:r>
            <a:r>
              <a:rPr lang="ru-RU" sz="1600" dirty="0" smtClean="0"/>
              <a:t>а </a:t>
            </a:r>
            <a:r>
              <a:rPr lang="bg-BG" sz="1600" noProof="1" smtClean="0"/>
              <a:t>обясняват със свои думи правилата за разположение на нерелсовите пътни превозни средства върху пътя. </a:t>
            </a:r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Учениците</a:t>
            </a:r>
            <a:r>
              <a:rPr lang="ru-RU" sz="1600" dirty="0" smtClean="0"/>
              <a:t> да </a:t>
            </a:r>
            <a:r>
              <a:rPr lang="bg-BG" sz="1600" dirty="0" smtClean="0"/>
              <a:t>определят правилната позиция на автомобила при различни пътни ситуации и условия на движение. </a:t>
            </a:r>
          </a:p>
          <a:p>
            <a:pPr marL="342900" indent="-342900">
              <a:buSzPct val="100000"/>
              <a:buChar char="•"/>
            </a:pPr>
            <a:endParaRPr lang="ru-RU" sz="1600" dirty="0" smtClean="0"/>
          </a:p>
          <a:p>
            <a:pPr marL="342900" indent="-342900">
              <a:buSzPct val="100000"/>
              <a:buChar char="•"/>
            </a:pPr>
            <a:r>
              <a:rPr lang="bg-BG" sz="1600" dirty="0"/>
              <a:t>Учениците </a:t>
            </a:r>
            <a:r>
              <a:rPr lang="bg-BG" sz="1600" dirty="0" smtClean="0"/>
              <a:t>да </a:t>
            </a:r>
            <a:r>
              <a:rPr lang="bg-BG" sz="1600" noProof="1" smtClean="0"/>
              <a:t>обясняват </a:t>
            </a:r>
            <a:r>
              <a:rPr lang="bg-BG" sz="1600" noProof="1"/>
              <a:t>със свои </a:t>
            </a:r>
            <a:r>
              <a:rPr lang="bg-BG" sz="1600" noProof="1"/>
              <a:t>думи </a:t>
            </a:r>
            <a:r>
              <a:rPr lang="bg-BG" sz="1600" dirty="0" smtClean="0"/>
              <a:t>значението </a:t>
            </a:r>
            <a:r>
              <a:rPr lang="bg-BG" sz="1600" dirty="0" smtClean="0"/>
              <a:t>на пътната маркировка, пътните знаци и сигнализацията при избора на правилно разположение на ППС. </a:t>
            </a:r>
          </a:p>
          <a:p>
            <a:pPr marL="342900" indent="-342900">
              <a:buSzPct val="100000"/>
              <a:buChar char="•"/>
            </a:pPr>
            <a:endParaRPr lang="ru-RU" sz="1600" dirty="0" smtClean="0"/>
          </a:p>
          <a:p>
            <a:pPr marL="342900" indent="-342900">
              <a:buSzPct val="100000"/>
              <a:buChar char="•"/>
            </a:pPr>
            <a:r>
              <a:rPr lang="bg-BG" sz="1600" dirty="0"/>
              <a:t>Учениците </a:t>
            </a:r>
            <a:r>
              <a:rPr lang="bg-BG" sz="1600" dirty="0" smtClean="0"/>
              <a:t>да </a:t>
            </a:r>
            <a:r>
              <a:rPr lang="bg-BG" sz="1600" dirty="0" smtClean="0"/>
              <a:t>изброяват </a:t>
            </a:r>
            <a:r>
              <a:rPr lang="bg-BG" sz="1600" dirty="0" smtClean="0"/>
              <a:t>правилата за безопасно движение при </a:t>
            </a:r>
            <a:r>
              <a:rPr lang="bg-BG" sz="1600" dirty="0" smtClean="0"/>
              <a:t>движение </a:t>
            </a:r>
            <a:r>
              <a:rPr lang="bg-BG" sz="1600" dirty="0" smtClean="0"/>
              <a:t>в различни пътни ленти. </a:t>
            </a:r>
          </a:p>
          <a:p>
            <a:pPr marL="342900" indent="-342900">
              <a:buSzPct val="100000"/>
              <a:buChar char="•"/>
            </a:pPr>
            <a:endParaRPr lang="bg-BG" sz="1600" dirty="0" smtClean="0"/>
          </a:p>
          <a:p>
            <a:pPr marL="342900" indent="-342900">
              <a:buSzPct val="100000"/>
              <a:buChar char="•"/>
            </a:pPr>
            <a:r>
              <a:rPr lang="bg-BG" sz="1600" dirty="0"/>
              <a:t>Учениците </a:t>
            </a:r>
            <a:r>
              <a:rPr lang="bg-BG" sz="1600" dirty="0" smtClean="0"/>
              <a:t>да проявяват </a:t>
            </a:r>
            <a:r>
              <a:rPr lang="bg-BG" sz="1600" dirty="0" smtClean="0"/>
              <a:t>дисциплина </a:t>
            </a:r>
            <a:r>
              <a:rPr lang="bg-BG" sz="1600" dirty="0" smtClean="0"/>
              <a:t>при вземане на решения като водачи на МПС.</a:t>
            </a:r>
            <a:endParaRPr lang="bg-BG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I.2 Възпитателни цели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38349"/>
            <a:ext cx="8229600" cy="3144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bg-BG" sz="1600" dirty="0" smtClean="0">
                <a:solidFill>
                  <a:srgbClr val="2C3E50"/>
                </a:solidFill>
              </a:rPr>
              <a:t>Да се формира</a:t>
            </a:r>
            <a:r>
              <a:rPr lang="en-US" sz="1600" dirty="0" smtClean="0">
                <a:solidFill>
                  <a:srgbClr val="2C3E50"/>
                </a:solidFill>
              </a:rPr>
              <a:t> </a:t>
            </a:r>
            <a:r>
              <a:rPr lang="en-US" sz="1600" dirty="0">
                <a:solidFill>
                  <a:srgbClr val="2C3E50"/>
                </a:solidFill>
              </a:rPr>
              <a:t>отговорно поведение на водача.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bg-BG" sz="1600" dirty="0" smtClean="0">
                <a:solidFill>
                  <a:srgbClr val="2C3E50"/>
                </a:solidFill>
              </a:rPr>
              <a:t>Да се развият</a:t>
            </a:r>
            <a:r>
              <a:rPr lang="en-US" sz="1600" dirty="0" smtClean="0">
                <a:solidFill>
                  <a:srgbClr val="2C3E50"/>
                </a:solidFill>
              </a:rPr>
              <a:t> </a:t>
            </a:r>
            <a:r>
              <a:rPr lang="en-US" sz="1600" dirty="0">
                <a:solidFill>
                  <a:srgbClr val="2C3E50"/>
                </a:solidFill>
              </a:rPr>
              <a:t>умения за безопасно участие в движението.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Да се възпита дисциплина и самоконтрол при управление на МПС. </a:t>
            </a:r>
          </a:p>
          <a:p>
            <a:pPr marL="342900" indent="-342900">
              <a:buSzPct val="100000"/>
              <a:buChar char="•"/>
            </a:pPr>
            <a:endParaRPr lang="ru-RU" sz="1600" dirty="0" smtClean="0"/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Да се изгради уважение към останалите участници в движението. </a:t>
            </a:r>
          </a:p>
          <a:p>
            <a:pPr marL="342900" indent="-342900">
              <a:buSzPct val="100000"/>
              <a:buChar char="•"/>
            </a:pPr>
            <a:endParaRPr lang="ru-RU" sz="1600" dirty="0" smtClean="0"/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Да се осъзнае значението на правилата за безопасност и реализира тяхното стриктно спазване.</a:t>
            </a:r>
            <a:endParaRPr lang="bg-BG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I.3 Практически цели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4087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bg-BG" sz="1600" dirty="0" smtClean="0">
                <a:solidFill>
                  <a:srgbClr val="2C3E50"/>
                </a:solidFill>
              </a:rPr>
              <a:t>Учениците да усвоят</a:t>
            </a:r>
            <a:r>
              <a:rPr lang="en-US" sz="1600" dirty="0" smtClean="0">
                <a:solidFill>
                  <a:srgbClr val="2C3E50"/>
                </a:solidFill>
              </a:rPr>
              <a:t> </a:t>
            </a:r>
            <a:r>
              <a:rPr lang="en-US" sz="1600" dirty="0">
                <a:solidFill>
                  <a:srgbClr val="2C3E50"/>
                </a:solidFill>
              </a:rPr>
              <a:t>умения за правилно заемане </a:t>
            </a:r>
            <a:r>
              <a:rPr lang="en-US" sz="1600" dirty="0" err="1">
                <a:solidFill>
                  <a:srgbClr val="2C3E50"/>
                </a:solidFill>
              </a:rPr>
              <a:t>на</a:t>
            </a:r>
            <a:r>
              <a:rPr lang="en-US" sz="1600" dirty="0">
                <a:solidFill>
                  <a:srgbClr val="2C3E50"/>
                </a:solidFill>
              </a:rPr>
              <a:t> </a:t>
            </a:r>
            <a:r>
              <a:rPr lang="bg-BG" sz="1600" dirty="0" smtClean="0">
                <a:solidFill>
                  <a:srgbClr val="2C3E50"/>
                </a:solidFill>
              </a:rPr>
              <a:t>пътната лента.</a:t>
            </a:r>
            <a:endParaRPr lang="bg-BG" sz="1600" dirty="0" smtClean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bg-BG" sz="1600" dirty="0" smtClean="0">
                <a:solidFill>
                  <a:srgbClr val="2C3E50"/>
                </a:solidFill>
              </a:rPr>
              <a:t>Да р</a:t>
            </a:r>
            <a:r>
              <a:rPr lang="en-US" sz="1600" dirty="0" smtClean="0">
                <a:solidFill>
                  <a:srgbClr val="2C3E50"/>
                </a:solidFill>
              </a:rPr>
              <a:t>азпознава</a:t>
            </a:r>
            <a:r>
              <a:rPr lang="bg-BG" sz="1600" dirty="0" smtClean="0">
                <a:solidFill>
                  <a:srgbClr val="2C3E50"/>
                </a:solidFill>
              </a:rPr>
              <a:t>т</a:t>
            </a:r>
            <a:r>
              <a:rPr lang="en-US" sz="1600" dirty="0" smtClean="0">
                <a:solidFill>
                  <a:srgbClr val="2C3E50"/>
                </a:solidFill>
              </a:rPr>
              <a:t> </a:t>
            </a:r>
            <a:r>
              <a:rPr lang="en-US" sz="1600" dirty="0">
                <a:solidFill>
                  <a:srgbClr val="2C3E50"/>
                </a:solidFill>
              </a:rPr>
              <a:t>опасни ситуации, свързани с </a:t>
            </a:r>
            <a:r>
              <a:rPr lang="bg-BG" sz="1600" dirty="0" smtClean="0">
                <a:solidFill>
                  <a:srgbClr val="2C3E50"/>
                </a:solidFill>
              </a:rPr>
              <a:t>неправилно разположение.</a:t>
            </a:r>
            <a:endParaRPr lang="bg-BG" sz="1600" dirty="0">
              <a:solidFill>
                <a:srgbClr val="2C3E5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Учениците да избират правилната пътна лента според посоката на движение.</a:t>
            </a:r>
          </a:p>
          <a:p>
            <a:pPr marL="342900" indent="-342900">
              <a:buSzPct val="100000"/>
              <a:buChar char="•"/>
            </a:pPr>
            <a:endParaRPr lang="ru-RU" sz="1600" dirty="0" smtClean="0"/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Да извършват безопасно престрояване при спазване на правилата за движение.</a:t>
            </a:r>
          </a:p>
          <a:p>
            <a:pPr>
              <a:buSzPct val="100000"/>
            </a:pPr>
            <a:r>
              <a:rPr lang="bg-BG" sz="1600" dirty="0" smtClean="0"/>
              <a:t> </a:t>
            </a:r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Да определят правилното място на автомобила при движение по различни видове пътища. </a:t>
            </a:r>
          </a:p>
          <a:p>
            <a:pPr marL="342900" indent="-342900">
              <a:buSzPct val="100000"/>
              <a:buChar char="•"/>
            </a:pPr>
            <a:endParaRPr lang="ru-RU" sz="1600" dirty="0" smtClean="0"/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Да разпознават и спазват изискванията на пътната маркировка и сигнализацията. </a:t>
            </a:r>
          </a:p>
          <a:p>
            <a:pPr marL="342900" indent="-342900">
              <a:buSzPct val="100000"/>
              <a:buChar char="•"/>
            </a:pPr>
            <a:endParaRPr lang="bg-BG" sz="1600" dirty="0" smtClean="0"/>
          </a:p>
          <a:p>
            <a:pPr marL="342900" indent="-342900">
              <a:buSzPct val="100000"/>
              <a:buChar char="•"/>
            </a:pPr>
            <a:r>
              <a:rPr lang="bg-BG" sz="1600" dirty="0" smtClean="0"/>
              <a:t>Да прилагат придобитите знания при решаване на практически казуси и ситуации от реалното движение.</a:t>
            </a:r>
            <a:endParaRPr lang="bg-BG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21408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II. Учебно съдържание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0DCF0"/>
                </a:solidFill>
              </a:rPr>
              <a:t>Връзки и място на провеждане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II. Учебно съдържание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Вътрешнопредметни връзки – Предшестващи: основни правила за движение; пътни знаци и маркировка.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Вътрешнопредметни връзки – Перспективни: маневриране, изпреварване, разминаване, престрояване.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Междупредметни връзки – Физика: инерция, спирачен път, траектория.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Междупредметни връзки – Психология: внимание, реакция, </a:t>
            </a:r>
            <a:r>
              <a:rPr lang="en-US" sz="1600" dirty="0" err="1">
                <a:solidFill>
                  <a:srgbClr val="2C3E50"/>
                </a:solidFill>
              </a:rPr>
              <a:t>възприятие</a:t>
            </a:r>
            <a:r>
              <a:rPr lang="en-US" sz="1600" dirty="0" smtClean="0">
                <a:solidFill>
                  <a:srgbClr val="2C3E50"/>
                </a:solidFill>
              </a:rPr>
              <a:t>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21408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III. Дидактически методи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0DCF0"/>
                </a:solidFill>
              </a:rPr>
              <a:t>Използвани педагогически подходи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III. Дидактически методи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96012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Разказ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Беседа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Обяснение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Илюстрация (схеми, видеа)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09728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Репродуктивен метод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Проблемно-творчески метод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bg-BG" sz="1400" dirty="0" smtClean="0">
                <a:solidFill>
                  <a:srgbClr val="2C3E50"/>
                </a:solidFill>
              </a:rPr>
              <a:t>Индивидуален подход - </a:t>
            </a:r>
            <a:r>
              <a:rPr lang="en-US" sz="1400" dirty="0" err="1" smtClean="0">
                <a:solidFill>
                  <a:srgbClr val="2C3E50"/>
                </a:solidFill>
              </a:rPr>
              <a:t>Упражнения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21408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IV. Дидактически принципи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0DCF0"/>
                </a:solidFill>
              </a:rPr>
              <a:t>Основи на педагогическата работа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IV. Дидактически принципи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96012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Нагледност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Научност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Достъпност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09728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Съзнателност и активност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Индивидуален подход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Трайност на знанията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21408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V. План на урока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0DCF0"/>
                </a:solidFill>
              </a:rPr>
              <a:t>Хронологичен ред и времеразпределение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V. План на урока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503806"/>
              </p:ext>
            </p:extLst>
          </p:nvPr>
        </p:nvGraphicFramePr>
        <p:xfrm>
          <a:off x="274320" y="914400"/>
          <a:ext cx="8138160" cy="3922776"/>
        </p:xfrm>
        <a:graphic>
          <a:graphicData uri="http://schemas.openxmlformats.org/drawingml/2006/table">
            <a:tbl>
              <a:tblPr/>
              <a:tblGrid>
                <a:gridCol w="457200"/>
                <a:gridCol w="4572000"/>
                <a:gridCol w="2377440"/>
                <a:gridCol w="731520"/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№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Съдържание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Мин.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Организация и проверка на присъстващи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Проверка на домашна работа (кратък тест)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Беседа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bg-BG" sz="1100" dirty="0" smtClean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Преговор: Пътни ленти, маркировка, знаци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Разказ, беседа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Поставяне на темата: Разположение на нерелсовите ППС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Разказ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4.1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Основни правила за разположение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Обяснение, илюстрация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4.2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Разположение при различни пътни условия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Беседа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Разположение при маневри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Илюстрация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Опасности при неправилно разположение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Проблемно-творчески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Упражнения – решаване на ситуации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Упражнения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Обобщение и обратна връзка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Беседа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bg-BG" sz="1100" dirty="0" smtClean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21408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VI. Задачи към урока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0DCF0"/>
                </a:solidFill>
              </a:rPr>
              <a:t>Практически упражнения за </a:t>
            </a:r>
            <a:r>
              <a:rPr lang="en-US" sz="1600" i="1" dirty="0" err="1">
                <a:solidFill>
                  <a:srgbClr val="D0DCF0"/>
                </a:solidFill>
              </a:rPr>
              <a:t>учениците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VI. Задачи към урока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57200" cy="1600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Задача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05156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Определете правилното разположение на автомобила при движение в еднопосочна улица с две ленти.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457200" cy="1600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Задача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85032" y="105156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На схема е показан автомобил близо до осевата линия. Определете дали това е правилно и защо.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9601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960120"/>
            <a:ext cx="457200" cy="1600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96012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Задача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19672" y="105156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Определете разположението на автомобила при навлизане в кръгово движение.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28803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91640" y="2880360"/>
            <a:ext cx="457200" cy="1600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288036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Задача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21992" y="297180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На стеснен участък два автомобила се разминават. Кой трябва да намали и защо?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288036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2880360"/>
            <a:ext cx="457200" cy="160020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88036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Задача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56632" y="2971800"/>
            <a:ext cx="1965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Определете правилното разположение при движение по мокър път и намалена видимост.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21408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VII. Тест за текущ контрол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0DCF0"/>
                </a:solidFill>
              </a:rPr>
              <a:t>5 въпроса за проверка на знанията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4846320"/>
            <a:ext cx="731520" cy="91440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A"/>
          </a:solidFill>
          <a:ln w="12700">
            <a:solidFill>
              <a:srgbClr val="1A2B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VII. Тест за текущ контрол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</a:rPr>
              <a:t>1. Къде трябва да се движи автомобилът в населено място?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81912"/>
            <a:ext cx="4023360" cy="3017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819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E"/>
                </a:solidFill>
              </a:rPr>
              <a:t>✓ а) Вдясно, възможно най-близо до десния край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29384"/>
            <a:ext cx="40233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293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б) В средата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76856"/>
            <a:ext cx="40233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768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в) Вляво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96012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051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</a:rPr>
              <a:t>2. Какво означава непрекъсната осева линия?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581912"/>
            <a:ext cx="40233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3208" y="15819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а) Може да се преминава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1929384"/>
            <a:ext cx="4023360" cy="3017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19293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E"/>
                </a:solidFill>
              </a:rPr>
              <a:t>✓ б) Не може да се преминава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2276856"/>
            <a:ext cx="40233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3208" y="22768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в) Само при изпреварване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017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</a:rPr>
              <a:t>3. Кога водачът трябва да се престрои?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547872"/>
            <a:ext cx="40233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5478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а) В последния момент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895344"/>
            <a:ext cx="4023360" cy="3017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9534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E"/>
                </a:solidFill>
              </a:rPr>
              <a:t>✓ б) Навреме, преди маневрата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242816"/>
            <a:ext cx="40233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2428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в) След маневрата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926080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3017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</a:rPr>
              <a:t>4. Къде се разполага автомобилът при десен завой?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547872"/>
            <a:ext cx="40233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35478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а) Вляво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895344"/>
            <a:ext cx="4023360" cy="3017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3208" y="389534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E"/>
                </a:solidFill>
              </a:rPr>
              <a:t>✓ б) Вдясно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4242816"/>
            <a:ext cx="40233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93208" y="42428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в) В средата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94560" y="4892040"/>
            <a:ext cx="4754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31720" y="4983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A"/>
                </a:solidFill>
              </a:rPr>
              <a:t>5. Какво е най-голямата опасност при движение близо до осевата линия?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31720" y="5513832"/>
            <a:ext cx="44805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95728" y="551383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а) Повече място за маневри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31720" y="5861304"/>
            <a:ext cx="4480560" cy="3017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95728" y="586130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E"/>
                </a:solidFill>
              </a:rPr>
              <a:t>✓ б) Риск от навлизане в насрещното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31720" y="6208776"/>
            <a:ext cx="4480560" cy="301752"/>
          </a:xfrm>
          <a:prstGeom prst="rect">
            <a:avLst/>
          </a:prstGeom>
          <a:solidFill>
            <a:srgbClr val="F0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95728" y="6208776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    в) По-добра видимост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731520" cy="10972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4663440"/>
            <a:ext cx="731520" cy="10972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4663440"/>
            <a:ext cx="731520" cy="10972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4663440"/>
            <a:ext cx="731520" cy="10972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4663440"/>
            <a:ext cx="731520" cy="10972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4663440"/>
            <a:ext cx="731520" cy="10972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4663440"/>
            <a:ext cx="731520" cy="10972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4663440"/>
            <a:ext cx="731520" cy="10972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Благодаря за вниманието!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4386</TotalTime>
  <Words>799</Words>
  <Application>Microsoft Office PowerPoint</Application>
  <PresentationFormat>On-screen Show (16:9)</PresentationFormat>
  <Paragraphs>173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Комбиниран Урок по БДП</dc:title>
  <dc:subject>PptxGenJS Presentation</dc:subject>
  <dc:creator>Бисер Бъчваров</dc:creator>
  <cp:lastModifiedBy>User</cp:lastModifiedBy>
  <cp:revision>25</cp:revision>
  <dcterms:created xsi:type="dcterms:W3CDTF">2026-05-28T14:16:35Z</dcterms:created>
  <dcterms:modified xsi:type="dcterms:W3CDTF">2026-06-05T15:42:59Z</dcterms:modified>
</cp:coreProperties>
</file>