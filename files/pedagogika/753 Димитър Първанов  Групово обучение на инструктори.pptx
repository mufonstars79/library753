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32"/>
  </p:notesMasterIdLst>
  <p:handoutMasterIdLst>
    <p:handoutMasterId r:id="rId33"/>
  </p:handout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9" r:id="rId3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75AB4918-8792-4B33-98CB-DA451005C2CF}">
          <p14:sldIdLst>
            <p14:sldId id="256"/>
            <p14:sldId id="257"/>
            <p14:sldId id="258"/>
            <p14:sldId id="259"/>
            <p14:sldId id="260"/>
          </p14:sldIdLst>
        </p14:section>
        <p14:section name="Untitled Section" id="{3C0BEBF5-4E2D-40BC-A5ED-FF153E65185C}">
          <p14:sldIdLst>
            <p14:sldId id="261"/>
            <p14:sldId id="262"/>
            <p14:sldId id="263"/>
            <p14:sldId id="264"/>
            <p14:sldId id="265"/>
            <p14:sldId id="266"/>
            <p14:sldId id="267"/>
            <p14:sldId id="268"/>
            <p14:sldId id="269"/>
            <p14:sldId id="270"/>
            <p14:sldId id="271"/>
            <p14:sldId id="272"/>
            <p14:sldId id="273"/>
            <p14:sldId id="274"/>
            <p14:sldId id="275"/>
            <p14:sldId id="276"/>
            <p14:sldId id="277"/>
            <p14:sldId id="278"/>
            <p14:sldId id="279"/>
            <p14:sldId id="280"/>
            <p14:sldId id="281"/>
            <p14:sldId id="282"/>
            <p14:sldId id="283"/>
            <p14:sldId id="284"/>
            <p14:sldId id="28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82" d="100"/>
          <a:sy n="82" d="100"/>
        </p:scale>
        <p:origin x="720"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86C4601-DD15-04B6-C388-AEA9D0DABB30}"/>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bg-BG"/>
              <a:t>Групово обучение на инструктори</a:t>
            </a:r>
          </a:p>
        </p:txBody>
      </p:sp>
      <p:sp>
        <p:nvSpPr>
          <p:cNvPr id="3" name="Date Placeholder 2">
            <a:extLst>
              <a:ext uri="{FF2B5EF4-FFF2-40B4-BE49-F238E27FC236}">
                <a16:creationId xmlns:a16="http://schemas.microsoft.com/office/drawing/2014/main" id="{5FF7C828-9D6D-567B-18B4-66CFD3DDF40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698DDC7-E0E1-4E43-9BD8-C8828DF4FBCB}" type="datetimeFigureOut">
              <a:rPr lang="bg-BG" smtClean="0"/>
              <a:t>31.5.2026 г.</a:t>
            </a:fld>
            <a:endParaRPr lang="bg-BG"/>
          </a:p>
        </p:txBody>
      </p:sp>
      <p:sp>
        <p:nvSpPr>
          <p:cNvPr id="4" name="Footer Placeholder 3">
            <a:extLst>
              <a:ext uri="{FF2B5EF4-FFF2-40B4-BE49-F238E27FC236}">
                <a16:creationId xmlns:a16="http://schemas.microsoft.com/office/drawing/2014/main" id="{E9587973-05ED-3384-7278-032167F88D95}"/>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bg-BG"/>
          </a:p>
        </p:txBody>
      </p:sp>
      <p:sp>
        <p:nvSpPr>
          <p:cNvPr id="5" name="Slide Number Placeholder 4">
            <a:extLst>
              <a:ext uri="{FF2B5EF4-FFF2-40B4-BE49-F238E27FC236}">
                <a16:creationId xmlns:a16="http://schemas.microsoft.com/office/drawing/2014/main" id="{36474BA6-5AAB-DBC7-CCFC-35116FB77D8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9FCAA10-3C14-4D62-AE29-88EA07F13FB0}" type="slidenum">
              <a:rPr lang="bg-BG" smtClean="0"/>
              <a:t>‹#›</a:t>
            </a:fld>
            <a:endParaRPr lang="bg-BG"/>
          </a:p>
        </p:txBody>
      </p:sp>
    </p:spTree>
    <p:extLst>
      <p:ext uri="{BB962C8B-B14F-4D97-AF65-F5344CB8AC3E}">
        <p14:creationId xmlns:p14="http://schemas.microsoft.com/office/powerpoint/2010/main" val="2300391555"/>
      </p:ext>
    </p:extLst>
  </p:cSld>
  <p:clrMap bg1="lt1" tx1="dk1" bg2="lt2" tx2="dk2" accent1="accent1" accent2="accent2" accent3="accent3" accent4="accent4" accent5="accent5" accent6="accent6" hlink="hlink" folHlink="folHlink"/>
  <p:hf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bg-BG"/>
              <a:t>Групово обучение на инструктори</a:t>
            </a: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D70FDAC-AD3C-4D8B-9D22-29D2A8BAD422}" type="datetimeFigureOut">
              <a:rPr lang="bg-BG" smtClean="0"/>
              <a:t>31.5.2026 г.</a:t>
            </a:fld>
            <a:endParaRPr lang="bg-BG"/>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bg-BG"/>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bg-BG"/>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bg-BG"/>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2D5A719-B14A-4A34-8DEC-C11F896B61A5}" type="slidenum">
              <a:rPr lang="bg-BG" smtClean="0"/>
              <a:t>‹#›</a:t>
            </a:fld>
            <a:endParaRPr lang="bg-BG"/>
          </a:p>
        </p:txBody>
      </p:sp>
    </p:spTree>
    <p:extLst>
      <p:ext uri="{BB962C8B-B14F-4D97-AF65-F5344CB8AC3E}">
        <p14:creationId xmlns:p14="http://schemas.microsoft.com/office/powerpoint/2010/main" val="50924235"/>
      </p:ext>
    </p:extLst>
  </p:cSld>
  <p:clrMap bg1="lt1" tx1="dk1" bg2="lt2" tx2="dk2" accent1="accent1" accent2="accent2" accent3="accent3" accent4="accent4" accent5="accent5" accent6="accent6" hlink="hlink" folHlink="folHlink"/>
  <p:hf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ctrTitle"/>
          </p:nvPr>
        </p:nvSpPr>
        <p:spPr>
          <a:xfrm>
            <a:off x="1371600" y="1803405"/>
            <a:ext cx="9448800" cy="1825096"/>
          </a:xfrm>
        </p:spPr>
        <p:txBody>
          <a:bodyPr anchor="b">
            <a:normAutofit/>
          </a:bodyPr>
          <a:lstStyle>
            <a:lvl1pPr algn="l">
              <a:defRPr sz="6000"/>
            </a:lvl1pPr>
          </a:lstStyle>
          <a:p>
            <a:r>
              <a:rPr lang="en-US"/>
              <a:t>Click to edit Master title style</a:t>
            </a:r>
            <a:endParaRPr lang="en-US" dirty="0"/>
          </a:p>
        </p:txBody>
      </p:sp>
      <p:sp>
        <p:nvSpPr>
          <p:cNvPr id="3" name="Subtitle 2"/>
          <p:cNvSpPr>
            <a:spLocks noGrp="1"/>
          </p:cNvSpPr>
          <p:nvPr>
            <p:ph type="subTitle" idx="1"/>
          </p:nvPr>
        </p:nvSpPr>
        <p:spPr>
          <a:xfrm>
            <a:off x="1371600" y="3632201"/>
            <a:ext cx="9448800" cy="685800"/>
          </a:xfrm>
        </p:spPr>
        <p:txBody>
          <a:bodyPr>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909561" y="4314328"/>
            <a:ext cx="2910840" cy="374642"/>
          </a:xfrm>
        </p:spPr>
        <p:txBody>
          <a:bodyPr/>
          <a:lstStyle/>
          <a:p>
            <a:fld id="{48A87A34-81AB-432B-8DAE-1953F412C126}" type="datetimeFigureOut">
              <a:rPr lang="en-US" dirty="0"/>
              <a:t>5/31/2026</a:t>
            </a:fld>
            <a:endParaRPr lang="en-US" dirty="0"/>
          </a:p>
        </p:txBody>
      </p:sp>
      <p:sp>
        <p:nvSpPr>
          <p:cNvPr id="5" name="Footer Placeholder 4"/>
          <p:cNvSpPr>
            <a:spLocks noGrp="1"/>
          </p:cNvSpPr>
          <p:nvPr>
            <p:ph type="ftr" sz="quarter" idx="11"/>
          </p:nvPr>
        </p:nvSpPr>
        <p:spPr>
          <a:xfrm>
            <a:off x="1371600" y="4323845"/>
            <a:ext cx="6400800" cy="365125"/>
          </a:xfrm>
        </p:spPr>
        <p:txBody>
          <a:bodyPr/>
          <a:lstStyle/>
          <a:p>
            <a:endParaRPr lang="en-US" dirty="0"/>
          </a:p>
        </p:txBody>
      </p:sp>
      <p:sp>
        <p:nvSpPr>
          <p:cNvPr id="6" name="Slide Number Placeholder 5"/>
          <p:cNvSpPr>
            <a:spLocks noGrp="1"/>
          </p:cNvSpPr>
          <p:nvPr>
            <p:ph type="sldNum" sz="quarter" idx="12"/>
          </p:nvPr>
        </p:nvSpPr>
        <p:spPr>
          <a:xfrm>
            <a:off x="8077200" y="1430866"/>
            <a:ext cx="2743200" cy="365125"/>
          </a:xfrm>
        </p:spPr>
        <p:txBody>
          <a:bodyPr/>
          <a:lstStyle/>
          <a:p>
            <a:fld id="{6D22F896-40B5-4ADD-8801-0D06FADFA095}"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5/31/2026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pic>
        <p:nvPicPr>
          <p:cNvPr id="9" name="Picture 8"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3"/>
            <a:ext cx="10820399" cy="2801935"/>
          </a:xfrm>
        </p:spPr>
        <p:txBody>
          <a:bodyPr anchor="b">
            <a:normAutofit/>
          </a:bodyPr>
          <a:lstStyle>
            <a:lvl1pPr algn="r">
              <a:defRPr sz="4000"/>
            </a:lvl1pPr>
          </a:lstStyle>
          <a:p>
            <a:r>
              <a:rPr lang="en-US"/>
              <a:t>Click to edit Master title style</a:t>
            </a:r>
            <a:endParaRPr lang="en-US" dirty="0"/>
          </a:p>
        </p:txBody>
      </p:sp>
      <p:sp>
        <p:nvSpPr>
          <p:cNvPr id="3" name="Text Placeholder 2"/>
          <p:cNvSpPr>
            <a:spLocks noGrp="1"/>
          </p:cNvSpPr>
          <p:nvPr>
            <p:ph type="body" idx="1"/>
          </p:nvPr>
        </p:nvSpPr>
        <p:spPr>
          <a:xfrm>
            <a:off x="1024467" y="3641725"/>
            <a:ext cx="10490200" cy="955675"/>
          </a:xfrm>
        </p:spPr>
        <p:txBody>
          <a:bodyPr>
            <a:normAutofit/>
          </a:bodyPr>
          <a:lstStyle>
            <a:lvl1pPr marL="0" indent="0" algn="r">
              <a:buNone/>
              <a:defRPr sz="22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7814452" y="381000"/>
            <a:ext cx="2910840" cy="365125"/>
          </a:xfrm>
        </p:spPr>
        <p:txBody>
          <a:bodyPr/>
          <a:lstStyle>
            <a:lvl1pPr algn="r">
              <a:defRPr/>
            </a:lvl1pPr>
          </a:lstStyle>
          <a:p>
            <a:fld id="{48A87A34-81AB-432B-8DAE-1953F412C126}" type="datetimeFigureOut">
              <a:rPr lang="en-US" dirty="0"/>
              <a:pPr/>
              <a:t>5/31/2026</a:t>
            </a:fld>
            <a:endParaRPr lang="en-US" dirty="0"/>
          </a:p>
        </p:txBody>
      </p:sp>
      <p:sp>
        <p:nvSpPr>
          <p:cNvPr id="5" name="Footer Placeholder 4"/>
          <p:cNvSpPr>
            <a:spLocks noGrp="1"/>
          </p:cNvSpPr>
          <p:nvPr>
            <p:ph type="ftr" sz="quarter" idx="11"/>
          </p:nvPr>
        </p:nvSpPr>
        <p:spPr>
          <a:xfrm>
            <a:off x="685800" y="381001"/>
            <a:ext cx="6991492" cy="364065"/>
          </a:xfrm>
        </p:spPr>
        <p:txBody>
          <a:bodyPr/>
          <a:lstStyle/>
          <a:p>
            <a:endParaRPr lang="en-US" dirty="0"/>
          </a:p>
        </p:txBody>
      </p:sp>
      <p:sp>
        <p:nvSpPr>
          <p:cNvPr id="6" name="Slide Number Placeholder 5"/>
          <p:cNvSpPr>
            <a:spLocks noGrp="1"/>
          </p:cNvSpPr>
          <p:nvPr>
            <p:ph type="sldNum" sz="quarter" idx="12"/>
          </p:nvPr>
        </p:nvSpPr>
        <p:spPr>
          <a:xfrm>
            <a:off x="10862452" y="381000"/>
            <a:ext cx="643748" cy="365125"/>
          </a:xfrm>
        </p:spPr>
        <p:txBody>
          <a:bodyPr/>
          <a:lstStyle/>
          <a:p>
            <a:fld id="{6D22F896-40B5-4ADD-8801-0D06FADFA09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800" y="2194559"/>
            <a:ext cx="5334000" cy="4024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194559"/>
            <a:ext cx="5334000" cy="4024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5/31/2026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895600" y="762000"/>
            <a:ext cx="8610600" cy="1295400"/>
          </a:xfrm>
        </p:spPr>
        <p:txBody>
          <a:bodyPr/>
          <a:lstStyle/>
          <a:p>
            <a:r>
              <a:rPr lang="en-US"/>
              <a:t>Click to edit Master title style</a:t>
            </a:r>
            <a:endParaRPr lang="en-US" dirty="0"/>
          </a:p>
        </p:txBody>
      </p:sp>
      <p:sp>
        <p:nvSpPr>
          <p:cNvPr id="3" name="Text Placeholder 2"/>
          <p:cNvSpPr>
            <a:spLocks noGrp="1"/>
          </p:cNvSpPr>
          <p:nvPr>
            <p:ph type="body" idx="1"/>
          </p:nvPr>
        </p:nvSpPr>
        <p:spPr>
          <a:xfrm>
            <a:off x="914409" y="2183802"/>
            <a:ext cx="5079991"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5800" y="3132666"/>
            <a:ext cx="5311775" cy="308601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0" y="2183802"/>
            <a:ext cx="5105400"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132666"/>
            <a:ext cx="5334000" cy="308601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5/31/2026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5/31/2026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dirty="0"/>
              <a:t>5/31/2026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4114800" cy="1600200"/>
          </a:xfrm>
        </p:spPr>
        <p:txBody>
          <a:bodyPr anchor="b"/>
          <a:lstStyle>
            <a:lvl1pPr algn="l">
              <a:defRPr sz="3200"/>
            </a:lvl1pPr>
          </a:lstStyle>
          <a:p>
            <a:r>
              <a:rPr lang="en-US"/>
              <a:t>Click to edit Master title style</a:t>
            </a:r>
            <a:endParaRPr lang="en-US" dirty="0"/>
          </a:p>
        </p:txBody>
      </p:sp>
      <p:sp>
        <p:nvSpPr>
          <p:cNvPr id="3" name="Content Placeholder 2"/>
          <p:cNvSpPr>
            <a:spLocks noGrp="1"/>
          </p:cNvSpPr>
          <p:nvPr>
            <p:ph idx="1"/>
          </p:nvPr>
        </p:nvSpPr>
        <p:spPr>
          <a:xfrm>
            <a:off x="4995582" y="746759"/>
            <a:ext cx="6510618" cy="5471925"/>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800" y="3124199"/>
            <a:ext cx="411480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5/31/2026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6873240" cy="1600200"/>
          </a:xfrm>
        </p:spPr>
        <p:txBody>
          <a:bodyPr anchor="b"/>
          <a:lstStyle>
            <a:lvl1pPr algn="l">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861238" y="751241"/>
            <a:ext cx="3644962" cy="5467443"/>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800" y="3124199"/>
            <a:ext cx="687324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5/31/2026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777" y="4697360"/>
            <a:ext cx="10822034" cy="819355"/>
          </a:xfrm>
        </p:spPr>
        <p:txBody>
          <a:bodyPr anchor="b"/>
          <a:lstStyle>
            <a:lvl1pPr algn="l">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681727" y="941439"/>
            <a:ext cx="10821840" cy="3478161"/>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800" y="5516715"/>
            <a:ext cx="10820400" cy="701969"/>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5/31/2026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pic>
        <p:nvPicPr>
          <p:cNvPr id="8" name="Picture 7"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2"/>
            <a:ext cx="10820400" cy="2802467"/>
          </a:xfrm>
        </p:spPr>
        <p:txBody>
          <a:bodyPr anchor="ctr"/>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1024467" y="3649133"/>
            <a:ext cx="10130516" cy="999067"/>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fld id="{48A87A34-81AB-432B-8DAE-1953F412C126}" type="datetimeFigureOut">
              <a:rPr lang="en-US" dirty="0"/>
              <a:pPr/>
              <a:t>5/31/2026</a:t>
            </a:fld>
            <a:endParaRPr lang="en-US" dirty="0"/>
          </a:p>
        </p:txBody>
      </p:sp>
      <p:sp>
        <p:nvSpPr>
          <p:cNvPr id="6" name="Footer Placeholder 5"/>
          <p:cNvSpPr>
            <a:spLocks noGrp="1"/>
          </p:cNvSpPr>
          <p:nvPr>
            <p:ph type="ftr" sz="quarter" idx="11"/>
          </p:nvPr>
        </p:nvSpPr>
        <p:spPr>
          <a:xfrm>
            <a:off x="685800" y="379941"/>
            <a:ext cx="6991492" cy="365125"/>
          </a:xfrm>
        </p:spPr>
        <p:txBody>
          <a:bodyPr/>
          <a:lstStyle/>
          <a:p>
            <a:endParaRPr lang="en-US" dirty="0"/>
          </a:p>
        </p:txBody>
      </p:sp>
      <p:sp>
        <p:nvSpPr>
          <p:cNvPr id="7" name="Slide Number Placeholder 6"/>
          <p:cNvSpPr>
            <a:spLocks noGrp="1"/>
          </p:cNvSpPr>
          <p:nvPr>
            <p:ph type="sldNum" sz="quarter" idx="12"/>
          </p:nvPr>
        </p:nvSpPr>
        <p:spPr>
          <a:xfrm>
            <a:off x="10862452" y="381000"/>
            <a:ext cx="643748" cy="365125"/>
          </a:xfrm>
        </p:spPr>
        <p:txBody>
          <a:bodyPr/>
          <a:lstStyle/>
          <a:p>
            <a:fld id="{6D22F896-40B5-4ADD-8801-0D06FADFA09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pic>
        <p:nvPicPr>
          <p:cNvPr id="13" name="Picture 12"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67" y="753533"/>
            <a:ext cx="10151533" cy="2604495"/>
          </a:xfrm>
        </p:spPr>
        <p:txBody>
          <a:bodyPr anchor="ctr"/>
          <a:lstStyle>
            <a:lvl1pPr algn="l">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303865" y="3365556"/>
            <a:ext cx="9592736" cy="444443"/>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024467" y="3959862"/>
            <a:ext cx="10151533" cy="679871"/>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fld id="{48A87A34-81AB-432B-8DAE-1953F412C126}" type="datetimeFigureOut">
              <a:rPr lang="en-US" dirty="0"/>
              <a:pPr/>
              <a:t>5/31/2026</a:t>
            </a:fld>
            <a:endParaRPr lang="en-US" dirty="0"/>
          </a:p>
        </p:txBody>
      </p:sp>
      <p:sp>
        <p:nvSpPr>
          <p:cNvPr id="6" name="Footer Placeholder 5"/>
          <p:cNvSpPr>
            <a:spLocks noGrp="1"/>
          </p:cNvSpPr>
          <p:nvPr>
            <p:ph type="ftr" sz="quarter" idx="11"/>
          </p:nvPr>
        </p:nvSpPr>
        <p:spPr>
          <a:xfrm>
            <a:off x="685800" y="379941"/>
            <a:ext cx="6991492" cy="365125"/>
          </a:xfrm>
        </p:spPr>
        <p:txBody>
          <a:bodyPr/>
          <a:lstStyle/>
          <a:p>
            <a:endParaRPr lang="en-US" dirty="0"/>
          </a:p>
        </p:txBody>
      </p:sp>
      <p:sp>
        <p:nvSpPr>
          <p:cNvPr id="7" name="Slide Number Placeholder 6"/>
          <p:cNvSpPr>
            <a:spLocks noGrp="1"/>
          </p:cNvSpPr>
          <p:nvPr>
            <p:ph type="sldNum" sz="quarter" idx="12"/>
          </p:nvPr>
        </p:nvSpPr>
        <p:spPr>
          <a:xfrm>
            <a:off x="10862452" y="381000"/>
            <a:ext cx="643748" cy="365125"/>
          </a:xfrm>
        </p:spPr>
        <p:txBody>
          <a:bodyPr/>
          <a:lstStyle/>
          <a:p>
            <a:fld id="{6D22F896-40B5-4ADD-8801-0D06FADFA095}" type="slidenum">
              <a:rPr lang="en-US" dirty="0"/>
              <a:t>‹#›</a:t>
            </a:fld>
            <a:endParaRPr lang="en-US" dirty="0"/>
          </a:p>
        </p:txBody>
      </p:sp>
      <p:sp>
        <p:nvSpPr>
          <p:cNvPr id="9" name="TextBox 8"/>
          <p:cNvSpPr txBox="1"/>
          <p:nvPr/>
        </p:nvSpPr>
        <p:spPr>
          <a:xfrm>
            <a:off x="476250" y="93345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0" name="TextBox 9"/>
          <p:cNvSpPr txBox="1"/>
          <p:nvPr/>
        </p:nvSpPr>
        <p:spPr>
          <a:xfrm>
            <a:off x="10984230" y="270129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pic>
        <p:nvPicPr>
          <p:cNvPr id="9" name="Picture 8"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95" y="1124701"/>
            <a:ext cx="10146186" cy="2511835"/>
          </a:xfrm>
        </p:spPr>
        <p:txBody>
          <a:bodyPr anchor="b"/>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1024467" y="3648315"/>
            <a:ext cx="10144654" cy="99988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814452" y="378883"/>
            <a:ext cx="2910840" cy="365125"/>
          </a:xfrm>
        </p:spPr>
        <p:txBody>
          <a:bodyPr/>
          <a:lstStyle>
            <a:lvl1pPr algn="r">
              <a:defRPr/>
            </a:lvl1pPr>
          </a:lstStyle>
          <a:p>
            <a:fld id="{48A87A34-81AB-432B-8DAE-1953F412C126}" type="datetimeFigureOut">
              <a:rPr lang="en-US" dirty="0"/>
              <a:pPr/>
              <a:t>5/31/2026</a:t>
            </a:fld>
            <a:endParaRPr lang="en-US" dirty="0"/>
          </a:p>
        </p:txBody>
      </p:sp>
      <p:sp>
        <p:nvSpPr>
          <p:cNvPr id="6" name="Footer Placeholder 5"/>
          <p:cNvSpPr>
            <a:spLocks noGrp="1"/>
          </p:cNvSpPr>
          <p:nvPr>
            <p:ph type="ftr" sz="quarter" idx="11"/>
          </p:nvPr>
        </p:nvSpPr>
        <p:spPr>
          <a:xfrm>
            <a:off x="685800" y="378883"/>
            <a:ext cx="6991492" cy="365125"/>
          </a:xfrm>
        </p:spPr>
        <p:txBody>
          <a:bodyPr/>
          <a:lstStyle/>
          <a:p>
            <a:endParaRPr lang="en-US" dirty="0"/>
          </a:p>
        </p:txBody>
      </p:sp>
      <p:sp>
        <p:nvSpPr>
          <p:cNvPr id="7" name="Slide Number Placeholder 6"/>
          <p:cNvSpPr>
            <a:spLocks noGrp="1"/>
          </p:cNvSpPr>
          <p:nvPr>
            <p:ph type="sldNum" sz="quarter" idx="12"/>
          </p:nvPr>
        </p:nvSpPr>
        <p:spPr>
          <a:xfrm>
            <a:off x="10862452" y="381000"/>
            <a:ext cx="643748" cy="365125"/>
          </a:xfrm>
        </p:spPr>
        <p:txBody>
          <a:bodyPr/>
          <a:lstStyle/>
          <a:p>
            <a:fld id="{6D22F896-40B5-4ADD-8801-0D06FADFA09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2895600" y="761999"/>
            <a:ext cx="8610599" cy="1303867"/>
          </a:xfrm>
        </p:spPr>
        <p:txBody>
          <a:bodyPr/>
          <a:lstStyle/>
          <a:p>
            <a:r>
              <a:rPr lang="en-US"/>
              <a:t>Click to edit Master title style</a:t>
            </a:r>
            <a:endParaRPr lang="en-US" dirty="0"/>
          </a:p>
        </p:txBody>
      </p:sp>
      <p:sp>
        <p:nvSpPr>
          <p:cNvPr id="7" name="Text Placeholder 2"/>
          <p:cNvSpPr>
            <a:spLocks noGrp="1"/>
          </p:cNvSpPr>
          <p:nvPr>
            <p:ph type="body" idx="1"/>
          </p:nvPr>
        </p:nvSpPr>
        <p:spPr>
          <a:xfrm>
            <a:off x="685800" y="2202080"/>
            <a:ext cx="3456432" cy="617320"/>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685799"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368800" y="2201333"/>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366858" y="2904067"/>
            <a:ext cx="3456432" cy="331461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8051800" y="2192866"/>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8051801"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5/31/2026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2895600" y="762000"/>
            <a:ext cx="8610599" cy="12954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688618" y="4191000"/>
            <a:ext cx="3451582"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688618" y="2362200"/>
            <a:ext cx="3451582"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688618" y="4873764"/>
            <a:ext cx="3451582"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374263" y="4191000"/>
            <a:ext cx="3448935"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374263" y="2362200"/>
            <a:ext cx="3448936"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374264" y="4873763"/>
            <a:ext cx="344893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8049731" y="4191000"/>
            <a:ext cx="3456469"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049855" y="2362200"/>
            <a:ext cx="3447878"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8049731" y="4873761"/>
            <a:ext cx="345244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5/31/2026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685800" y="2194559"/>
            <a:ext cx="10820400" cy="40241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5/31/2026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pic>
        <p:nvPicPr>
          <p:cNvPr id="8" name="Picture 7"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Vertical Title 1"/>
          <p:cNvSpPr>
            <a:spLocks noGrp="1"/>
          </p:cNvSpPr>
          <p:nvPr>
            <p:ph type="title" orient="vert"/>
          </p:nvPr>
        </p:nvSpPr>
        <p:spPr>
          <a:xfrm>
            <a:off x="9448800" y="745066"/>
            <a:ext cx="2057400" cy="3903133"/>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024466" y="745067"/>
            <a:ext cx="8204201" cy="390313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7814452" y="379941"/>
            <a:ext cx="2910840" cy="365125"/>
          </a:xfrm>
        </p:spPr>
        <p:txBody>
          <a:bodyPr/>
          <a:lstStyle>
            <a:lvl1pPr algn="r">
              <a:defRPr/>
            </a:lvl1pPr>
          </a:lstStyle>
          <a:p>
            <a:fld id="{48A87A34-81AB-432B-8DAE-1953F412C126}" type="datetimeFigureOut">
              <a:rPr lang="en-US" dirty="0"/>
              <a:pPr/>
              <a:t>5/31/2026</a:t>
            </a:fld>
            <a:endParaRPr lang="en-US" dirty="0"/>
          </a:p>
        </p:txBody>
      </p:sp>
      <p:sp>
        <p:nvSpPr>
          <p:cNvPr id="5" name="Footer Placeholder 4"/>
          <p:cNvSpPr>
            <a:spLocks noGrp="1"/>
          </p:cNvSpPr>
          <p:nvPr>
            <p:ph type="ftr" sz="quarter" idx="11"/>
          </p:nvPr>
        </p:nvSpPr>
        <p:spPr>
          <a:xfrm>
            <a:off x="685800" y="381000"/>
            <a:ext cx="6991492" cy="365125"/>
          </a:xfrm>
        </p:spPr>
        <p:txBody>
          <a:bodyPr/>
          <a:lstStyle/>
          <a:p>
            <a:endParaRPr lang="en-US" dirty="0"/>
          </a:p>
        </p:txBody>
      </p:sp>
      <p:sp>
        <p:nvSpPr>
          <p:cNvPr id="6" name="Slide Number Placeholder 5"/>
          <p:cNvSpPr>
            <a:spLocks noGrp="1"/>
          </p:cNvSpPr>
          <p:nvPr>
            <p:ph type="sldNum" sz="quarter" idx="12"/>
          </p:nvPr>
        </p:nvSpPr>
        <p:spPr>
          <a:xfrm>
            <a:off x="10862452" y="381000"/>
            <a:ext cx="643748" cy="365125"/>
          </a:xfrm>
        </p:spPr>
        <p:txBody>
          <a:bodyPr/>
          <a:lstStyle/>
          <a:p>
            <a:fld id="{6D22F896-40B5-4ADD-8801-0D06FADFA09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descr="C0-HD-TOP.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92000" cy="1441450"/>
          </a:xfrm>
          <a:prstGeom prst="rect">
            <a:avLst/>
          </a:prstGeom>
        </p:spPr>
      </p:pic>
      <p:sp>
        <p:nvSpPr>
          <p:cNvPr id="2" name="Title Placeholder 1"/>
          <p:cNvSpPr>
            <a:spLocks noGrp="1"/>
          </p:cNvSpPr>
          <p:nvPr>
            <p:ph type="title"/>
          </p:nvPr>
        </p:nvSpPr>
        <p:spPr>
          <a:xfrm>
            <a:off x="2895600" y="764373"/>
            <a:ext cx="8610600" cy="129302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0" y="2194560"/>
            <a:ext cx="10820400" cy="402412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595360" y="6356350"/>
            <a:ext cx="291084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48A87A34-81AB-432B-8DAE-1953F412C126}" type="datetimeFigureOut">
              <a:rPr lang="en-US" dirty="0"/>
              <a:pPr/>
              <a:t>5/31/2026</a:t>
            </a:fld>
            <a:endParaRPr lang="en-US" dirty="0"/>
          </a:p>
        </p:txBody>
      </p:sp>
      <p:sp>
        <p:nvSpPr>
          <p:cNvPr id="5" name="Footer Placeholder 4"/>
          <p:cNvSpPr>
            <a:spLocks noGrp="1"/>
          </p:cNvSpPr>
          <p:nvPr>
            <p:ph type="ftr" sz="quarter" idx="3"/>
          </p:nvPr>
        </p:nvSpPr>
        <p:spPr>
          <a:xfrm>
            <a:off x="685800" y="6355845"/>
            <a:ext cx="7772400"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763000" y="381000"/>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6D22F896-40B5-4ADD-8801-0D06FADFA09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Lst>
  <p:txStyles>
    <p:titleStyle>
      <a:lvl1pPr algn="r" defTabSz="914400" rtl="0" eaLnBrk="1" latinLnBrk="0" hangingPunct="1">
        <a:lnSpc>
          <a:spcPct val="90000"/>
        </a:lnSpc>
        <a:spcBef>
          <a:spcPct val="0"/>
        </a:spcBef>
        <a:buNone/>
        <a:defRPr sz="4000"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38F170-F3B4-84FF-1FEC-AA26D5E1503C}"/>
              </a:ext>
            </a:extLst>
          </p:cNvPr>
          <p:cNvSpPr>
            <a:spLocks noGrp="1"/>
          </p:cNvSpPr>
          <p:nvPr>
            <p:ph type="ctrTitle"/>
          </p:nvPr>
        </p:nvSpPr>
        <p:spPr>
          <a:xfrm>
            <a:off x="998376" y="123372"/>
            <a:ext cx="10618236" cy="5251061"/>
          </a:xfrm>
        </p:spPr>
        <p:txBody>
          <a:bodyPr>
            <a:normAutofit/>
          </a:bodyPr>
          <a:lstStyle/>
          <a:p>
            <a:pPr algn="ctr">
              <a:lnSpc>
                <a:spcPct val="100000"/>
              </a:lnSpc>
            </a:pPr>
            <a:r>
              <a:rPr lang="bg-BG" sz="3600" b="1" i="1" dirty="0">
                <a:latin typeface="Arial" panose="020B0604020202020204" pitchFamily="34" charset="0"/>
                <a:cs typeface="Arial" panose="020B0604020202020204" pitchFamily="34" charset="0"/>
              </a:rPr>
              <a:t>Групово обучение на инструктори</a:t>
            </a:r>
            <a:br>
              <a:rPr lang="bg-BG" sz="3600" dirty="0">
                <a:latin typeface="Arial" panose="020B0604020202020204" pitchFamily="34" charset="0"/>
                <a:cs typeface="Arial" panose="020B0604020202020204" pitchFamily="34" charset="0"/>
              </a:rPr>
            </a:br>
            <a:r>
              <a:rPr lang="bg-BG" sz="3600" dirty="0">
                <a:latin typeface="Arial" panose="020B0604020202020204" pitchFamily="34" charset="0"/>
                <a:cs typeface="Arial" panose="020B0604020202020204" pitchFamily="34" charset="0"/>
              </a:rPr>
              <a:t> </a:t>
            </a:r>
            <a:br>
              <a:rPr lang="bg-BG" sz="3600" dirty="0">
                <a:latin typeface="Arial" panose="020B0604020202020204" pitchFamily="34" charset="0"/>
                <a:cs typeface="Arial" panose="020B0604020202020204" pitchFamily="34" charset="0"/>
              </a:rPr>
            </a:br>
            <a:r>
              <a:rPr lang="bg-BG" sz="3600" b="1" i="1" dirty="0">
                <a:latin typeface="Arial" panose="020B0604020202020204" pitchFamily="34" charset="0"/>
                <a:cs typeface="Arial" panose="020B0604020202020204" pitchFamily="34" charset="0"/>
              </a:rPr>
              <a:t>Очаквания и опит на участниците</a:t>
            </a:r>
            <a:br>
              <a:rPr lang="bg-BG" sz="2200" dirty="0">
                <a:latin typeface="Arial" panose="020B0604020202020204" pitchFamily="34" charset="0"/>
                <a:cs typeface="Arial" panose="020B0604020202020204" pitchFamily="34" charset="0"/>
              </a:rPr>
            </a:br>
            <a:r>
              <a:rPr lang="bg-BG" sz="2200" dirty="0">
                <a:latin typeface="Arial" panose="020B0604020202020204" pitchFamily="34" charset="0"/>
                <a:cs typeface="Arial" panose="020B0604020202020204" pitchFamily="34" charset="0"/>
              </a:rPr>
              <a:t>  </a:t>
            </a:r>
            <a:br>
              <a:rPr lang="bg-BG" sz="2200" dirty="0">
                <a:latin typeface="Arial" panose="020B0604020202020204" pitchFamily="34" charset="0"/>
                <a:cs typeface="Arial" panose="020B0604020202020204" pitchFamily="34" charset="0"/>
              </a:rPr>
            </a:br>
            <a:br>
              <a:rPr lang="bg-BG" sz="2200" dirty="0">
                <a:latin typeface="Arial" panose="020B0604020202020204" pitchFamily="34" charset="0"/>
                <a:cs typeface="Arial" panose="020B0604020202020204" pitchFamily="34" charset="0"/>
              </a:rPr>
            </a:br>
            <a:br>
              <a:rPr lang="bg-BG" sz="2200" dirty="0">
                <a:latin typeface="Arial" panose="020B0604020202020204" pitchFamily="34" charset="0"/>
                <a:cs typeface="Arial" panose="020B0604020202020204" pitchFamily="34" charset="0"/>
              </a:rPr>
            </a:br>
            <a:br>
              <a:rPr lang="bg-BG" sz="2200" dirty="0">
                <a:latin typeface="Arial" panose="020B0604020202020204" pitchFamily="34" charset="0"/>
                <a:cs typeface="Arial" panose="020B0604020202020204" pitchFamily="34" charset="0"/>
              </a:rPr>
            </a:br>
            <a:r>
              <a:rPr lang="bg-BG" sz="2200" i="1" dirty="0">
                <a:latin typeface="Arial" panose="020B0604020202020204" pitchFamily="34" charset="0"/>
                <a:cs typeface="Arial" panose="020B0604020202020204" pitchFamily="34" charset="0"/>
              </a:rPr>
              <a:t>Изготвил: </a:t>
            </a:r>
            <a:r>
              <a:rPr lang="bg-BG" sz="2200" b="1" i="1" dirty="0">
                <a:latin typeface="Arial" panose="020B0604020202020204" pitchFamily="34" charset="0"/>
                <a:cs typeface="Arial" panose="020B0604020202020204" pitchFamily="34" charset="0"/>
              </a:rPr>
              <a:t>Димитър Първанов</a:t>
            </a:r>
            <a:br>
              <a:rPr lang="bg-BG" sz="2200" dirty="0">
                <a:latin typeface="Arial" panose="020B0604020202020204" pitchFamily="34" charset="0"/>
                <a:cs typeface="Arial" panose="020B0604020202020204" pitchFamily="34" charset="0"/>
              </a:rPr>
            </a:br>
            <a:r>
              <a:rPr lang="bg-BG" sz="2200" i="1" dirty="0">
                <a:latin typeface="Arial" panose="020B0604020202020204" pitchFamily="34" charset="0"/>
                <a:cs typeface="Arial" panose="020B0604020202020204" pitchFamily="34" charset="0"/>
              </a:rPr>
              <a:t>Факултетен номер:25002070</a:t>
            </a:r>
            <a:br>
              <a:rPr lang="bg-BG" sz="2200" dirty="0">
                <a:latin typeface="Arial" panose="020B0604020202020204" pitchFamily="34" charset="0"/>
                <a:cs typeface="Arial" panose="020B0604020202020204" pitchFamily="34" charset="0"/>
              </a:rPr>
            </a:br>
            <a:r>
              <a:rPr lang="bg-BG" sz="2200" i="1" dirty="0">
                <a:latin typeface="Arial" panose="020B0604020202020204" pitchFamily="34" charset="0"/>
                <a:cs typeface="Arial" panose="020B0604020202020204" pitchFamily="34" charset="0"/>
              </a:rPr>
              <a:t>Преподавател:</a:t>
            </a:r>
            <a:r>
              <a:rPr lang="bg-BG" sz="2200" dirty="0">
                <a:latin typeface="Arial" panose="020B0604020202020204" pitchFamily="34" charset="0"/>
                <a:cs typeface="Arial" panose="020B0604020202020204" pitchFamily="34" charset="0"/>
              </a:rPr>
              <a:t> </a:t>
            </a:r>
            <a:r>
              <a:rPr lang="bg-BG" sz="2200" b="1" i="1" dirty="0">
                <a:latin typeface="Arial" panose="020B0604020202020204" pitchFamily="34" charset="0"/>
                <a:cs typeface="Arial" panose="020B0604020202020204" pitchFamily="34" charset="0"/>
              </a:rPr>
              <a:t>доц. Красимир Спиров</a:t>
            </a:r>
            <a:br>
              <a:rPr lang="bg-BG" sz="2200" dirty="0">
                <a:latin typeface="Arial" panose="020B0604020202020204" pitchFamily="34" charset="0"/>
                <a:cs typeface="Arial" panose="020B0604020202020204" pitchFamily="34" charset="0"/>
              </a:rPr>
            </a:br>
            <a:r>
              <a:rPr lang="bg-BG" sz="2200" dirty="0">
                <a:latin typeface="Arial" panose="020B0604020202020204" pitchFamily="34" charset="0"/>
                <a:cs typeface="Arial" panose="020B0604020202020204" pitchFamily="34" charset="0"/>
              </a:rPr>
              <a:t> </a:t>
            </a:r>
            <a:endParaRPr lang="bg-BG" dirty="0"/>
          </a:p>
        </p:txBody>
      </p:sp>
      <p:sp>
        <p:nvSpPr>
          <p:cNvPr id="3" name="Subtitle 2">
            <a:extLst>
              <a:ext uri="{FF2B5EF4-FFF2-40B4-BE49-F238E27FC236}">
                <a16:creationId xmlns:a16="http://schemas.microsoft.com/office/drawing/2014/main" id="{200812EB-56DB-DA03-0EBE-6641ED9D0518}"/>
              </a:ext>
            </a:extLst>
          </p:cNvPr>
          <p:cNvSpPr>
            <a:spLocks noGrp="1"/>
          </p:cNvSpPr>
          <p:nvPr>
            <p:ph type="subTitle" idx="1"/>
          </p:nvPr>
        </p:nvSpPr>
        <p:spPr>
          <a:xfrm>
            <a:off x="998376" y="5915609"/>
            <a:ext cx="10487608" cy="709126"/>
          </a:xfrm>
        </p:spPr>
        <p:txBody>
          <a:bodyPr/>
          <a:lstStyle/>
          <a:p>
            <a:pPr algn="ctr"/>
            <a:r>
              <a:rPr lang="bg-BG" dirty="0">
                <a:latin typeface="Arial" panose="020B0604020202020204" pitchFamily="34" charset="0"/>
                <a:cs typeface="Arial" panose="020B0604020202020204" pitchFamily="34" charset="0"/>
              </a:rPr>
              <a:t>гр. София</a:t>
            </a:r>
            <a:br>
              <a:rPr lang="bg-BG" dirty="0">
                <a:latin typeface="Arial" panose="020B0604020202020204" pitchFamily="34" charset="0"/>
                <a:cs typeface="Arial" panose="020B0604020202020204" pitchFamily="34" charset="0"/>
              </a:rPr>
            </a:br>
            <a:r>
              <a:rPr lang="bg-BG" dirty="0">
                <a:latin typeface="Arial" panose="020B0604020202020204" pitchFamily="34" charset="0"/>
                <a:cs typeface="Arial" panose="020B0604020202020204" pitchFamily="34" charset="0"/>
              </a:rPr>
              <a:t>2026 г.</a:t>
            </a:r>
            <a:endParaRPr lang="bg-BG" dirty="0"/>
          </a:p>
        </p:txBody>
      </p:sp>
    </p:spTree>
    <p:extLst>
      <p:ext uri="{BB962C8B-B14F-4D97-AF65-F5344CB8AC3E}">
        <p14:creationId xmlns:p14="http://schemas.microsoft.com/office/powerpoint/2010/main" val="33036220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AAC755-18FA-7965-60E6-A793A31F3A32}"/>
              </a:ext>
            </a:extLst>
          </p:cNvPr>
          <p:cNvSpPr>
            <a:spLocks noGrp="1"/>
          </p:cNvSpPr>
          <p:nvPr>
            <p:ph type="title"/>
          </p:nvPr>
        </p:nvSpPr>
        <p:spPr>
          <a:xfrm>
            <a:off x="587829" y="195206"/>
            <a:ext cx="10918371" cy="597896"/>
          </a:xfrm>
        </p:spPr>
        <p:txBody>
          <a:bodyPr>
            <a:normAutofit/>
          </a:bodyPr>
          <a:lstStyle/>
          <a:p>
            <a:pPr algn="ctr"/>
            <a:r>
              <a:rPr lang="bg-BG" sz="1400" b="1" i="1" dirty="0">
                <a:latin typeface="Arial" panose="020B0604020202020204" pitchFamily="34" charset="0"/>
                <a:cs typeface="Arial" panose="020B0604020202020204" pitchFamily="34" charset="0"/>
              </a:rPr>
              <a:t>Групово обучение на инструктори</a:t>
            </a:r>
            <a:br>
              <a:rPr lang="bg-BG" sz="1400" dirty="0">
                <a:latin typeface="Arial" panose="020B0604020202020204" pitchFamily="34" charset="0"/>
                <a:cs typeface="Arial" panose="020B0604020202020204" pitchFamily="34" charset="0"/>
              </a:rPr>
            </a:br>
            <a:r>
              <a:rPr lang="bg-BG" sz="1400" dirty="0">
                <a:latin typeface="Arial" panose="020B0604020202020204" pitchFamily="34" charset="0"/>
                <a:cs typeface="Arial" panose="020B0604020202020204" pitchFamily="34" charset="0"/>
              </a:rPr>
              <a:t> </a:t>
            </a:r>
            <a:r>
              <a:rPr lang="bg-BG" sz="1400" b="1" i="1" dirty="0">
                <a:latin typeface="Arial" panose="020B0604020202020204" pitchFamily="34" charset="0"/>
                <a:cs typeface="Arial" panose="020B0604020202020204" pitchFamily="34" charset="0"/>
              </a:rPr>
              <a:t>Очаквания и опит на участниците</a:t>
            </a:r>
            <a:endParaRPr lang="bg-BG" sz="1400" dirty="0"/>
          </a:p>
        </p:txBody>
      </p:sp>
      <p:sp>
        <p:nvSpPr>
          <p:cNvPr id="3" name="Content Placeholder 2">
            <a:extLst>
              <a:ext uri="{FF2B5EF4-FFF2-40B4-BE49-F238E27FC236}">
                <a16:creationId xmlns:a16="http://schemas.microsoft.com/office/drawing/2014/main" id="{DEEE0099-24C4-F147-EFBE-CB9BFC1B3E46}"/>
              </a:ext>
            </a:extLst>
          </p:cNvPr>
          <p:cNvSpPr>
            <a:spLocks noGrp="1"/>
          </p:cNvSpPr>
          <p:nvPr>
            <p:ph idx="1"/>
          </p:nvPr>
        </p:nvSpPr>
        <p:spPr>
          <a:xfrm>
            <a:off x="494523" y="793102"/>
            <a:ext cx="11011678" cy="5701004"/>
          </a:xfrm>
        </p:spPr>
        <p:txBody>
          <a:bodyPr>
            <a:normAutofit fontScale="85000" lnSpcReduction="20000"/>
          </a:bodyPr>
          <a:lstStyle/>
          <a:p>
            <a:pPr marL="0" indent="0">
              <a:buNone/>
            </a:pPr>
            <a:r>
              <a:rPr lang="bg-BG" sz="2600" b="1" dirty="0">
                <a:latin typeface="Arial" panose="020B0604020202020204" pitchFamily="34" charset="0"/>
                <a:cs typeface="Arial" panose="020B0604020202020204" pitchFamily="34" charset="0"/>
              </a:rPr>
              <a:t>Съдържание:</a:t>
            </a:r>
          </a:p>
          <a:p>
            <a:endParaRPr lang="bg-BG" dirty="0">
              <a:latin typeface="Arial" panose="020B0604020202020204" pitchFamily="34" charset="0"/>
              <a:cs typeface="Arial" panose="020B0604020202020204" pitchFamily="34" charset="0"/>
            </a:endParaRPr>
          </a:p>
          <a:p>
            <a:pPr marL="457200" lvl="0" indent="-457200">
              <a:buFont typeface="+mj-lt"/>
              <a:buAutoNum type="arabicPeriod"/>
            </a:pPr>
            <a:r>
              <a:rPr lang="bg-BG" dirty="0">
                <a:latin typeface="Arial" panose="020B0604020202020204" pitchFamily="34" charset="0"/>
                <a:cs typeface="Arial" panose="020B0604020202020204" pitchFamily="34" charset="0"/>
              </a:rPr>
              <a:t>Увод</a:t>
            </a:r>
          </a:p>
          <a:p>
            <a:pPr marL="457200" lvl="0" indent="-457200">
              <a:buFont typeface="+mj-lt"/>
              <a:buAutoNum type="arabicPeriod"/>
            </a:pPr>
            <a:r>
              <a:rPr lang="bg-BG" dirty="0">
                <a:latin typeface="Arial" panose="020B0604020202020204" pitchFamily="34" charset="0"/>
                <a:cs typeface="Arial" panose="020B0604020202020204" pitchFamily="34" charset="0"/>
              </a:rPr>
              <a:t>Същност на груповото обучение </a:t>
            </a:r>
          </a:p>
          <a:p>
            <a:pPr marL="457200" lvl="0" indent="-457200">
              <a:buFont typeface="+mj-lt"/>
              <a:buAutoNum type="arabicPeriod"/>
            </a:pPr>
            <a:r>
              <a:rPr lang="bg-BG" dirty="0">
                <a:latin typeface="Arial" panose="020B0604020202020204" pitchFamily="34" charset="0"/>
                <a:cs typeface="Arial" panose="020B0604020202020204" pitchFamily="34" charset="0"/>
              </a:rPr>
              <a:t>Очаквания на участниците </a:t>
            </a:r>
          </a:p>
          <a:p>
            <a:pPr marL="457200" lvl="0" indent="-457200">
              <a:buFont typeface="+mj-lt"/>
              <a:buAutoNum type="arabicPeriod"/>
            </a:pPr>
            <a:r>
              <a:rPr lang="bg-BG" dirty="0">
                <a:latin typeface="Arial" panose="020B0604020202020204" pitchFamily="34" charset="0"/>
                <a:cs typeface="Arial" panose="020B0604020202020204" pitchFamily="34" charset="0"/>
              </a:rPr>
              <a:t>Реален опит на участниците </a:t>
            </a:r>
          </a:p>
          <a:p>
            <a:pPr marL="457200" lvl="0" indent="-457200">
              <a:buFont typeface="+mj-lt"/>
              <a:buAutoNum type="arabicPeriod"/>
            </a:pPr>
            <a:r>
              <a:rPr lang="bg-BG" dirty="0">
                <a:latin typeface="Arial" panose="020B0604020202020204" pitchFamily="34" charset="0"/>
                <a:cs typeface="Arial" panose="020B0604020202020204" pitchFamily="34" charset="0"/>
              </a:rPr>
              <a:t>Методи и техники </a:t>
            </a:r>
          </a:p>
          <a:p>
            <a:pPr marL="457200" lvl="0" indent="-457200">
              <a:buFont typeface="+mj-lt"/>
              <a:buAutoNum type="arabicPeriod"/>
            </a:pPr>
            <a:r>
              <a:rPr lang="bg-BG" dirty="0">
                <a:latin typeface="Arial" panose="020B0604020202020204" pitchFamily="34" charset="0"/>
                <a:cs typeface="Arial" panose="020B0604020202020204" pitchFamily="34" charset="0"/>
              </a:rPr>
              <a:t>Фактори за ефективност </a:t>
            </a:r>
          </a:p>
          <a:p>
            <a:pPr marL="457200" lvl="0" indent="-457200">
              <a:buFont typeface="+mj-lt"/>
              <a:buAutoNum type="arabicPeriod"/>
            </a:pPr>
            <a:r>
              <a:rPr lang="bg-BG" dirty="0">
                <a:latin typeface="Arial" panose="020B0604020202020204" pitchFamily="34" charset="0"/>
                <a:cs typeface="Arial" panose="020B0604020202020204" pitchFamily="34" charset="0"/>
              </a:rPr>
              <a:t>Практически препоръки </a:t>
            </a:r>
          </a:p>
          <a:p>
            <a:pPr marL="457200" lvl="0" indent="-457200">
              <a:buFont typeface="+mj-lt"/>
              <a:buAutoNum type="arabicPeriod"/>
            </a:pPr>
            <a:r>
              <a:rPr lang="bg-BG" dirty="0">
                <a:latin typeface="Arial" panose="020B0604020202020204" pitchFamily="34" charset="0"/>
                <a:cs typeface="Arial" panose="020B0604020202020204" pitchFamily="34" charset="0"/>
              </a:rPr>
              <a:t>Анализ на ефективността на груповото обучение</a:t>
            </a:r>
          </a:p>
          <a:p>
            <a:pPr marL="457200" lvl="0" indent="-457200">
              <a:buFont typeface="+mj-lt"/>
              <a:buAutoNum type="arabicPeriod"/>
            </a:pPr>
            <a:r>
              <a:rPr lang="bg-BG" dirty="0">
                <a:latin typeface="Arial" panose="020B0604020202020204" pitchFamily="34" charset="0"/>
                <a:cs typeface="Arial" panose="020B0604020202020204" pitchFamily="34" charset="0"/>
              </a:rPr>
              <a:t>Анализ на груповата динамика</a:t>
            </a:r>
          </a:p>
          <a:p>
            <a:pPr marL="457200" lvl="0" indent="-457200">
              <a:buFont typeface="+mj-lt"/>
              <a:buAutoNum type="arabicPeriod"/>
            </a:pPr>
            <a:r>
              <a:rPr lang="bg-BG" dirty="0">
                <a:latin typeface="Arial" panose="020B0604020202020204" pitchFamily="34" charset="0"/>
                <a:cs typeface="Arial" panose="020B0604020202020204" pitchFamily="34" charset="0"/>
              </a:rPr>
              <a:t> Сравнителен анализ: групово и индивидуално обучение</a:t>
            </a:r>
          </a:p>
          <a:p>
            <a:pPr marL="457200" lvl="0" indent="-457200">
              <a:buFont typeface="+mj-lt"/>
              <a:buAutoNum type="arabicPeriod"/>
            </a:pPr>
            <a:r>
              <a:rPr lang="bg-BG" dirty="0">
                <a:latin typeface="Arial" panose="020B0604020202020204" pitchFamily="34" charset="0"/>
                <a:cs typeface="Arial" panose="020B0604020202020204" pitchFamily="34" charset="0"/>
              </a:rPr>
              <a:t> Роля на емоционалната интелигентност</a:t>
            </a:r>
          </a:p>
          <a:p>
            <a:pPr marL="457200" lvl="0" indent="-457200">
              <a:buFont typeface="+mj-lt"/>
              <a:buAutoNum type="arabicPeriod"/>
            </a:pPr>
            <a:r>
              <a:rPr lang="bg-BG" dirty="0">
                <a:latin typeface="Arial" panose="020B0604020202020204" pitchFamily="34" charset="0"/>
                <a:cs typeface="Arial" panose="020B0604020202020204" pitchFamily="34" charset="0"/>
              </a:rPr>
              <a:t> Влияние на дигиталните технологии</a:t>
            </a:r>
          </a:p>
          <a:p>
            <a:pPr marL="457200" lvl="0" indent="-457200">
              <a:buFont typeface="+mj-lt"/>
              <a:buAutoNum type="arabicPeriod"/>
            </a:pPr>
            <a:r>
              <a:rPr lang="bg-BG" dirty="0">
                <a:latin typeface="Arial" panose="020B0604020202020204" pitchFamily="34" charset="0"/>
                <a:cs typeface="Arial" panose="020B0604020202020204" pitchFamily="34" charset="0"/>
              </a:rPr>
              <a:t> Критичен анализ</a:t>
            </a:r>
          </a:p>
          <a:p>
            <a:pPr marL="457200" lvl="0" indent="-457200">
              <a:buFont typeface="+mj-lt"/>
              <a:buAutoNum type="arabicPeriod"/>
            </a:pPr>
            <a:r>
              <a:rPr lang="bg-BG" dirty="0">
                <a:latin typeface="Arial" panose="020B0604020202020204" pitchFamily="34" charset="0"/>
                <a:cs typeface="Arial" panose="020B0604020202020204" pitchFamily="34" charset="0"/>
              </a:rPr>
              <a:t> Заключение</a:t>
            </a:r>
          </a:p>
          <a:p>
            <a:pPr marL="457200" lvl="0" indent="-457200">
              <a:buFont typeface="+mj-lt"/>
              <a:buAutoNum type="arabicPeriod"/>
            </a:pPr>
            <a:r>
              <a:rPr lang="bg-BG" dirty="0">
                <a:latin typeface="Arial" panose="020B0604020202020204" pitchFamily="34" charset="0"/>
                <a:cs typeface="Arial" panose="020B0604020202020204" pitchFamily="34" charset="0"/>
              </a:rPr>
              <a:t> Литература </a:t>
            </a:r>
          </a:p>
          <a:p>
            <a:endParaRPr lang="bg-BG" dirty="0"/>
          </a:p>
        </p:txBody>
      </p:sp>
    </p:spTree>
    <p:extLst>
      <p:ext uri="{BB962C8B-B14F-4D97-AF65-F5344CB8AC3E}">
        <p14:creationId xmlns:p14="http://schemas.microsoft.com/office/powerpoint/2010/main" val="6985488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FE1B1B-1054-A9DF-6597-A8A411AF65D9}"/>
              </a:ext>
            </a:extLst>
          </p:cNvPr>
          <p:cNvSpPr>
            <a:spLocks noGrp="1"/>
          </p:cNvSpPr>
          <p:nvPr>
            <p:ph type="title"/>
          </p:nvPr>
        </p:nvSpPr>
        <p:spPr>
          <a:xfrm>
            <a:off x="475861" y="335902"/>
            <a:ext cx="11030339" cy="681135"/>
          </a:xfrm>
        </p:spPr>
        <p:txBody>
          <a:bodyPr>
            <a:normAutofit/>
          </a:bodyPr>
          <a:lstStyle/>
          <a:p>
            <a:pPr algn="ctr"/>
            <a:r>
              <a:rPr lang="bg-BG" sz="3000" b="1" i="1" dirty="0">
                <a:latin typeface="Arial" panose="020B0604020202020204" pitchFamily="34" charset="0"/>
                <a:cs typeface="Arial" panose="020B0604020202020204" pitchFamily="34" charset="0"/>
              </a:rPr>
              <a:t>1. Увод</a:t>
            </a:r>
            <a:endParaRPr lang="bg-BG" sz="3000"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ABA3B946-E8CA-8DCE-739C-E1A9C1DF3CF5}"/>
              </a:ext>
            </a:extLst>
          </p:cNvPr>
          <p:cNvSpPr>
            <a:spLocks noGrp="1"/>
          </p:cNvSpPr>
          <p:nvPr>
            <p:ph idx="1"/>
          </p:nvPr>
        </p:nvSpPr>
        <p:spPr>
          <a:xfrm>
            <a:off x="802434" y="1091682"/>
            <a:ext cx="10703766" cy="5430416"/>
          </a:xfrm>
        </p:spPr>
        <p:txBody>
          <a:bodyPr>
            <a:normAutofit fontScale="92500" lnSpcReduction="20000"/>
          </a:bodyPr>
          <a:lstStyle/>
          <a:p>
            <a:pPr marL="0" indent="0" algn="just">
              <a:lnSpc>
                <a:spcPct val="120000"/>
              </a:lnSpc>
              <a:buNone/>
            </a:pPr>
            <a:r>
              <a:rPr lang="bg-BG" dirty="0"/>
              <a:t>	</a:t>
            </a:r>
            <a:r>
              <a:rPr lang="bg-BG" sz="2800" dirty="0">
                <a:latin typeface="Arial" panose="020B0604020202020204" pitchFamily="34" charset="0"/>
                <a:cs typeface="Arial" panose="020B0604020202020204" pitchFamily="34" charset="0"/>
              </a:rPr>
              <a:t>В съвременната образователна среда ролята на инструкторите се разширява значително. Те не само предават знания, но и подпомагат развитието на умения, нагласи и поведение. Груповото обучение се утвърждава като ефективен метод за подготовка на инструктори, тъй като съчетава теория и практика, както и социално взаимодействие.</a:t>
            </a:r>
          </a:p>
          <a:p>
            <a:pPr marL="0" indent="0" algn="just">
              <a:lnSpc>
                <a:spcPct val="120000"/>
              </a:lnSpc>
              <a:buNone/>
            </a:pPr>
            <a:r>
              <a:rPr lang="bg-BG" sz="2800" dirty="0">
                <a:latin typeface="Arial" panose="020B0604020202020204" pitchFamily="34" charset="0"/>
                <a:cs typeface="Arial" panose="020B0604020202020204" pitchFamily="34" charset="0"/>
              </a:rPr>
              <a:t>	Подготовката на специалисти за обучение на водачи на моторни превозни средства е процес, който в същността си представлява мост между техническото майсторство и педагогическата етика. Към 2026 г., в условията на засилен дигитален контрол и променяща се пътна обстановка, груповото обучение на бъдещи инструктори се превръща в лаборатория за споделяне на опит.</a:t>
            </a:r>
          </a:p>
          <a:p>
            <a:endParaRPr lang="bg-BG" dirty="0"/>
          </a:p>
        </p:txBody>
      </p:sp>
    </p:spTree>
    <p:extLst>
      <p:ext uri="{BB962C8B-B14F-4D97-AF65-F5344CB8AC3E}">
        <p14:creationId xmlns:p14="http://schemas.microsoft.com/office/powerpoint/2010/main" val="18494731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A1C4AC-EA2B-F2C4-1423-6667FC9AB684}"/>
              </a:ext>
            </a:extLst>
          </p:cNvPr>
          <p:cNvSpPr>
            <a:spLocks noGrp="1"/>
          </p:cNvSpPr>
          <p:nvPr>
            <p:ph type="title"/>
          </p:nvPr>
        </p:nvSpPr>
        <p:spPr>
          <a:xfrm>
            <a:off x="685800" y="400479"/>
            <a:ext cx="10820400" cy="831162"/>
          </a:xfrm>
        </p:spPr>
        <p:txBody>
          <a:bodyPr>
            <a:normAutofit/>
          </a:bodyPr>
          <a:lstStyle/>
          <a:p>
            <a:pPr algn="ctr"/>
            <a:r>
              <a:rPr lang="bg-BG" sz="3000" b="1" i="1" dirty="0">
                <a:latin typeface="Arial" panose="020B0604020202020204" pitchFamily="34" charset="0"/>
                <a:cs typeface="Arial" panose="020B0604020202020204" pitchFamily="34" charset="0"/>
              </a:rPr>
              <a:t>2. Същност на груповото обучение</a:t>
            </a:r>
            <a:endParaRPr lang="bg-BG" dirty="0"/>
          </a:p>
        </p:txBody>
      </p:sp>
      <p:sp>
        <p:nvSpPr>
          <p:cNvPr id="3" name="Content Placeholder 2">
            <a:extLst>
              <a:ext uri="{FF2B5EF4-FFF2-40B4-BE49-F238E27FC236}">
                <a16:creationId xmlns:a16="http://schemas.microsoft.com/office/drawing/2014/main" id="{93ED41DF-0541-FD8F-C4F8-1764C3C6CD15}"/>
              </a:ext>
            </a:extLst>
          </p:cNvPr>
          <p:cNvSpPr>
            <a:spLocks noGrp="1"/>
          </p:cNvSpPr>
          <p:nvPr>
            <p:ph idx="1"/>
          </p:nvPr>
        </p:nvSpPr>
        <p:spPr>
          <a:xfrm>
            <a:off x="685800" y="1362269"/>
            <a:ext cx="11052110" cy="5178489"/>
          </a:xfrm>
        </p:spPr>
        <p:txBody>
          <a:bodyPr>
            <a:normAutofit lnSpcReduction="10000"/>
          </a:bodyPr>
          <a:lstStyle/>
          <a:p>
            <a:pPr marL="0" indent="0" algn="just">
              <a:buNone/>
            </a:pPr>
            <a:r>
              <a:rPr lang="bg-BG" dirty="0"/>
              <a:t>	</a:t>
            </a:r>
            <a:r>
              <a:rPr lang="bg-BG" sz="3000" dirty="0">
                <a:latin typeface="Arial" panose="020B0604020202020204" pitchFamily="34" charset="0"/>
                <a:cs typeface="Arial" panose="020B0604020202020204" pitchFamily="34" charset="0"/>
              </a:rPr>
              <a:t>Груповото обучение представлява организиран процес, при който участниците усвояват знания чрез взаимодействие. Основните му характеристики включват:</a:t>
            </a:r>
          </a:p>
          <a:p>
            <a:pPr lvl="0" algn="just"/>
            <a:r>
              <a:rPr lang="bg-BG" sz="3000" dirty="0">
                <a:latin typeface="Arial" panose="020B0604020202020204" pitchFamily="34" charset="0"/>
                <a:cs typeface="Arial" panose="020B0604020202020204" pitchFamily="34" charset="0"/>
              </a:rPr>
              <a:t>активност на участниците; </a:t>
            </a:r>
          </a:p>
          <a:p>
            <a:pPr lvl="0" algn="just"/>
            <a:r>
              <a:rPr lang="bg-BG" sz="3000" dirty="0">
                <a:latin typeface="Arial" panose="020B0604020202020204" pitchFamily="34" charset="0"/>
                <a:cs typeface="Arial" panose="020B0604020202020204" pitchFamily="34" charset="0"/>
              </a:rPr>
              <a:t>интерактивни методи; </a:t>
            </a:r>
          </a:p>
          <a:p>
            <a:pPr lvl="0" algn="just"/>
            <a:r>
              <a:rPr lang="bg-BG" sz="3000" dirty="0">
                <a:latin typeface="Arial" panose="020B0604020202020204" pitchFamily="34" charset="0"/>
                <a:cs typeface="Arial" panose="020B0604020202020204" pitchFamily="34" charset="0"/>
              </a:rPr>
              <a:t>обратна връзка; </a:t>
            </a:r>
          </a:p>
          <a:p>
            <a:pPr lvl="0" algn="just"/>
            <a:r>
              <a:rPr lang="bg-BG" sz="3000" dirty="0">
                <a:latin typeface="Arial" panose="020B0604020202020204" pitchFamily="34" charset="0"/>
                <a:cs typeface="Arial" panose="020B0604020202020204" pitchFamily="34" charset="0"/>
              </a:rPr>
              <a:t>практически упражнения. </a:t>
            </a:r>
          </a:p>
          <a:p>
            <a:pPr marL="0" indent="0" algn="just">
              <a:buNone/>
            </a:pPr>
            <a:r>
              <a:rPr lang="bg-BG" sz="3000" dirty="0">
                <a:latin typeface="Arial" panose="020B0604020202020204" pitchFamily="34" charset="0"/>
                <a:cs typeface="Arial" panose="020B0604020202020204" pitchFamily="34" charset="0"/>
              </a:rPr>
              <a:t>	Обучителят играе ролята на фасилитатор, който насочва процеса. С други думи това е човек, който подпомага, организира и координира групови процеси, срещи или обучения.</a:t>
            </a:r>
          </a:p>
          <a:p>
            <a:endParaRPr lang="bg-BG" dirty="0"/>
          </a:p>
        </p:txBody>
      </p:sp>
    </p:spTree>
    <p:extLst>
      <p:ext uri="{BB962C8B-B14F-4D97-AF65-F5344CB8AC3E}">
        <p14:creationId xmlns:p14="http://schemas.microsoft.com/office/powerpoint/2010/main" val="31822945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9F6469-6C86-F5FA-1BC0-6A7E6FDA1413}"/>
              </a:ext>
            </a:extLst>
          </p:cNvPr>
          <p:cNvSpPr>
            <a:spLocks noGrp="1"/>
          </p:cNvSpPr>
          <p:nvPr>
            <p:ph type="title"/>
          </p:nvPr>
        </p:nvSpPr>
        <p:spPr>
          <a:xfrm>
            <a:off x="685800" y="457201"/>
            <a:ext cx="10820400" cy="970384"/>
          </a:xfrm>
        </p:spPr>
        <p:txBody>
          <a:bodyPr>
            <a:normAutofit/>
          </a:bodyPr>
          <a:lstStyle/>
          <a:p>
            <a:pPr algn="ctr"/>
            <a:r>
              <a:rPr lang="bg-BG" sz="3000" b="1" i="1" dirty="0">
                <a:latin typeface="Arial" panose="020B0604020202020204" pitchFamily="34" charset="0"/>
                <a:cs typeface="Arial" panose="020B0604020202020204" pitchFamily="34" charset="0"/>
              </a:rPr>
              <a:t>3. Очаквания на участниците</a:t>
            </a:r>
            <a:endParaRPr lang="bg-BG" sz="3000" dirty="0"/>
          </a:p>
        </p:txBody>
      </p:sp>
      <p:sp>
        <p:nvSpPr>
          <p:cNvPr id="3" name="Content Placeholder 2">
            <a:extLst>
              <a:ext uri="{FF2B5EF4-FFF2-40B4-BE49-F238E27FC236}">
                <a16:creationId xmlns:a16="http://schemas.microsoft.com/office/drawing/2014/main" id="{F1D838AE-B596-90D6-9FE0-2A6E9B8F3E6A}"/>
              </a:ext>
            </a:extLst>
          </p:cNvPr>
          <p:cNvSpPr>
            <a:spLocks noGrp="1"/>
          </p:cNvSpPr>
          <p:nvPr>
            <p:ph idx="1"/>
          </p:nvPr>
        </p:nvSpPr>
        <p:spPr>
          <a:xfrm>
            <a:off x="839755" y="1670180"/>
            <a:ext cx="10666445" cy="4548506"/>
          </a:xfrm>
        </p:spPr>
        <p:txBody>
          <a:bodyPr/>
          <a:lstStyle/>
          <a:p>
            <a:pPr marL="0" indent="0" algn="just">
              <a:buNone/>
            </a:pPr>
            <a:r>
              <a:rPr lang="bg-BG" dirty="0"/>
              <a:t>	</a:t>
            </a:r>
            <a:r>
              <a:rPr lang="bg-BG" sz="2600" dirty="0">
                <a:latin typeface="Arial" panose="020B0604020202020204" pitchFamily="34" charset="0"/>
                <a:cs typeface="Arial" panose="020B0604020202020204" pitchFamily="34" charset="0"/>
              </a:rPr>
              <a:t>Участниците имат няколко основни очаквания:</a:t>
            </a:r>
          </a:p>
          <a:p>
            <a:pPr marL="0" indent="0" algn="just">
              <a:buNone/>
            </a:pPr>
            <a:endParaRPr lang="bg-BG" sz="2600" dirty="0">
              <a:latin typeface="Arial" panose="020B0604020202020204" pitchFamily="34" charset="0"/>
              <a:cs typeface="Arial" panose="020B0604020202020204" pitchFamily="34" charset="0"/>
            </a:endParaRPr>
          </a:p>
          <a:p>
            <a:pPr lvl="0" algn="just"/>
            <a:r>
              <a:rPr lang="bg-BG" sz="2600" dirty="0">
                <a:latin typeface="Arial" panose="020B0604020202020204" pitchFamily="34" charset="0"/>
                <a:cs typeface="Arial" panose="020B0604020202020204" pitchFamily="34" charset="0"/>
              </a:rPr>
              <a:t>придобиване на практически умения; </a:t>
            </a:r>
          </a:p>
          <a:p>
            <a:pPr lvl="0" algn="just"/>
            <a:r>
              <a:rPr lang="bg-BG" sz="2600" dirty="0">
                <a:latin typeface="Arial" panose="020B0604020202020204" pitchFamily="34" charset="0"/>
                <a:cs typeface="Arial" panose="020B0604020202020204" pitchFamily="34" charset="0"/>
              </a:rPr>
              <a:t>професионално развитие; </a:t>
            </a:r>
          </a:p>
          <a:p>
            <a:pPr lvl="0" algn="just"/>
            <a:r>
              <a:rPr lang="bg-BG" sz="2600" dirty="0">
                <a:latin typeface="Arial" panose="020B0604020202020204" pitchFamily="34" charset="0"/>
                <a:cs typeface="Arial" panose="020B0604020202020204" pitchFamily="34" charset="0"/>
              </a:rPr>
              <a:t>обмен на опит; </a:t>
            </a:r>
          </a:p>
          <a:p>
            <a:pPr lvl="0" algn="just"/>
            <a:r>
              <a:rPr lang="bg-BG" sz="2600" dirty="0">
                <a:latin typeface="Arial" panose="020B0604020202020204" pitchFamily="34" charset="0"/>
                <a:cs typeface="Arial" panose="020B0604020202020204" pitchFamily="34" charset="0"/>
              </a:rPr>
              <a:t>ясна структура на обучението; </a:t>
            </a:r>
          </a:p>
          <a:p>
            <a:pPr lvl="0" algn="just"/>
            <a:r>
              <a:rPr lang="bg-BG" sz="2600" dirty="0">
                <a:latin typeface="Arial" panose="020B0604020202020204" pitchFamily="34" charset="0"/>
                <a:cs typeface="Arial" panose="020B0604020202020204" pitchFamily="34" charset="0"/>
              </a:rPr>
              <a:t>подкрепяща среда. </a:t>
            </a:r>
          </a:p>
          <a:p>
            <a:pPr marL="0" indent="0" algn="just">
              <a:buNone/>
            </a:pPr>
            <a:r>
              <a:rPr lang="bg-BG" sz="2600" dirty="0">
                <a:latin typeface="Arial" panose="020B0604020202020204" pitchFamily="34" charset="0"/>
                <a:cs typeface="Arial" panose="020B0604020202020204" pitchFamily="34" charset="0"/>
              </a:rPr>
              <a:t>	Тези очаквания влияят върху мотивацията и участието им.</a:t>
            </a:r>
          </a:p>
          <a:p>
            <a:endParaRPr lang="bg-BG" dirty="0"/>
          </a:p>
        </p:txBody>
      </p:sp>
    </p:spTree>
    <p:extLst>
      <p:ext uri="{BB962C8B-B14F-4D97-AF65-F5344CB8AC3E}">
        <p14:creationId xmlns:p14="http://schemas.microsoft.com/office/powerpoint/2010/main" val="12281006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3A705BD-F076-5F9E-709F-F46477D2AA8B}"/>
              </a:ext>
            </a:extLst>
          </p:cNvPr>
          <p:cNvSpPr>
            <a:spLocks noGrp="1"/>
          </p:cNvSpPr>
          <p:nvPr>
            <p:ph idx="4294967295"/>
          </p:nvPr>
        </p:nvSpPr>
        <p:spPr>
          <a:xfrm>
            <a:off x="671804" y="811213"/>
            <a:ext cx="10916816" cy="5599112"/>
          </a:xfrm>
        </p:spPr>
        <p:txBody>
          <a:bodyPr>
            <a:normAutofit/>
          </a:bodyPr>
          <a:lstStyle/>
          <a:p>
            <a:pPr marL="0" indent="0" algn="just">
              <a:buNone/>
            </a:pPr>
            <a:r>
              <a:rPr lang="bg-BG" dirty="0">
                <a:latin typeface="Arial" panose="020B0604020202020204" pitchFamily="34" charset="0"/>
                <a:cs typeface="Arial" panose="020B0604020202020204" pitchFamily="34" charset="0"/>
              </a:rPr>
              <a:t>	Повечето участници влизат в обучението с увереността на опитни шофьори, но с голямата несигурност на начинаещи учители. Тяхното основно очакване е да получат конкретна методология. Те търсят ясни алгоритми за обяснение на сложни маневри (като паркиране, работа със съединител или престрояване в интензивен трафик). Очакват обучението да им даде „преподавателски език“ – набор от термини и метафори, които да направят сухата теория разбираема за човек, който никога не е управлявал автомобил.</a:t>
            </a:r>
          </a:p>
          <a:p>
            <a:pPr marL="0" indent="0" algn="just">
              <a:buNone/>
            </a:pPr>
            <a:r>
              <a:rPr lang="bg-BG" dirty="0">
                <a:latin typeface="Arial" panose="020B0604020202020204" pitchFamily="34" charset="0"/>
                <a:cs typeface="Arial" panose="020B0604020202020204" pitchFamily="34" charset="0"/>
              </a:rPr>
              <a:t>	Тъй като професията на инструктора е свързана с работа в „офис на колела“ под постоянен риск, участниците имат силно очакване за усвояване на техники за емоционален контрол. Те искат да знаят:</a:t>
            </a:r>
          </a:p>
          <a:p>
            <a:pPr lvl="0" algn="just"/>
            <a:r>
              <a:rPr lang="bg-BG" dirty="0">
                <a:latin typeface="Arial" panose="020B0604020202020204" pitchFamily="34" charset="0"/>
                <a:cs typeface="Arial" panose="020B0604020202020204" pitchFamily="34" charset="0"/>
              </a:rPr>
              <a:t>Как да запазят самообладание, когато курсистът допусне грешка?</a:t>
            </a:r>
          </a:p>
          <a:p>
            <a:pPr lvl="0" algn="just"/>
            <a:r>
              <a:rPr lang="bg-BG" dirty="0">
                <a:latin typeface="Arial" panose="020B0604020202020204" pitchFamily="34" charset="0"/>
                <a:cs typeface="Arial" panose="020B0604020202020204" pitchFamily="34" charset="0"/>
              </a:rPr>
              <a:t>Как да разпознаят признаците на паника у ученика и да ги овладеят?</a:t>
            </a:r>
          </a:p>
          <a:p>
            <a:pPr lvl="0" algn="just"/>
            <a:r>
              <a:rPr lang="bg-BG" dirty="0">
                <a:latin typeface="Arial" panose="020B0604020202020204" pitchFamily="34" charset="0"/>
                <a:cs typeface="Arial" panose="020B0604020202020204" pitchFamily="34" charset="0"/>
              </a:rPr>
              <a:t>Как да изградят авторитет, без да прибягват до агресия или повишен тон?</a:t>
            </a:r>
            <a:br>
              <a:rPr lang="bg-BG" dirty="0">
                <a:latin typeface="Arial" panose="020B0604020202020204" pitchFamily="34" charset="0"/>
                <a:cs typeface="Arial" panose="020B0604020202020204" pitchFamily="34" charset="0"/>
              </a:rPr>
            </a:br>
            <a:r>
              <a:rPr lang="bg-BG" dirty="0">
                <a:latin typeface="Arial" panose="020B0604020202020204" pitchFamily="34" charset="0"/>
                <a:cs typeface="Arial" panose="020B0604020202020204" pitchFamily="34" charset="0"/>
              </a:rPr>
              <a:t>	Тук очакването е пряко свързано с развитието на емоционалната интелигентност, за да се гарантира, че учебният процес ще бъде безопасен и конструктивен.</a:t>
            </a:r>
          </a:p>
          <a:p>
            <a:endParaRPr lang="bg-BG" dirty="0"/>
          </a:p>
        </p:txBody>
      </p:sp>
    </p:spTree>
    <p:extLst>
      <p:ext uri="{BB962C8B-B14F-4D97-AF65-F5344CB8AC3E}">
        <p14:creationId xmlns:p14="http://schemas.microsoft.com/office/powerpoint/2010/main" val="27490343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A431D8B-3956-F8EA-D0A2-16149CC918AC}"/>
              </a:ext>
            </a:extLst>
          </p:cNvPr>
          <p:cNvSpPr>
            <a:spLocks noGrp="1"/>
          </p:cNvSpPr>
          <p:nvPr>
            <p:ph idx="4294967295"/>
          </p:nvPr>
        </p:nvSpPr>
        <p:spPr>
          <a:xfrm>
            <a:off x="793101" y="587829"/>
            <a:ext cx="10739535" cy="5859624"/>
          </a:xfrm>
        </p:spPr>
        <p:txBody>
          <a:bodyPr>
            <a:normAutofit lnSpcReduction="10000"/>
          </a:bodyPr>
          <a:lstStyle/>
          <a:p>
            <a:pPr marL="0" indent="0" algn="just">
              <a:buNone/>
            </a:pPr>
            <a:r>
              <a:rPr lang="bg-BG" dirty="0"/>
              <a:t>	</a:t>
            </a:r>
            <a:r>
              <a:rPr lang="bg-BG" sz="2300" dirty="0">
                <a:latin typeface="Arial" panose="020B0604020202020204" pitchFamily="34" charset="0"/>
                <a:cs typeface="Arial" panose="020B0604020202020204" pitchFamily="34" charset="0"/>
              </a:rPr>
              <a:t>С оглед на постоянните промени в законодателството (като Наредба № 37 и новите изисквания към 2026 г.), участниците очакват абсолютна яснота относно своите права и отговорности. Това включва:</a:t>
            </a:r>
          </a:p>
          <a:p>
            <a:pPr lvl="0" algn="just">
              <a:buFont typeface="Wingdings" panose="05000000000000000000" pitchFamily="2" charset="2"/>
              <a:buChar char="Ø"/>
            </a:pPr>
            <a:r>
              <a:rPr lang="bg-BG" sz="2300" dirty="0">
                <a:latin typeface="Arial" panose="020B0604020202020204" pitchFamily="34" charset="0"/>
                <a:cs typeface="Arial" panose="020B0604020202020204" pitchFamily="34" charset="0"/>
              </a:rPr>
              <a:t>Точно тълкуване на законовите изисквания за изпитите пред ИА „Автомобилна администрация“.</a:t>
            </a:r>
          </a:p>
          <a:p>
            <a:pPr lvl="0" algn="just">
              <a:buFont typeface="Wingdings" panose="05000000000000000000" pitchFamily="2" charset="2"/>
              <a:buChar char="Ø"/>
            </a:pPr>
            <a:r>
              <a:rPr lang="bg-BG" sz="2300" dirty="0">
                <a:latin typeface="Arial" panose="020B0604020202020204" pitchFamily="34" charset="0"/>
                <a:cs typeface="Arial" panose="020B0604020202020204" pitchFamily="34" charset="0"/>
              </a:rPr>
              <a:t>Работа с дигитални инструменти (електронни картони, GPS системи), което е водещо очакване в ерата на дигитализацията.</a:t>
            </a:r>
          </a:p>
          <a:p>
            <a:pPr lvl="0" algn="just">
              <a:buFont typeface="Wingdings" panose="05000000000000000000" pitchFamily="2" charset="2"/>
              <a:buChar char="Ø"/>
            </a:pPr>
            <a:r>
              <a:rPr lang="bg-BG" sz="2300" dirty="0">
                <a:latin typeface="Arial" panose="020B0604020202020204" pitchFamily="34" charset="0"/>
                <a:cs typeface="Arial" panose="020B0604020202020204" pitchFamily="34" charset="0"/>
              </a:rPr>
              <a:t>Яснота относно правната отговорност при ПТП по време на учебен час.</a:t>
            </a:r>
          </a:p>
          <a:p>
            <a:pPr marL="0" indent="0" algn="just">
              <a:buNone/>
            </a:pPr>
            <a:r>
              <a:rPr lang="bg-BG" sz="2300" dirty="0">
                <a:latin typeface="Arial" panose="020B0604020202020204" pitchFamily="34" charset="0"/>
                <a:cs typeface="Arial" panose="020B0604020202020204" pitchFamily="34" charset="0"/>
              </a:rPr>
              <a:t>	В груповия формат участниците имат подсъзнателното очакване за социално сравнение и валидация. Те искат да „сверят часовниците си“ с колегите си. Очакват групата да бъде място за споделяне на добри практики и грешки, където да се изграждат общите професионални стандарти.</a:t>
            </a:r>
          </a:p>
          <a:p>
            <a:pPr marL="0" indent="0" algn="just">
              <a:buNone/>
            </a:pPr>
            <a:r>
              <a:rPr lang="bg-BG" sz="2300" dirty="0">
                <a:latin typeface="Arial" panose="020B0604020202020204" pitchFamily="34" charset="0"/>
                <a:cs typeface="Arial" panose="020B0604020202020204" pitchFamily="34" charset="0"/>
              </a:rPr>
              <a:t>	В крайна сметка, участниците очакват обучението да има практическа възвръщаемост. Те не искат просто сертификат, а увереност, че след завършването ще могат да реализират висока успеваемост на своите курсисти. Очакват обучението да ги подготви за пазара на труда като конкурентоспособни специалисти, които притежават не само шофьорски стаж, но и педагогически престиж.</a:t>
            </a:r>
          </a:p>
          <a:p>
            <a:endParaRPr lang="bg-BG" dirty="0"/>
          </a:p>
        </p:txBody>
      </p:sp>
    </p:spTree>
    <p:extLst>
      <p:ext uri="{BB962C8B-B14F-4D97-AF65-F5344CB8AC3E}">
        <p14:creationId xmlns:p14="http://schemas.microsoft.com/office/powerpoint/2010/main" val="22758542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4BD5F0C-5817-3814-325F-57348137A688}"/>
              </a:ext>
            </a:extLst>
          </p:cNvPr>
          <p:cNvSpPr>
            <a:spLocks noGrp="1"/>
          </p:cNvSpPr>
          <p:nvPr>
            <p:ph type="title"/>
          </p:nvPr>
        </p:nvSpPr>
        <p:spPr>
          <a:xfrm>
            <a:off x="485192" y="363894"/>
            <a:ext cx="11021008" cy="681135"/>
          </a:xfrm>
        </p:spPr>
        <p:txBody>
          <a:bodyPr>
            <a:normAutofit/>
          </a:bodyPr>
          <a:lstStyle/>
          <a:p>
            <a:pPr algn="ctr"/>
            <a:r>
              <a:rPr lang="bg-BG" sz="3000" b="1" i="1" dirty="0">
                <a:latin typeface="Arial" panose="020B0604020202020204" pitchFamily="34" charset="0"/>
                <a:cs typeface="Arial" panose="020B0604020202020204" pitchFamily="34" charset="0"/>
              </a:rPr>
              <a:t>4. Реален опит на участниците</a:t>
            </a:r>
            <a:endParaRPr lang="bg-BG" sz="3000" dirty="0">
              <a:latin typeface="Arial" panose="020B0604020202020204" pitchFamily="34" charset="0"/>
              <a:cs typeface="Arial" panose="020B0604020202020204" pitchFamily="34" charset="0"/>
            </a:endParaRPr>
          </a:p>
        </p:txBody>
      </p:sp>
      <p:sp>
        <p:nvSpPr>
          <p:cNvPr id="6" name="Content Placeholder 5">
            <a:extLst>
              <a:ext uri="{FF2B5EF4-FFF2-40B4-BE49-F238E27FC236}">
                <a16:creationId xmlns:a16="http://schemas.microsoft.com/office/drawing/2014/main" id="{61CBDC0B-B9E1-0B03-9686-B3BC48A809A9}"/>
              </a:ext>
            </a:extLst>
          </p:cNvPr>
          <p:cNvSpPr txBox="1">
            <a:spLocks noGrp="1"/>
          </p:cNvSpPr>
          <p:nvPr>
            <p:ph idx="1"/>
          </p:nvPr>
        </p:nvSpPr>
        <p:spPr>
          <a:xfrm>
            <a:off x="718457" y="1203649"/>
            <a:ext cx="10787743" cy="5478423"/>
          </a:xfrm>
          <a:prstGeom prst="rect">
            <a:avLst/>
          </a:prstGeom>
          <a:noFill/>
        </p:spPr>
        <p:txBody>
          <a:bodyPr wrap="square">
            <a:spAutoFit/>
          </a:bodyPr>
          <a:lstStyle/>
          <a:p>
            <a:pPr algn="just">
              <a:lnSpc>
                <a:spcPct val="100000"/>
              </a:lnSpc>
              <a:spcAft>
                <a:spcPts val="1000"/>
              </a:spcAft>
              <a:buNone/>
            </a:pPr>
            <a:r>
              <a:rPr lang="bg-BG" sz="2000" dirty="0">
                <a:effectLst/>
                <a:latin typeface="Arial" panose="020B0604020202020204" pitchFamily="34" charset="0"/>
                <a:ea typeface="Calibri" panose="020F0502020204030204" pitchFamily="34" charset="0"/>
                <a:cs typeface="Arial" panose="020B0604020202020204" pitchFamily="34" charset="0"/>
              </a:rPr>
              <a:t>	Практиката показва както положителни аспекти, така и предизвикателства.</a:t>
            </a:r>
          </a:p>
          <a:p>
            <a:pPr algn="just">
              <a:lnSpc>
                <a:spcPct val="100000"/>
              </a:lnSpc>
              <a:spcAft>
                <a:spcPts val="1000"/>
              </a:spcAft>
              <a:buNone/>
            </a:pPr>
            <a:r>
              <a:rPr lang="bg-BG" sz="2000" b="1" dirty="0">
                <a:effectLst/>
                <a:latin typeface="Arial" panose="020B0604020202020204" pitchFamily="34" charset="0"/>
                <a:ea typeface="Calibri" panose="020F0502020204030204" pitchFamily="34" charset="0"/>
                <a:cs typeface="Arial" panose="020B0604020202020204" pitchFamily="34" charset="0"/>
              </a:rPr>
              <a:t>Положителни страни:</a:t>
            </a:r>
            <a:endParaRPr lang="bg-BG" sz="2000" dirty="0">
              <a:effectLst/>
              <a:latin typeface="Arial" panose="020B0604020202020204" pitchFamily="34" charset="0"/>
              <a:ea typeface="Calibri" panose="020F0502020204030204" pitchFamily="34" charset="0"/>
              <a:cs typeface="Arial" panose="020B0604020202020204" pitchFamily="34" charset="0"/>
            </a:endParaRPr>
          </a:p>
          <a:p>
            <a:pPr lvl="0" algn="just">
              <a:lnSpc>
                <a:spcPct val="100000"/>
              </a:lnSpc>
              <a:spcAft>
                <a:spcPts val="1000"/>
              </a:spcAft>
              <a:buSzPts val="1000"/>
              <a:buFont typeface="Wingdings" panose="05000000000000000000" pitchFamily="2" charset="2"/>
              <a:buChar char="v"/>
              <a:tabLst>
                <a:tab pos="457200" algn="l"/>
              </a:tabLst>
            </a:pPr>
            <a:r>
              <a:rPr lang="bg-BG" sz="2000" dirty="0">
                <a:effectLst/>
                <a:latin typeface="Arial" panose="020B0604020202020204" pitchFamily="34" charset="0"/>
                <a:ea typeface="Calibri" panose="020F0502020204030204" pitchFamily="34" charset="0"/>
                <a:cs typeface="Arial" panose="020B0604020202020204" pitchFamily="34" charset="0"/>
              </a:rPr>
              <a:t>активно участие; </a:t>
            </a:r>
          </a:p>
          <a:p>
            <a:pPr lvl="0" algn="just">
              <a:lnSpc>
                <a:spcPct val="100000"/>
              </a:lnSpc>
              <a:spcAft>
                <a:spcPts val="1000"/>
              </a:spcAft>
              <a:buSzPts val="1000"/>
              <a:buFont typeface="Wingdings" panose="05000000000000000000" pitchFamily="2" charset="2"/>
              <a:buChar char="v"/>
              <a:tabLst>
                <a:tab pos="457200" algn="l"/>
              </a:tabLst>
            </a:pPr>
            <a:r>
              <a:rPr lang="bg-BG" sz="2000" dirty="0">
                <a:effectLst/>
                <a:latin typeface="Arial" panose="020B0604020202020204" pitchFamily="34" charset="0"/>
                <a:ea typeface="Calibri" panose="020F0502020204030204" pitchFamily="34" charset="0"/>
                <a:cs typeface="Arial" panose="020B0604020202020204" pitchFamily="34" charset="0"/>
              </a:rPr>
              <a:t>развитие на увереност; </a:t>
            </a:r>
          </a:p>
          <a:p>
            <a:pPr lvl="0" algn="just">
              <a:lnSpc>
                <a:spcPct val="100000"/>
              </a:lnSpc>
              <a:spcAft>
                <a:spcPts val="1000"/>
              </a:spcAft>
              <a:buSzPts val="1000"/>
              <a:buFont typeface="Wingdings" panose="05000000000000000000" pitchFamily="2" charset="2"/>
              <a:buChar char="v"/>
              <a:tabLst>
                <a:tab pos="457200" algn="l"/>
              </a:tabLst>
            </a:pPr>
            <a:r>
              <a:rPr lang="bg-BG" sz="2000" dirty="0">
                <a:effectLst/>
                <a:latin typeface="Arial" panose="020B0604020202020204" pitchFamily="34" charset="0"/>
                <a:ea typeface="Calibri" panose="020F0502020204030204" pitchFamily="34" charset="0"/>
                <a:cs typeface="Arial" panose="020B0604020202020204" pitchFamily="34" charset="0"/>
              </a:rPr>
              <a:t>учене чрез практика; </a:t>
            </a:r>
          </a:p>
          <a:p>
            <a:pPr lvl="0" algn="just">
              <a:lnSpc>
                <a:spcPct val="100000"/>
              </a:lnSpc>
              <a:spcAft>
                <a:spcPts val="1000"/>
              </a:spcAft>
              <a:buSzPts val="1000"/>
              <a:buFont typeface="Wingdings" panose="05000000000000000000" pitchFamily="2" charset="2"/>
              <a:buChar char="v"/>
              <a:tabLst>
                <a:tab pos="457200" algn="l"/>
              </a:tabLst>
            </a:pPr>
            <a:r>
              <a:rPr lang="bg-BG" sz="2000" dirty="0">
                <a:effectLst/>
                <a:latin typeface="Arial" panose="020B0604020202020204" pitchFamily="34" charset="0"/>
                <a:ea typeface="Calibri" panose="020F0502020204030204" pitchFamily="34" charset="0"/>
                <a:cs typeface="Arial" panose="020B0604020202020204" pitchFamily="34" charset="0"/>
              </a:rPr>
              <a:t>изграждане на контакти. </a:t>
            </a:r>
          </a:p>
          <a:p>
            <a:pPr algn="just">
              <a:lnSpc>
                <a:spcPct val="100000"/>
              </a:lnSpc>
              <a:spcAft>
                <a:spcPts val="1000"/>
              </a:spcAft>
              <a:buNone/>
            </a:pPr>
            <a:r>
              <a:rPr lang="bg-BG" sz="2000" b="1" dirty="0">
                <a:effectLst/>
                <a:latin typeface="Arial" panose="020B0604020202020204" pitchFamily="34" charset="0"/>
                <a:ea typeface="Calibri" panose="020F0502020204030204" pitchFamily="34" charset="0"/>
                <a:cs typeface="Arial" panose="020B0604020202020204" pitchFamily="34" charset="0"/>
              </a:rPr>
              <a:t>Предизвикателства:</a:t>
            </a:r>
            <a:endParaRPr lang="bg-BG" sz="2000" dirty="0">
              <a:effectLst/>
              <a:latin typeface="Arial" panose="020B0604020202020204" pitchFamily="34" charset="0"/>
              <a:ea typeface="Calibri" panose="020F0502020204030204" pitchFamily="34" charset="0"/>
              <a:cs typeface="Arial" panose="020B0604020202020204" pitchFamily="34" charset="0"/>
            </a:endParaRPr>
          </a:p>
          <a:p>
            <a:pPr marL="342900" lvl="0" indent="-342900" algn="just">
              <a:lnSpc>
                <a:spcPct val="100000"/>
              </a:lnSpc>
              <a:spcAft>
                <a:spcPts val="1000"/>
              </a:spcAft>
              <a:buSzPts val="1000"/>
              <a:buFont typeface="Symbol" panose="05050102010706020507" pitchFamily="18" charset="2"/>
              <a:buChar char=""/>
              <a:tabLst>
                <a:tab pos="457200" algn="l"/>
              </a:tabLst>
            </a:pPr>
            <a:r>
              <a:rPr lang="bg-BG" sz="2000" dirty="0">
                <a:effectLst/>
                <a:latin typeface="Arial" panose="020B0604020202020204" pitchFamily="34" charset="0"/>
                <a:ea typeface="Calibri" panose="020F0502020204030204" pitchFamily="34" charset="0"/>
                <a:cs typeface="Arial" panose="020B0604020202020204" pitchFamily="34" charset="0"/>
              </a:rPr>
              <a:t>различно ниво на участниците; </a:t>
            </a:r>
          </a:p>
          <a:p>
            <a:pPr marL="342900" lvl="0" indent="-342900" algn="just">
              <a:lnSpc>
                <a:spcPct val="100000"/>
              </a:lnSpc>
              <a:spcAft>
                <a:spcPts val="1000"/>
              </a:spcAft>
              <a:buSzPts val="1000"/>
              <a:buFont typeface="Symbol" panose="05050102010706020507" pitchFamily="18" charset="2"/>
              <a:buChar char=""/>
              <a:tabLst>
                <a:tab pos="457200" algn="l"/>
              </a:tabLst>
            </a:pPr>
            <a:r>
              <a:rPr lang="bg-BG" sz="2000" dirty="0">
                <a:effectLst/>
                <a:latin typeface="Arial" panose="020B0604020202020204" pitchFamily="34" charset="0"/>
                <a:ea typeface="Calibri" panose="020F0502020204030204" pitchFamily="34" charset="0"/>
                <a:cs typeface="Arial" panose="020B0604020202020204" pitchFamily="34" charset="0"/>
              </a:rPr>
              <a:t>конфликти в групата; </a:t>
            </a:r>
          </a:p>
          <a:p>
            <a:pPr marL="342900" lvl="0" indent="-342900" algn="just">
              <a:lnSpc>
                <a:spcPct val="100000"/>
              </a:lnSpc>
              <a:spcAft>
                <a:spcPts val="1000"/>
              </a:spcAft>
              <a:buSzPts val="1000"/>
              <a:buFont typeface="Symbol" panose="05050102010706020507" pitchFamily="18" charset="2"/>
              <a:buChar char=""/>
              <a:tabLst>
                <a:tab pos="457200" algn="l"/>
              </a:tabLst>
            </a:pPr>
            <a:r>
              <a:rPr lang="bg-BG" sz="2000" dirty="0">
                <a:effectLst/>
                <a:latin typeface="Arial" panose="020B0604020202020204" pitchFamily="34" charset="0"/>
                <a:ea typeface="Calibri" panose="020F0502020204030204" pitchFamily="34" charset="0"/>
                <a:cs typeface="Arial" panose="020B0604020202020204" pitchFamily="34" charset="0"/>
              </a:rPr>
              <a:t>ограничено време; </a:t>
            </a:r>
          </a:p>
        </p:txBody>
      </p:sp>
    </p:spTree>
    <p:extLst>
      <p:ext uri="{BB962C8B-B14F-4D97-AF65-F5344CB8AC3E}">
        <p14:creationId xmlns:p14="http://schemas.microsoft.com/office/powerpoint/2010/main" val="4454038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F8BAA8-04DE-61CB-1A0E-35C2605D456C}"/>
              </a:ext>
            </a:extLst>
          </p:cNvPr>
          <p:cNvSpPr>
            <a:spLocks noGrp="1"/>
          </p:cNvSpPr>
          <p:nvPr>
            <p:ph type="title"/>
          </p:nvPr>
        </p:nvSpPr>
        <p:spPr>
          <a:xfrm>
            <a:off x="382555" y="363894"/>
            <a:ext cx="11123645" cy="811763"/>
          </a:xfrm>
        </p:spPr>
        <p:txBody>
          <a:bodyPr>
            <a:normAutofit/>
          </a:bodyPr>
          <a:lstStyle/>
          <a:p>
            <a:pPr algn="ctr"/>
            <a:r>
              <a:rPr lang="bg-BG" sz="3000" b="1" i="1" dirty="0">
                <a:latin typeface="Arial" panose="020B0604020202020204" pitchFamily="34" charset="0"/>
                <a:cs typeface="Arial" panose="020B0604020202020204" pitchFamily="34" charset="0"/>
              </a:rPr>
              <a:t>5. Методи и техники</a:t>
            </a:r>
            <a:endParaRPr lang="bg-BG" dirty="0"/>
          </a:p>
        </p:txBody>
      </p:sp>
      <p:sp>
        <p:nvSpPr>
          <p:cNvPr id="3" name="Content Placeholder 2">
            <a:extLst>
              <a:ext uri="{FF2B5EF4-FFF2-40B4-BE49-F238E27FC236}">
                <a16:creationId xmlns:a16="http://schemas.microsoft.com/office/drawing/2014/main" id="{6CF45ECD-B2DA-32B0-412B-6C848A5A99D3}"/>
              </a:ext>
            </a:extLst>
          </p:cNvPr>
          <p:cNvSpPr>
            <a:spLocks noGrp="1"/>
          </p:cNvSpPr>
          <p:nvPr>
            <p:ph idx="1"/>
          </p:nvPr>
        </p:nvSpPr>
        <p:spPr/>
        <p:txBody>
          <a:bodyPr/>
          <a:lstStyle/>
          <a:p>
            <a:pPr algn="just">
              <a:lnSpc>
                <a:spcPct val="150000"/>
              </a:lnSpc>
              <a:spcAft>
                <a:spcPts val="1000"/>
              </a:spcAft>
              <a:buNone/>
            </a:pPr>
            <a:r>
              <a:rPr lang="bg-BG" sz="2400" dirty="0">
                <a:latin typeface="Times New Roman" panose="02020603050405020304" pitchFamily="18" charset="0"/>
                <a:ea typeface="Times New Roman" panose="02020603050405020304" pitchFamily="18" charset="0"/>
                <a:cs typeface="Times New Roman" panose="02020603050405020304" pitchFamily="18" charset="0"/>
              </a:rPr>
              <a:t> </a:t>
            </a:r>
            <a:endParaRPr lang="bg-BG" sz="1800" dirty="0">
              <a:latin typeface="Calibri" panose="020F0502020204030204" pitchFamily="34" charset="0"/>
              <a:ea typeface="Calibri" panose="020F0502020204030204" pitchFamily="34" charset="0"/>
              <a:cs typeface="Times New Roman" panose="02020603050405020304" pitchFamily="18" charset="0"/>
            </a:endParaRPr>
          </a:p>
          <a:p>
            <a:endParaRPr lang="bg-BG" dirty="0"/>
          </a:p>
        </p:txBody>
      </p:sp>
      <p:sp>
        <p:nvSpPr>
          <p:cNvPr id="6" name="TextBox 5">
            <a:extLst>
              <a:ext uri="{FF2B5EF4-FFF2-40B4-BE49-F238E27FC236}">
                <a16:creationId xmlns:a16="http://schemas.microsoft.com/office/drawing/2014/main" id="{78E5ED1A-47B6-6B56-5050-081767556D3A}"/>
              </a:ext>
            </a:extLst>
          </p:cNvPr>
          <p:cNvSpPr txBox="1"/>
          <p:nvPr/>
        </p:nvSpPr>
        <p:spPr>
          <a:xfrm>
            <a:off x="961053" y="1566086"/>
            <a:ext cx="9451909" cy="4671279"/>
          </a:xfrm>
          <a:prstGeom prst="rect">
            <a:avLst/>
          </a:prstGeom>
          <a:noFill/>
        </p:spPr>
        <p:txBody>
          <a:bodyPr wrap="square">
            <a:spAutoFit/>
          </a:bodyPr>
          <a:lstStyle/>
          <a:p>
            <a:pPr algn="just">
              <a:lnSpc>
                <a:spcPct val="150000"/>
              </a:lnSpc>
              <a:spcAft>
                <a:spcPts val="1000"/>
              </a:spcAft>
              <a:buNone/>
            </a:pPr>
            <a:r>
              <a:rPr lang="bg-BG" sz="2400" dirty="0">
                <a:effectLst/>
                <a:latin typeface="Arial" panose="020B0604020202020204" pitchFamily="34" charset="0"/>
                <a:ea typeface="Calibri" panose="020F0502020204030204" pitchFamily="34" charset="0"/>
                <a:cs typeface="Arial" panose="020B0604020202020204" pitchFamily="34" charset="0"/>
              </a:rPr>
              <a:t>В обучението се използват:</a:t>
            </a:r>
          </a:p>
          <a:p>
            <a:pPr marL="342900" lvl="0" indent="-342900" algn="just">
              <a:lnSpc>
                <a:spcPct val="150000"/>
              </a:lnSpc>
              <a:spcAft>
                <a:spcPts val="1000"/>
              </a:spcAft>
              <a:buSzPts val="1000"/>
              <a:buFont typeface="Symbol" panose="05050102010706020507" pitchFamily="18" charset="2"/>
              <a:buChar char=""/>
              <a:tabLst>
                <a:tab pos="457200" algn="l"/>
              </a:tabLst>
            </a:pPr>
            <a:r>
              <a:rPr lang="bg-BG" sz="2400" dirty="0">
                <a:effectLst/>
                <a:latin typeface="Arial" panose="020B0604020202020204" pitchFamily="34" charset="0"/>
                <a:ea typeface="Calibri" panose="020F0502020204030204" pitchFamily="34" charset="0"/>
                <a:cs typeface="Arial" panose="020B0604020202020204" pitchFamily="34" charset="0"/>
              </a:rPr>
              <a:t>ролеви игри; </a:t>
            </a:r>
          </a:p>
          <a:p>
            <a:pPr marL="342900" lvl="0" indent="-342900" algn="just">
              <a:lnSpc>
                <a:spcPct val="150000"/>
              </a:lnSpc>
              <a:spcAft>
                <a:spcPts val="1000"/>
              </a:spcAft>
              <a:buSzPts val="1000"/>
              <a:buFont typeface="Symbol" panose="05050102010706020507" pitchFamily="18" charset="2"/>
              <a:buChar char=""/>
              <a:tabLst>
                <a:tab pos="457200" algn="l"/>
              </a:tabLst>
            </a:pPr>
            <a:r>
              <a:rPr lang="bg-BG" sz="2400" dirty="0">
                <a:effectLst/>
                <a:latin typeface="Arial" panose="020B0604020202020204" pitchFamily="34" charset="0"/>
                <a:ea typeface="Calibri" panose="020F0502020204030204" pitchFamily="34" charset="0"/>
                <a:cs typeface="Arial" panose="020B0604020202020204" pitchFamily="34" charset="0"/>
              </a:rPr>
              <a:t>казуси; </a:t>
            </a:r>
          </a:p>
          <a:p>
            <a:pPr marL="342900" lvl="0" indent="-342900" algn="just">
              <a:lnSpc>
                <a:spcPct val="150000"/>
              </a:lnSpc>
              <a:spcAft>
                <a:spcPts val="1000"/>
              </a:spcAft>
              <a:buSzPts val="1000"/>
              <a:buFont typeface="Symbol" panose="05050102010706020507" pitchFamily="18" charset="2"/>
              <a:buChar char=""/>
              <a:tabLst>
                <a:tab pos="457200" algn="l"/>
              </a:tabLst>
            </a:pPr>
            <a:r>
              <a:rPr lang="bg-BG" sz="2400" dirty="0">
                <a:effectLst/>
                <a:latin typeface="Arial" panose="020B0604020202020204" pitchFamily="34" charset="0"/>
                <a:ea typeface="Calibri" panose="020F0502020204030204" pitchFamily="34" charset="0"/>
                <a:cs typeface="Arial" panose="020B0604020202020204" pitchFamily="34" charset="0"/>
              </a:rPr>
              <a:t>дискусии; </a:t>
            </a:r>
          </a:p>
          <a:p>
            <a:pPr marL="342900" lvl="0" indent="-342900" algn="just">
              <a:lnSpc>
                <a:spcPct val="150000"/>
              </a:lnSpc>
              <a:spcAft>
                <a:spcPts val="1000"/>
              </a:spcAft>
              <a:buSzPts val="1000"/>
              <a:buFont typeface="Symbol" panose="05050102010706020507" pitchFamily="18" charset="2"/>
              <a:buChar char=""/>
              <a:tabLst>
                <a:tab pos="457200" algn="l"/>
              </a:tabLst>
            </a:pPr>
            <a:r>
              <a:rPr lang="bg-BG" sz="2400" dirty="0">
                <a:effectLst/>
                <a:latin typeface="Arial" panose="020B0604020202020204" pitchFamily="34" charset="0"/>
                <a:ea typeface="Calibri" panose="020F0502020204030204" pitchFamily="34" charset="0"/>
                <a:cs typeface="Arial" panose="020B0604020202020204" pitchFamily="34" charset="0"/>
              </a:rPr>
              <a:t>мозъчна атака; </a:t>
            </a:r>
          </a:p>
          <a:p>
            <a:pPr marL="342900" lvl="0" indent="-342900" algn="just">
              <a:lnSpc>
                <a:spcPct val="150000"/>
              </a:lnSpc>
              <a:spcAft>
                <a:spcPts val="1000"/>
              </a:spcAft>
              <a:buSzPts val="1000"/>
              <a:buFont typeface="Symbol" panose="05050102010706020507" pitchFamily="18" charset="2"/>
              <a:buChar char=""/>
              <a:tabLst>
                <a:tab pos="457200" algn="l"/>
              </a:tabLst>
            </a:pPr>
            <a:r>
              <a:rPr lang="bg-BG" sz="2400" dirty="0">
                <a:effectLst/>
                <a:latin typeface="Arial" panose="020B0604020202020204" pitchFamily="34" charset="0"/>
                <a:ea typeface="Calibri" panose="020F0502020204030204" pitchFamily="34" charset="0"/>
                <a:cs typeface="Arial" panose="020B0604020202020204" pitchFamily="34" charset="0"/>
              </a:rPr>
              <a:t>групови задачи. </a:t>
            </a:r>
          </a:p>
          <a:p>
            <a:pPr algn="just">
              <a:lnSpc>
                <a:spcPct val="150000"/>
              </a:lnSpc>
              <a:spcAft>
                <a:spcPts val="1000"/>
              </a:spcAft>
              <a:buNone/>
            </a:pPr>
            <a:r>
              <a:rPr lang="bg-BG" sz="2400" dirty="0">
                <a:effectLst/>
                <a:latin typeface="Arial" panose="020B0604020202020204" pitchFamily="34" charset="0"/>
                <a:ea typeface="Calibri" panose="020F0502020204030204" pitchFamily="34" charset="0"/>
                <a:cs typeface="Arial" panose="020B0604020202020204" pitchFamily="34" charset="0"/>
              </a:rPr>
              <a:t>Тези методи стимулират активното учене.</a:t>
            </a:r>
          </a:p>
        </p:txBody>
      </p:sp>
    </p:spTree>
    <p:extLst>
      <p:ext uri="{BB962C8B-B14F-4D97-AF65-F5344CB8AC3E}">
        <p14:creationId xmlns:p14="http://schemas.microsoft.com/office/powerpoint/2010/main" val="22291502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C796C1B-A508-2B0C-561E-288FBAE64399}"/>
              </a:ext>
            </a:extLst>
          </p:cNvPr>
          <p:cNvSpPr>
            <a:spLocks noGrp="1"/>
          </p:cNvSpPr>
          <p:nvPr>
            <p:ph idx="4294967295"/>
          </p:nvPr>
        </p:nvSpPr>
        <p:spPr>
          <a:xfrm>
            <a:off x="961053" y="466532"/>
            <a:ext cx="10403633" cy="5971590"/>
          </a:xfrm>
        </p:spPr>
        <p:txBody>
          <a:bodyPr>
            <a:normAutofit fontScale="92500"/>
          </a:bodyPr>
          <a:lstStyle/>
          <a:p>
            <a:pPr lvl="0" algn="just">
              <a:lnSpc>
                <a:spcPct val="110000"/>
              </a:lnSpc>
              <a:buFont typeface="Wingdings" panose="05000000000000000000" pitchFamily="2" charset="2"/>
              <a:buChar char="ü"/>
            </a:pPr>
            <a:r>
              <a:rPr lang="bg-BG" sz="2400" b="1" u="sng" dirty="0">
                <a:latin typeface="Arial" panose="020B0604020202020204" pitchFamily="34" charset="0"/>
                <a:cs typeface="Arial" panose="020B0604020202020204" pitchFamily="34" charset="0"/>
              </a:rPr>
              <a:t>Ролеви игри</a:t>
            </a:r>
            <a:r>
              <a:rPr lang="bg-BG" sz="2400" b="1" dirty="0">
                <a:latin typeface="Arial" panose="020B0604020202020204" pitchFamily="34" charset="0"/>
                <a:cs typeface="Arial" panose="020B0604020202020204" pitchFamily="34" charset="0"/>
              </a:rPr>
              <a:t>:</a:t>
            </a:r>
            <a:r>
              <a:rPr lang="bg-BG" sz="2400" dirty="0">
                <a:latin typeface="Arial" panose="020B0604020202020204" pitchFamily="34" charset="0"/>
                <a:cs typeface="Arial" panose="020B0604020202020204" pitchFamily="34" charset="0"/>
              </a:rPr>
              <a:t> Това е най-мощният инструмент за социално учене. Участниците влизат в сценарии „Инструктор – Курсист“, където се разиграват специфични психологически профили: от „свръхамбициозния млад водач“ до „паникьосания начинаещ“. Чрез ролевата игра бъдещият инструктор се учи да контролира собствените си емоции, да модулира гласа си и да намира точния момент за вербална или физическа намеса, без да пречупва увереността на ученика.</a:t>
            </a:r>
          </a:p>
          <a:p>
            <a:pPr marL="0" lvl="0" indent="0" algn="just">
              <a:lnSpc>
                <a:spcPct val="110000"/>
              </a:lnSpc>
              <a:buNone/>
            </a:pPr>
            <a:endParaRPr lang="bg-BG" sz="2400" dirty="0">
              <a:latin typeface="Arial" panose="020B0604020202020204" pitchFamily="34" charset="0"/>
              <a:cs typeface="Arial" panose="020B0604020202020204" pitchFamily="34" charset="0"/>
            </a:endParaRPr>
          </a:p>
          <a:p>
            <a:pPr lvl="0" algn="just">
              <a:lnSpc>
                <a:spcPct val="110000"/>
              </a:lnSpc>
              <a:buFont typeface="Wingdings" panose="05000000000000000000" pitchFamily="2" charset="2"/>
              <a:buChar char="ü"/>
            </a:pPr>
            <a:r>
              <a:rPr lang="bg-BG" sz="2400" b="1" u="sng" dirty="0">
                <a:latin typeface="Arial" panose="020B0604020202020204" pitchFamily="34" charset="0"/>
                <a:cs typeface="Arial" panose="020B0604020202020204" pitchFamily="34" charset="0"/>
              </a:rPr>
              <a:t>Метод на казусите</a:t>
            </a:r>
            <a:r>
              <a:rPr lang="bg-BG" sz="2400" b="1" dirty="0">
                <a:latin typeface="Arial" panose="020B0604020202020204" pitchFamily="34" charset="0"/>
                <a:cs typeface="Arial" panose="020B0604020202020204" pitchFamily="34" charset="0"/>
              </a:rPr>
              <a:t> (Case Studies):</a:t>
            </a:r>
            <a:r>
              <a:rPr lang="bg-BG" sz="2400" dirty="0">
                <a:latin typeface="Arial" panose="020B0604020202020204" pitchFamily="34" charset="0"/>
                <a:cs typeface="Arial" panose="020B0604020202020204" pitchFamily="34" charset="0"/>
              </a:rPr>
              <a:t> Работата с реални казуси позволява на групата да анализира сложни ситуации от миналото – ПТП по време на учебен час, технически повреди в движение или конфликти с други участници в пътното движение. Анализът на казуса изисква от участниците да предложат не само законово решение, но и педагогически изход: „Какво бихме казали на курсиста след тази ситуация, за да не се откаже от шофирането?“.</a:t>
            </a:r>
          </a:p>
          <a:p>
            <a:endParaRPr lang="bg-BG" dirty="0"/>
          </a:p>
        </p:txBody>
      </p:sp>
    </p:spTree>
    <p:extLst>
      <p:ext uri="{BB962C8B-B14F-4D97-AF65-F5344CB8AC3E}">
        <p14:creationId xmlns:p14="http://schemas.microsoft.com/office/powerpoint/2010/main" val="30286414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46DA1A7-6D1D-EAA8-AFFC-35E25EA591C4}"/>
              </a:ext>
            </a:extLst>
          </p:cNvPr>
          <p:cNvSpPr txBox="1"/>
          <p:nvPr/>
        </p:nvSpPr>
        <p:spPr>
          <a:xfrm>
            <a:off x="721567" y="1054359"/>
            <a:ext cx="10748866" cy="5632311"/>
          </a:xfrm>
          <a:prstGeom prst="rect">
            <a:avLst/>
          </a:prstGeom>
          <a:noFill/>
        </p:spPr>
        <p:txBody>
          <a:bodyPr wrap="square">
            <a:spAutoFit/>
          </a:bodyPr>
          <a:lstStyle/>
          <a:p>
            <a:pPr marL="342900" lvl="0" indent="-342900" algn="just">
              <a:spcAft>
                <a:spcPts val="1000"/>
              </a:spcAft>
              <a:buFont typeface="Wingdings" panose="05000000000000000000" pitchFamily="2" charset="2"/>
              <a:buChar char=""/>
            </a:pPr>
            <a:r>
              <a:rPr lang="bg-BG" sz="2400" b="1" u="sng" dirty="0">
                <a:effectLst/>
                <a:latin typeface="Arial" panose="020B0604020202020204" pitchFamily="34" charset="0"/>
                <a:ea typeface="Times New Roman" panose="02020603050405020304" pitchFamily="18" charset="0"/>
                <a:cs typeface="Arial" panose="020B0604020202020204" pitchFamily="34" charset="0"/>
              </a:rPr>
              <a:t>Дискусии</a:t>
            </a:r>
            <a:r>
              <a:rPr lang="bg-BG" sz="2400" b="1" dirty="0">
                <a:effectLst/>
                <a:latin typeface="Arial" panose="020B0604020202020204" pitchFamily="34" charset="0"/>
                <a:ea typeface="Times New Roman" panose="02020603050405020304" pitchFamily="18" charset="0"/>
                <a:cs typeface="Arial" panose="020B0604020202020204" pitchFamily="34" charset="0"/>
              </a:rPr>
              <a:t>:</a:t>
            </a:r>
            <a:r>
              <a:rPr lang="bg-BG" sz="2400" dirty="0">
                <a:effectLst/>
                <a:latin typeface="Arial" panose="020B0604020202020204" pitchFamily="34" charset="0"/>
                <a:ea typeface="Times New Roman" panose="02020603050405020304" pitchFamily="18" charset="0"/>
                <a:cs typeface="Arial" panose="020B0604020202020204" pitchFamily="34" charset="0"/>
              </a:rPr>
              <a:t> Дискусионният формат е мястото, където се сблъскват различните нива на опит. Тук се изчистват „сивите зони“ в тълкуването на Закона за движение по пътищата. Груповата дискусия помага за уеднаквяване на критериите за оценяване, така че бъдещите инструктори да имат обективни изисквания към грешките на своите ученици.</a:t>
            </a:r>
          </a:p>
          <a:p>
            <a:pPr lvl="0" algn="just">
              <a:spcAft>
                <a:spcPts val="1000"/>
              </a:spcAft>
            </a:pPr>
            <a:endParaRPr lang="bg-BG" sz="2400" dirty="0">
              <a:effectLst/>
              <a:latin typeface="Arial" panose="020B0604020202020204" pitchFamily="34" charset="0"/>
              <a:ea typeface="Times New Roman" panose="02020603050405020304" pitchFamily="18" charset="0"/>
              <a:cs typeface="Arial" panose="020B0604020202020204" pitchFamily="34" charset="0"/>
            </a:endParaRPr>
          </a:p>
          <a:p>
            <a:pPr marL="342900" lvl="0" indent="-342900" algn="just">
              <a:spcAft>
                <a:spcPts val="1000"/>
              </a:spcAft>
              <a:buFont typeface="Wingdings" panose="05000000000000000000" pitchFamily="2" charset="2"/>
              <a:buChar char=""/>
            </a:pPr>
            <a:r>
              <a:rPr lang="bg-BG" sz="2400" b="1" u="sng" dirty="0">
                <a:effectLst/>
                <a:latin typeface="Arial" panose="020B0604020202020204" pitchFamily="34" charset="0"/>
                <a:ea typeface="Times New Roman" panose="02020603050405020304" pitchFamily="18" charset="0"/>
                <a:cs typeface="Arial" panose="020B0604020202020204" pitchFamily="34" charset="0"/>
              </a:rPr>
              <a:t>Мозъчна атака</a:t>
            </a:r>
            <a:r>
              <a:rPr lang="bg-BG" sz="2400" b="1" dirty="0">
                <a:latin typeface="Arial" panose="020B0604020202020204" pitchFamily="34" charset="0"/>
                <a:ea typeface="Times New Roman" panose="02020603050405020304" pitchFamily="18" charset="0"/>
                <a:cs typeface="Arial" panose="020B0604020202020204" pitchFamily="34" charset="0"/>
              </a:rPr>
              <a:t> </a:t>
            </a:r>
            <a:r>
              <a:rPr lang="bg-BG" sz="2400" b="1" dirty="0">
                <a:effectLst/>
                <a:latin typeface="Arial" panose="020B0604020202020204" pitchFamily="34" charset="0"/>
                <a:ea typeface="Times New Roman" panose="02020603050405020304" pitchFamily="18" charset="0"/>
                <a:cs typeface="Arial" panose="020B0604020202020204" pitchFamily="34" charset="0"/>
              </a:rPr>
              <a:t>(Brainstorming):</a:t>
            </a:r>
            <a:r>
              <a:rPr lang="bg-BG" sz="2400" dirty="0">
                <a:effectLst/>
                <a:latin typeface="Arial" panose="020B0604020202020204" pitchFamily="34" charset="0"/>
                <a:ea typeface="Times New Roman" panose="02020603050405020304" pitchFamily="18" charset="0"/>
                <a:cs typeface="Arial" panose="020B0604020202020204" pitchFamily="34" charset="0"/>
              </a:rPr>
              <a:t> Този метод се използва най-често при търсене на иновативни методи за обяснение на трудни теми. Например, групата може да генерира идеи за „най-простата метафора, с която да обясним работата на диференциала или съединителя“. Мозъчната атака насърчава креативността и показва, че в педагогиката няма само един правилен път за предаване на знание.</a:t>
            </a:r>
            <a:endParaRPr lang="bg-BG" sz="2400" dirty="0">
              <a:latin typeface="Arial" panose="020B0604020202020204" pitchFamily="34" charset="0"/>
              <a:ea typeface="Times New Roman" panose="02020603050405020304" pitchFamily="18" charset="0"/>
              <a:cs typeface="Arial" panose="020B0604020202020204" pitchFamily="34" charset="0"/>
            </a:endParaRPr>
          </a:p>
          <a:p>
            <a:pPr lvl="0" algn="just">
              <a:spcAft>
                <a:spcPts val="1000"/>
              </a:spcAft>
            </a:pPr>
            <a:endParaRPr lang="bg-BG" sz="2300" dirty="0">
              <a:effectLst/>
              <a:latin typeface="Arial" panose="020B060402020202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39544662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20E5F6C-3435-F29D-5B91-6EFC537A5614}"/>
              </a:ext>
            </a:extLst>
          </p:cNvPr>
          <p:cNvSpPr txBox="1"/>
          <p:nvPr/>
        </p:nvSpPr>
        <p:spPr>
          <a:xfrm>
            <a:off x="1026367" y="1017037"/>
            <a:ext cx="10384973" cy="4042132"/>
          </a:xfrm>
          <a:prstGeom prst="rect">
            <a:avLst/>
          </a:prstGeom>
          <a:noFill/>
        </p:spPr>
        <p:txBody>
          <a:bodyPr wrap="square">
            <a:spAutoFit/>
          </a:bodyPr>
          <a:lstStyle/>
          <a:p>
            <a:pPr marL="342900" lvl="0" indent="-342900" algn="just">
              <a:spcAft>
                <a:spcPts val="1000"/>
              </a:spcAft>
              <a:buFont typeface="Wingdings" panose="05000000000000000000" pitchFamily="2" charset="2"/>
              <a:buChar char=""/>
            </a:pPr>
            <a:r>
              <a:rPr lang="bg-BG" sz="2400" b="1" u="sng" dirty="0">
                <a:latin typeface="Arial" panose="020B0604020202020204" pitchFamily="34" charset="0"/>
                <a:cs typeface="Arial" panose="020B0604020202020204" pitchFamily="34" charset="0"/>
              </a:rPr>
              <a:t>Групови задачи</a:t>
            </a:r>
            <a:r>
              <a:rPr lang="bg-BG" sz="2400" b="1" dirty="0">
                <a:latin typeface="Arial" panose="020B0604020202020204" pitchFamily="34" charset="0"/>
                <a:cs typeface="Arial" panose="020B0604020202020204" pitchFamily="34" charset="0"/>
              </a:rPr>
              <a:t>:</a:t>
            </a:r>
            <a:r>
              <a:rPr lang="bg-BG" sz="2400" dirty="0">
                <a:latin typeface="Arial" panose="020B0604020202020204" pitchFamily="34" charset="0"/>
                <a:cs typeface="Arial" panose="020B0604020202020204" pitchFamily="34" charset="0"/>
              </a:rPr>
              <a:t> Участниците често се разделят на малки екипи за изготвяне на методика за специфичен учебен час (например: „Първо излизане на извънградско движение“). Съвместната работа по проект развива умения за екипност и взаимен контрол – качества, които са жизненоважни за колегиалната среда в една автошкола.</a:t>
            </a:r>
          </a:p>
          <a:p>
            <a:pPr lvl="0" algn="just">
              <a:spcAft>
                <a:spcPts val="1000"/>
              </a:spcAft>
            </a:pPr>
            <a:endParaRPr lang="bg-BG" sz="2400" dirty="0">
              <a:latin typeface="Arial" panose="020B0604020202020204" pitchFamily="34" charset="0"/>
              <a:cs typeface="Arial" panose="020B0604020202020204" pitchFamily="34" charset="0"/>
            </a:endParaRPr>
          </a:p>
          <a:p>
            <a:pPr algn="just"/>
            <a:r>
              <a:rPr lang="bg-BG" sz="2400" dirty="0">
                <a:latin typeface="Arial" panose="020B0604020202020204" pitchFamily="34" charset="0"/>
                <a:cs typeface="Arial" panose="020B0604020202020204" pitchFamily="34" charset="0"/>
              </a:rPr>
              <a:t>	Тези интерактивни техники не само стимулират активното учене, но и изграждат най-важното качество на инструктора – способността за адаптация. Те превръщат сухата материя в жив опит, подготвяйки кандидатите за непредвидимата динамика на реалния трафик.</a:t>
            </a:r>
          </a:p>
        </p:txBody>
      </p:sp>
    </p:spTree>
    <p:extLst>
      <p:ext uri="{BB962C8B-B14F-4D97-AF65-F5344CB8AC3E}">
        <p14:creationId xmlns:p14="http://schemas.microsoft.com/office/powerpoint/2010/main" val="20779609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4C08160-A220-D493-2466-991BF312F0CF}"/>
              </a:ext>
            </a:extLst>
          </p:cNvPr>
          <p:cNvSpPr txBox="1"/>
          <p:nvPr/>
        </p:nvSpPr>
        <p:spPr>
          <a:xfrm>
            <a:off x="933061" y="438539"/>
            <a:ext cx="10599575" cy="5492016"/>
          </a:xfrm>
          <a:prstGeom prst="rect">
            <a:avLst/>
          </a:prstGeom>
          <a:noFill/>
        </p:spPr>
        <p:txBody>
          <a:bodyPr wrap="square">
            <a:spAutoFit/>
          </a:bodyPr>
          <a:lstStyle/>
          <a:p>
            <a:pPr algn="ctr">
              <a:lnSpc>
                <a:spcPct val="150000"/>
              </a:lnSpc>
              <a:spcAft>
                <a:spcPts val="1000"/>
              </a:spcAft>
              <a:buNone/>
            </a:pPr>
            <a:r>
              <a:rPr lang="bg-BG" sz="3000" b="1" i="1" dirty="0">
                <a:effectLst/>
                <a:latin typeface="Arial" panose="020B0604020202020204" pitchFamily="34" charset="0"/>
                <a:ea typeface="Calibri" panose="020F0502020204030204" pitchFamily="34" charset="0"/>
                <a:cs typeface="Arial" panose="020B0604020202020204" pitchFamily="34" charset="0"/>
              </a:rPr>
              <a:t>6. Фактори за ефективност</a:t>
            </a:r>
            <a:endParaRPr lang="bg-BG" sz="3000" dirty="0">
              <a:effectLst/>
              <a:latin typeface="Arial" panose="020B0604020202020204" pitchFamily="34" charset="0"/>
              <a:ea typeface="Calibri" panose="020F0502020204030204" pitchFamily="34" charset="0"/>
              <a:cs typeface="Arial" panose="020B0604020202020204" pitchFamily="34" charset="0"/>
            </a:endParaRPr>
          </a:p>
          <a:p>
            <a:pPr algn="just">
              <a:lnSpc>
                <a:spcPct val="150000"/>
              </a:lnSpc>
              <a:spcAft>
                <a:spcPts val="1000"/>
              </a:spcAft>
              <a:buNone/>
            </a:pPr>
            <a:r>
              <a:rPr lang="bg-BG"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bg-BG" sz="2400" dirty="0">
                <a:effectLst/>
                <a:latin typeface="Arial" panose="020B0604020202020204" pitchFamily="34" charset="0"/>
                <a:ea typeface="Calibri" panose="020F0502020204030204" pitchFamily="34" charset="0"/>
                <a:cs typeface="Arial" panose="020B0604020202020204" pitchFamily="34" charset="0"/>
              </a:rPr>
              <a:t>Ефективността зависи от:</a:t>
            </a:r>
          </a:p>
          <a:p>
            <a:pPr marL="342900" lvl="0" indent="-342900" algn="just">
              <a:lnSpc>
                <a:spcPct val="150000"/>
              </a:lnSpc>
              <a:spcAft>
                <a:spcPts val="1000"/>
              </a:spcAft>
              <a:buSzPts val="1000"/>
              <a:buFont typeface="Symbol" panose="05050102010706020507" pitchFamily="18" charset="2"/>
              <a:buChar char=""/>
              <a:tabLst>
                <a:tab pos="457200" algn="l"/>
              </a:tabLst>
            </a:pPr>
            <a:r>
              <a:rPr lang="bg-BG" sz="2400" dirty="0">
                <a:effectLst/>
                <a:latin typeface="Arial" panose="020B0604020202020204" pitchFamily="34" charset="0"/>
                <a:ea typeface="Calibri" panose="020F0502020204030204" pitchFamily="34" charset="0"/>
                <a:cs typeface="Arial" panose="020B0604020202020204" pitchFamily="34" charset="0"/>
              </a:rPr>
              <a:t>добрата организация; </a:t>
            </a:r>
          </a:p>
          <a:p>
            <a:pPr marL="342900" lvl="0" indent="-342900" algn="just">
              <a:lnSpc>
                <a:spcPct val="150000"/>
              </a:lnSpc>
              <a:spcAft>
                <a:spcPts val="1000"/>
              </a:spcAft>
              <a:buSzPts val="1000"/>
              <a:buFont typeface="Symbol" panose="05050102010706020507" pitchFamily="18" charset="2"/>
              <a:buChar char=""/>
              <a:tabLst>
                <a:tab pos="457200" algn="l"/>
              </a:tabLst>
            </a:pPr>
            <a:r>
              <a:rPr lang="bg-BG" sz="2400" dirty="0">
                <a:effectLst/>
                <a:latin typeface="Arial" panose="020B0604020202020204" pitchFamily="34" charset="0"/>
                <a:ea typeface="Calibri" panose="020F0502020204030204" pitchFamily="34" charset="0"/>
                <a:cs typeface="Arial" panose="020B0604020202020204" pitchFamily="34" charset="0"/>
              </a:rPr>
              <a:t>квалификацията на обучителя; </a:t>
            </a:r>
          </a:p>
          <a:p>
            <a:pPr marL="342900" lvl="0" indent="-342900" algn="just">
              <a:lnSpc>
                <a:spcPct val="150000"/>
              </a:lnSpc>
              <a:spcAft>
                <a:spcPts val="1000"/>
              </a:spcAft>
              <a:buSzPts val="1000"/>
              <a:buFont typeface="Symbol" panose="05050102010706020507" pitchFamily="18" charset="2"/>
              <a:buChar char=""/>
              <a:tabLst>
                <a:tab pos="457200" algn="l"/>
              </a:tabLst>
            </a:pPr>
            <a:r>
              <a:rPr lang="bg-BG" sz="2400" dirty="0">
                <a:effectLst/>
                <a:latin typeface="Arial" panose="020B0604020202020204" pitchFamily="34" charset="0"/>
                <a:ea typeface="Calibri" panose="020F0502020204030204" pitchFamily="34" charset="0"/>
                <a:cs typeface="Arial" panose="020B0604020202020204" pitchFamily="34" charset="0"/>
              </a:rPr>
              <a:t>ангажираността на участниците; </a:t>
            </a:r>
          </a:p>
          <a:p>
            <a:pPr marL="342900" lvl="0" indent="-342900" algn="just">
              <a:lnSpc>
                <a:spcPct val="150000"/>
              </a:lnSpc>
              <a:spcAft>
                <a:spcPts val="1000"/>
              </a:spcAft>
              <a:buSzPts val="1000"/>
              <a:buFont typeface="Symbol" panose="05050102010706020507" pitchFamily="18" charset="2"/>
              <a:buChar char=""/>
              <a:tabLst>
                <a:tab pos="457200" algn="l"/>
              </a:tabLst>
            </a:pPr>
            <a:r>
              <a:rPr lang="bg-BG" sz="2400" dirty="0">
                <a:effectLst/>
                <a:latin typeface="Arial" panose="020B0604020202020204" pitchFamily="34" charset="0"/>
                <a:ea typeface="Calibri" panose="020F0502020204030204" pitchFamily="34" charset="0"/>
                <a:cs typeface="Arial" panose="020B0604020202020204" pitchFamily="34" charset="0"/>
              </a:rPr>
              <a:t>подходяща среда; </a:t>
            </a:r>
          </a:p>
          <a:p>
            <a:pPr marL="342900" lvl="0" indent="-342900" algn="just">
              <a:lnSpc>
                <a:spcPct val="150000"/>
              </a:lnSpc>
              <a:spcAft>
                <a:spcPts val="1000"/>
              </a:spcAft>
              <a:buSzPts val="1000"/>
              <a:buFont typeface="Symbol" panose="05050102010706020507" pitchFamily="18" charset="2"/>
              <a:buChar char=""/>
              <a:tabLst>
                <a:tab pos="457200" algn="l"/>
              </a:tabLst>
            </a:pPr>
            <a:r>
              <a:rPr lang="bg-BG" sz="2400" dirty="0">
                <a:effectLst/>
                <a:latin typeface="Arial" panose="020B0604020202020204" pitchFamily="34" charset="0"/>
                <a:ea typeface="Calibri" panose="020F0502020204030204" pitchFamily="34" charset="0"/>
                <a:cs typeface="Arial" panose="020B0604020202020204" pitchFamily="34" charset="0"/>
              </a:rPr>
              <a:t>обратна връзка. </a:t>
            </a:r>
          </a:p>
          <a:p>
            <a:pPr algn="just">
              <a:lnSpc>
                <a:spcPct val="150000"/>
              </a:lnSpc>
              <a:spcAft>
                <a:spcPts val="1000"/>
              </a:spcAft>
              <a:buNone/>
            </a:pPr>
            <a:r>
              <a:rPr lang="bg-BG" sz="2400" dirty="0">
                <a:effectLst/>
                <a:latin typeface="Arial" panose="020B0604020202020204" pitchFamily="34" charset="0"/>
                <a:ea typeface="Times New Roman" panose="02020603050405020304" pitchFamily="18" charset="0"/>
                <a:cs typeface="Arial" panose="020B0604020202020204" pitchFamily="34" charset="0"/>
              </a:rPr>
              <a:t>Ефективността на учебния процес се корени в няколко основни стълба:</a:t>
            </a:r>
            <a:endParaRPr lang="bg-BG" sz="2400" dirty="0">
              <a:effectLst/>
              <a:latin typeface="Arial" panose="020B060402020202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9666924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A6AF40B-7348-7CF2-F83C-C61DEDBAD001}"/>
              </a:ext>
            </a:extLst>
          </p:cNvPr>
          <p:cNvSpPr txBox="1"/>
          <p:nvPr/>
        </p:nvSpPr>
        <p:spPr>
          <a:xfrm>
            <a:off x="793102" y="401215"/>
            <a:ext cx="10655558" cy="6293454"/>
          </a:xfrm>
          <a:prstGeom prst="rect">
            <a:avLst/>
          </a:prstGeom>
          <a:noFill/>
        </p:spPr>
        <p:txBody>
          <a:bodyPr wrap="square">
            <a:spAutoFit/>
          </a:bodyPr>
          <a:lstStyle/>
          <a:p>
            <a:pPr marL="342900" lvl="0" indent="-342900" algn="just">
              <a:lnSpc>
                <a:spcPct val="150000"/>
              </a:lnSpc>
              <a:spcAft>
                <a:spcPts val="1000"/>
              </a:spcAft>
              <a:buFont typeface="Wingdings" panose="05000000000000000000" pitchFamily="2" charset="2"/>
              <a:buChar char=""/>
            </a:pPr>
            <a:r>
              <a:rPr lang="bg-BG" sz="2000" b="1" i="1" dirty="0">
                <a:latin typeface="Arial" panose="020B0604020202020204" pitchFamily="34" charset="0"/>
                <a:ea typeface="Times New Roman" panose="02020603050405020304" pitchFamily="18" charset="0"/>
                <a:cs typeface="Arial" panose="020B0604020202020204" pitchFamily="34" charset="0"/>
              </a:rPr>
              <a:t>Добра организация и планиране</a:t>
            </a:r>
            <a:r>
              <a:rPr lang="bg-BG" sz="2000" b="1" dirty="0">
                <a:effectLst/>
                <a:latin typeface="Arial" panose="020B0604020202020204" pitchFamily="34" charset="0"/>
                <a:ea typeface="Times New Roman" panose="02020603050405020304" pitchFamily="18" charset="0"/>
                <a:cs typeface="Arial" panose="020B0604020202020204" pitchFamily="34" charset="0"/>
              </a:rPr>
              <a:t>:</a:t>
            </a:r>
            <a:r>
              <a:rPr lang="bg-BG" sz="2000" dirty="0">
                <a:effectLst/>
                <a:latin typeface="Arial" panose="020B0604020202020204" pitchFamily="34" charset="0"/>
                <a:ea typeface="Times New Roman" panose="02020603050405020304" pitchFamily="18" charset="0"/>
                <a:cs typeface="Arial" panose="020B0604020202020204" pitchFamily="34" charset="0"/>
              </a:rPr>
              <a:t> Успехът започва с прецизна логистика – от избора на подходящо време за заетост на работещи хора до осигуряването на достъпни и модерни учебни материали. Когато графикът е предвидим, участниците могат да се фокусират изцяло върху усвояването на знанията.</a:t>
            </a:r>
            <a:endParaRPr lang="bg-BG" sz="2000" dirty="0">
              <a:effectLst/>
              <a:latin typeface="Arial" panose="020B0604020202020204" pitchFamily="34" charset="0"/>
              <a:ea typeface="Calibri" panose="020F0502020204030204" pitchFamily="34" charset="0"/>
              <a:cs typeface="Arial" panose="020B0604020202020204" pitchFamily="34" charset="0"/>
            </a:endParaRPr>
          </a:p>
          <a:p>
            <a:pPr marL="342900" lvl="0" indent="-342900" algn="just">
              <a:lnSpc>
                <a:spcPct val="150000"/>
              </a:lnSpc>
              <a:spcAft>
                <a:spcPts val="1000"/>
              </a:spcAft>
              <a:buFont typeface="Wingdings" panose="05000000000000000000" pitchFamily="2" charset="2"/>
              <a:buChar char=""/>
            </a:pPr>
            <a:r>
              <a:rPr lang="bg-BG" sz="2000" b="1" i="1" dirty="0">
                <a:effectLst/>
                <a:latin typeface="Arial" panose="020B0604020202020204" pitchFamily="34" charset="0"/>
                <a:ea typeface="Times New Roman" panose="02020603050405020304" pitchFamily="18" charset="0"/>
                <a:cs typeface="Arial" panose="020B0604020202020204" pitchFamily="34" charset="0"/>
              </a:rPr>
              <a:t>Висока квалификация на обучителя</a:t>
            </a:r>
            <a:r>
              <a:rPr lang="bg-BG" sz="2000" b="1" dirty="0">
                <a:effectLst/>
                <a:latin typeface="Arial" panose="020B0604020202020204" pitchFamily="34" charset="0"/>
                <a:ea typeface="Times New Roman" panose="02020603050405020304" pitchFamily="18" charset="0"/>
                <a:cs typeface="Arial" panose="020B0604020202020204" pitchFamily="34" charset="0"/>
              </a:rPr>
              <a:t>:</a:t>
            </a:r>
            <a:r>
              <a:rPr lang="bg-BG" sz="2000" dirty="0">
                <a:effectLst/>
                <a:latin typeface="Arial" panose="020B0604020202020204" pitchFamily="34" charset="0"/>
                <a:ea typeface="Times New Roman" panose="02020603050405020304" pitchFamily="18" charset="0"/>
                <a:cs typeface="Arial" panose="020B0604020202020204" pitchFamily="34" charset="0"/>
              </a:rPr>
              <a:t> Обучителят трябва да бъде не само експерт по ЗДвП, но и фасилитатор с висока емоционална интелигентност. Неговата роля е да насочва групата през критичните етапи на развитие, да вдъхва доверие и да превежда сложните нормативни изисквания на езика на практиката.</a:t>
            </a:r>
            <a:endParaRPr lang="bg-BG" sz="2000" dirty="0">
              <a:effectLst/>
              <a:latin typeface="Arial" panose="020B0604020202020204" pitchFamily="34" charset="0"/>
              <a:ea typeface="Calibri" panose="020F0502020204030204" pitchFamily="34" charset="0"/>
              <a:cs typeface="Arial" panose="020B0604020202020204" pitchFamily="34" charset="0"/>
            </a:endParaRPr>
          </a:p>
          <a:p>
            <a:pPr marL="342900" lvl="0" indent="-342900" algn="just">
              <a:lnSpc>
                <a:spcPct val="150000"/>
              </a:lnSpc>
              <a:spcAft>
                <a:spcPts val="1000"/>
              </a:spcAft>
              <a:buFont typeface="Wingdings" panose="05000000000000000000" pitchFamily="2" charset="2"/>
              <a:buChar char=""/>
            </a:pPr>
            <a:r>
              <a:rPr lang="bg-BG" sz="2000" b="1" i="1" dirty="0">
                <a:effectLst/>
                <a:latin typeface="Arial" panose="020B0604020202020204" pitchFamily="34" charset="0"/>
                <a:ea typeface="Times New Roman" panose="02020603050405020304" pitchFamily="18" charset="0"/>
                <a:cs typeface="Arial" panose="020B0604020202020204" pitchFamily="34" charset="0"/>
              </a:rPr>
              <a:t>Ангажираност на участниците</a:t>
            </a:r>
            <a:r>
              <a:rPr lang="bg-BG" sz="2000" b="1" dirty="0">
                <a:effectLst/>
                <a:latin typeface="Arial" panose="020B0604020202020204" pitchFamily="34" charset="0"/>
                <a:ea typeface="Times New Roman" panose="02020603050405020304" pitchFamily="18" charset="0"/>
                <a:cs typeface="Arial" panose="020B0604020202020204" pitchFamily="34" charset="0"/>
              </a:rPr>
              <a:t>:</a:t>
            </a:r>
            <a:r>
              <a:rPr lang="bg-BG" sz="2000" dirty="0">
                <a:effectLst/>
                <a:latin typeface="Arial" panose="020B0604020202020204" pitchFamily="34" charset="0"/>
                <a:ea typeface="Times New Roman" panose="02020603050405020304" pitchFamily="18" charset="0"/>
                <a:cs typeface="Arial" panose="020B0604020202020204" pitchFamily="34" charset="0"/>
              </a:rPr>
              <a:t> Активното участие е задължително за усвояването на нови умения. Когато бъдещите инструктори са лично мотивирани и се включват в решаването на казуси, те спират да бъдат пасивни слушатели и стават активни съавтори на учебния процес. Това гарантира, че наученото ще се приложи реално в бъдещата им работа.</a:t>
            </a:r>
            <a:endParaRPr lang="bg-BG" sz="2000" dirty="0">
              <a:effectLst/>
              <a:latin typeface="Arial" panose="020B060402020202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30730851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617AA45-84E9-BD19-9FC1-EB4CCDB2B431}"/>
              </a:ext>
            </a:extLst>
          </p:cNvPr>
          <p:cNvSpPr txBox="1"/>
          <p:nvPr/>
        </p:nvSpPr>
        <p:spPr>
          <a:xfrm>
            <a:off x="783771" y="335902"/>
            <a:ext cx="10468947" cy="6293454"/>
          </a:xfrm>
          <a:prstGeom prst="rect">
            <a:avLst/>
          </a:prstGeom>
          <a:noFill/>
        </p:spPr>
        <p:txBody>
          <a:bodyPr wrap="square">
            <a:spAutoFit/>
          </a:bodyPr>
          <a:lstStyle/>
          <a:p>
            <a:pPr marL="342900" lvl="0" indent="-342900" algn="just">
              <a:lnSpc>
                <a:spcPct val="150000"/>
              </a:lnSpc>
              <a:spcAft>
                <a:spcPts val="1000"/>
              </a:spcAft>
              <a:buFont typeface="Wingdings" panose="05000000000000000000" pitchFamily="2" charset="2"/>
              <a:buChar char=""/>
            </a:pPr>
            <a:r>
              <a:rPr lang="bg-BG" sz="2000" b="1" i="1" dirty="0">
                <a:effectLst/>
                <a:latin typeface="Arial" panose="020B0604020202020204" pitchFamily="34" charset="0"/>
                <a:ea typeface="Times New Roman" panose="02020603050405020304" pitchFamily="18" charset="0"/>
                <a:cs typeface="Arial" panose="020B0604020202020204" pitchFamily="34" charset="0"/>
              </a:rPr>
              <a:t>Подходяща учебна среда</a:t>
            </a:r>
            <a:r>
              <a:rPr lang="bg-BG" sz="2000" b="1" dirty="0">
                <a:effectLst/>
                <a:latin typeface="Arial" panose="020B0604020202020204" pitchFamily="34" charset="0"/>
                <a:ea typeface="Times New Roman" panose="02020603050405020304" pitchFamily="18" charset="0"/>
                <a:cs typeface="Arial" panose="020B0604020202020204" pitchFamily="34" charset="0"/>
              </a:rPr>
              <a:t>:</a:t>
            </a:r>
            <a:r>
              <a:rPr lang="bg-BG" sz="2000" dirty="0">
                <a:effectLst/>
                <a:latin typeface="Arial" panose="020B0604020202020204" pitchFamily="34" charset="0"/>
                <a:ea typeface="Times New Roman" panose="02020603050405020304" pitchFamily="18" charset="0"/>
                <a:cs typeface="Arial" panose="020B0604020202020204" pitchFamily="34" charset="0"/>
              </a:rPr>
              <a:t> Ефективното учене изисква пространство, което предразполага към споделяне. Психологическата сигурност в групата позволява на участниците да правят грешки по време на симулациите и да се учат от тях, без страх от осъждане. Модерната техническа база (симулатори, мултимедия) допълнително стимулира възприемането на информацията.</a:t>
            </a:r>
            <a:endParaRPr lang="bg-BG" sz="2000" dirty="0">
              <a:effectLst/>
              <a:latin typeface="Arial" panose="020B0604020202020204" pitchFamily="34" charset="0"/>
              <a:ea typeface="Calibri" panose="020F0502020204030204" pitchFamily="34" charset="0"/>
              <a:cs typeface="Arial" panose="020B0604020202020204" pitchFamily="34" charset="0"/>
            </a:endParaRPr>
          </a:p>
          <a:p>
            <a:pPr marL="342900" lvl="0" indent="-342900" algn="just">
              <a:lnSpc>
                <a:spcPct val="150000"/>
              </a:lnSpc>
              <a:spcAft>
                <a:spcPts val="1000"/>
              </a:spcAft>
              <a:buFont typeface="Wingdings" panose="05000000000000000000" pitchFamily="2" charset="2"/>
              <a:buChar char=""/>
            </a:pPr>
            <a:r>
              <a:rPr lang="bg-BG" sz="2000" b="1" i="1" dirty="0">
                <a:effectLst/>
                <a:latin typeface="Arial" panose="020B0604020202020204" pitchFamily="34" charset="0"/>
                <a:ea typeface="Times New Roman" panose="02020603050405020304" pitchFamily="18" charset="0"/>
                <a:cs typeface="Arial" panose="020B0604020202020204" pitchFamily="34" charset="0"/>
              </a:rPr>
              <a:t>Навременна и конструктивна обратна връзка</a:t>
            </a:r>
            <a:r>
              <a:rPr lang="bg-BG" sz="2000" b="1" dirty="0">
                <a:effectLst/>
                <a:latin typeface="Arial" panose="020B0604020202020204" pitchFamily="34" charset="0"/>
                <a:ea typeface="Times New Roman" panose="02020603050405020304" pitchFamily="18" charset="0"/>
                <a:cs typeface="Arial" panose="020B0604020202020204" pitchFamily="34" charset="0"/>
              </a:rPr>
              <a:t>:</a:t>
            </a:r>
            <a:r>
              <a:rPr lang="bg-BG" sz="2000" dirty="0">
                <a:effectLst/>
                <a:latin typeface="Arial" panose="020B0604020202020204" pitchFamily="34" charset="0"/>
                <a:ea typeface="Times New Roman" panose="02020603050405020304" pitchFamily="18" charset="0"/>
                <a:cs typeface="Arial" panose="020B0604020202020204" pitchFamily="34" charset="0"/>
              </a:rPr>
              <a:t> Обратната връзка е компасът на обучението. Чрез нея участниците разбират точно в кои области на педагогиката са силни и къде имат нужда от подобрение. </a:t>
            </a:r>
            <a:endParaRPr lang="bg-BG" sz="2000" dirty="0">
              <a:effectLst/>
              <a:latin typeface="Arial" panose="020B0604020202020204" pitchFamily="34" charset="0"/>
              <a:ea typeface="Calibri" panose="020F0502020204030204" pitchFamily="34" charset="0"/>
              <a:cs typeface="Arial" panose="020B0604020202020204" pitchFamily="34" charset="0"/>
            </a:endParaRPr>
          </a:p>
          <a:p>
            <a:pPr algn="just">
              <a:lnSpc>
                <a:spcPct val="150000"/>
              </a:lnSpc>
              <a:spcAft>
                <a:spcPts val="1000"/>
              </a:spcAft>
              <a:buNone/>
            </a:pPr>
            <a:r>
              <a:rPr lang="bg-BG" sz="2000" dirty="0">
                <a:effectLst/>
                <a:latin typeface="Arial" panose="020B0604020202020204" pitchFamily="34" charset="0"/>
                <a:ea typeface="Times New Roman" panose="02020603050405020304" pitchFamily="18" charset="0"/>
                <a:cs typeface="Arial" panose="020B0604020202020204" pitchFamily="34" charset="0"/>
              </a:rPr>
              <a:t>	Интегрирането на тези фактори гарантира, че обучението ще достигне до най-високото ниво на реални резултати. Когато организацията е добра, а обучителят е подготвен, ангажираността на участниците расте естествено. Това води до трайна промяна в поведението им, което в дългосрочен план означава по-добре подготвени нови водачи.</a:t>
            </a:r>
            <a:endParaRPr lang="bg-BG" sz="2000" dirty="0">
              <a:effectLst/>
              <a:latin typeface="Arial" panose="020B060402020202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39130515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0DC97F4-2210-4BF6-D9CA-6034AB1F65C3}"/>
              </a:ext>
            </a:extLst>
          </p:cNvPr>
          <p:cNvSpPr txBox="1"/>
          <p:nvPr/>
        </p:nvSpPr>
        <p:spPr>
          <a:xfrm>
            <a:off x="933061" y="527340"/>
            <a:ext cx="10646229" cy="5652253"/>
          </a:xfrm>
          <a:prstGeom prst="rect">
            <a:avLst/>
          </a:prstGeom>
          <a:noFill/>
        </p:spPr>
        <p:txBody>
          <a:bodyPr wrap="square">
            <a:spAutoFit/>
          </a:bodyPr>
          <a:lstStyle/>
          <a:p>
            <a:pPr algn="ctr">
              <a:lnSpc>
                <a:spcPct val="150000"/>
              </a:lnSpc>
              <a:spcAft>
                <a:spcPts val="1000"/>
              </a:spcAft>
              <a:buNone/>
            </a:pPr>
            <a:r>
              <a:rPr lang="bg-BG" sz="3000" b="1" i="1" dirty="0">
                <a:effectLst/>
                <a:latin typeface="Arial" panose="020B0604020202020204" pitchFamily="34" charset="0"/>
                <a:ea typeface="Calibri" panose="020F0502020204030204" pitchFamily="34" charset="0"/>
                <a:cs typeface="Arial" panose="020B0604020202020204" pitchFamily="34" charset="0"/>
              </a:rPr>
              <a:t>7. Практически препоръки</a:t>
            </a:r>
            <a:endParaRPr lang="bg-BG" sz="3000" dirty="0">
              <a:effectLst/>
              <a:latin typeface="Arial" panose="020B0604020202020204" pitchFamily="34" charset="0"/>
              <a:ea typeface="Calibri" panose="020F0502020204030204" pitchFamily="34" charset="0"/>
              <a:cs typeface="Arial" panose="020B0604020202020204" pitchFamily="34" charset="0"/>
            </a:endParaRPr>
          </a:p>
          <a:p>
            <a:pPr algn="just">
              <a:lnSpc>
                <a:spcPct val="150000"/>
              </a:lnSpc>
              <a:spcAft>
                <a:spcPts val="1000"/>
              </a:spcAft>
              <a:buNone/>
            </a:pPr>
            <a:r>
              <a:rPr lang="bg-BG"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bg-BG" sz="2000" dirty="0">
                <a:effectLst/>
                <a:latin typeface="Arial" panose="020B0604020202020204" pitchFamily="34" charset="0"/>
                <a:ea typeface="Calibri" panose="020F0502020204030204" pitchFamily="34" charset="0"/>
                <a:cs typeface="Arial" panose="020B0604020202020204" pitchFamily="34" charset="0"/>
              </a:rPr>
              <a:t>За подобряване на обучението:</a:t>
            </a:r>
          </a:p>
          <a:p>
            <a:pPr marL="342900" lvl="0" indent="-342900" algn="just">
              <a:lnSpc>
                <a:spcPct val="150000"/>
              </a:lnSpc>
              <a:spcAft>
                <a:spcPts val="1000"/>
              </a:spcAft>
              <a:buSzPts val="1000"/>
              <a:buFont typeface="Symbol" panose="05050102010706020507" pitchFamily="18" charset="2"/>
              <a:buChar char=""/>
              <a:tabLst>
                <a:tab pos="457200" algn="l"/>
              </a:tabLst>
            </a:pPr>
            <a:r>
              <a:rPr lang="bg-BG" sz="2000" dirty="0">
                <a:effectLst/>
                <a:latin typeface="Arial" panose="020B0604020202020204" pitchFamily="34" charset="0"/>
                <a:ea typeface="Calibri" panose="020F0502020204030204" pitchFamily="34" charset="0"/>
                <a:cs typeface="Arial" panose="020B0604020202020204" pitchFamily="34" charset="0"/>
              </a:rPr>
              <a:t>да се адаптира към участниците; </a:t>
            </a:r>
          </a:p>
          <a:p>
            <a:pPr marL="342900" lvl="0" indent="-342900" algn="just">
              <a:lnSpc>
                <a:spcPct val="150000"/>
              </a:lnSpc>
              <a:spcAft>
                <a:spcPts val="1000"/>
              </a:spcAft>
              <a:buSzPts val="1000"/>
              <a:buFont typeface="Symbol" panose="05050102010706020507" pitchFamily="18" charset="2"/>
              <a:buChar char=""/>
              <a:tabLst>
                <a:tab pos="457200" algn="l"/>
              </a:tabLst>
            </a:pPr>
            <a:r>
              <a:rPr lang="bg-BG" sz="2000" dirty="0">
                <a:effectLst/>
                <a:latin typeface="Arial" panose="020B0604020202020204" pitchFamily="34" charset="0"/>
                <a:ea typeface="Calibri" panose="020F0502020204030204" pitchFamily="34" charset="0"/>
                <a:cs typeface="Arial" panose="020B0604020202020204" pitchFamily="34" charset="0"/>
              </a:rPr>
              <a:t>да се увеличи практиката; </a:t>
            </a:r>
          </a:p>
          <a:p>
            <a:pPr marL="342900" lvl="0" indent="-342900" algn="just">
              <a:lnSpc>
                <a:spcPct val="150000"/>
              </a:lnSpc>
              <a:spcAft>
                <a:spcPts val="1000"/>
              </a:spcAft>
              <a:buSzPts val="1000"/>
              <a:buFont typeface="Symbol" panose="05050102010706020507" pitchFamily="18" charset="2"/>
              <a:buChar char=""/>
              <a:tabLst>
                <a:tab pos="457200" algn="l"/>
              </a:tabLst>
            </a:pPr>
            <a:r>
              <a:rPr lang="bg-BG" sz="2000" dirty="0">
                <a:effectLst/>
                <a:latin typeface="Arial" panose="020B0604020202020204" pitchFamily="34" charset="0"/>
                <a:ea typeface="Calibri" panose="020F0502020204030204" pitchFamily="34" charset="0"/>
                <a:cs typeface="Arial" panose="020B0604020202020204" pitchFamily="34" charset="0"/>
              </a:rPr>
              <a:t>да се насърчава участие; </a:t>
            </a:r>
          </a:p>
          <a:p>
            <a:pPr marL="342900" lvl="0" indent="-342900" algn="just">
              <a:lnSpc>
                <a:spcPct val="150000"/>
              </a:lnSpc>
              <a:spcAft>
                <a:spcPts val="1000"/>
              </a:spcAft>
              <a:buSzPts val="1000"/>
              <a:buFont typeface="Symbol" panose="05050102010706020507" pitchFamily="18" charset="2"/>
              <a:buChar char=""/>
              <a:tabLst>
                <a:tab pos="457200" algn="l"/>
              </a:tabLst>
            </a:pPr>
            <a:r>
              <a:rPr lang="bg-BG" sz="2000" dirty="0">
                <a:effectLst/>
                <a:latin typeface="Arial" panose="020B0604020202020204" pitchFamily="34" charset="0"/>
                <a:ea typeface="Calibri" panose="020F0502020204030204" pitchFamily="34" charset="0"/>
                <a:cs typeface="Arial" panose="020B0604020202020204" pitchFamily="34" charset="0"/>
              </a:rPr>
              <a:t>да се използват технологии; </a:t>
            </a:r>
          </a:p>
          <a:p>
            <a:pPr marL="342900" lvl="0" indent="-342900" algn="just">
              <a:lnSpc>
                <a:spcPct val="150000"/>
              </a:lnSpc>
              <a:spcAft>
                <a:spcPts val="1000"/>
              </a:spcAft>
              <a:buFont typeface="Wingdings" panose="05000000000000000000" pitchFamily="2" charset="2"/>
              <a:buChar char=""/>
            </a:pPr>
            <a:r>
              <a:rPr lang="bg-BG" sz="2000" b="1" dirty="0">
                <a:effectLst/>
                <a:latin typeface="Arial" panose="020B0604020202020204" pitchFamily="34" charset="0"/>
                <a:ea typeface="Times New Roman" panose="02020603050405020304" pitchFamily="18" charset="0"/>
                <a:cs typeface="Arial" panose="020B0604020202020204" pitchFamily="34" charset="0"/>
              </a:rPr>
              <a:t>Адаптиране към участниците:</a:t>
            </a:r>
            <a:r>
              <a:rPr lang="bg-BG" sz="2000" dirty="0">
                <a:effectLst/>
                <a:latin typeface="Arial" panose="020B0604020202020204" pitchFamily="34" charset="0"/>
                <a:ea typeface="Times New Roman" panose="02020603050405020304" pitchFamily="18" charset="0"/>
                <a:cs typeface="Arial" panose="020B0604020202020204" pitchFamily="34" charset="0"/>
              </a:rPr>
              <a:t> Процесът трябва да започва с диагностика на опита. Професионалните шофьори имат нужда от повече педагогика, а по-младите кандидати – от технически детайли. Обучението е ефективно само когато запълва индивидуалните празнини в знанията.</a:t>
            </a:r>
            <a:endParaRPr lang="bg-BG" sz="2000" dirty="0">
              <a:effectLst/>
              <a:latin typeface="Arial" panose="020B060402020202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4545922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DC6F15B-6D74-AF4F-1839-A6033B79098F}"/>
              </a:ext>
            </a:extLst>
          </p:cNvPr>
          <p:cNvSpPr txBox="1"/>
          <p:nvPr/>
        </p:nvSpPr>
        <p:spPr>
          <a:xfrm>
            <a:off x="886409" y="466531"/>
            <a:ext cx="10627568" cy="5960030"/>
          </a:xfrm>
          <a:prstGeom prst="rect">
            <a:avLst/>
          </a:prstGeom>
          <a:noFill/>
        </p:spPr>
        <p:txBody>
          <a:bodyPr wrap="square">
            <a:spAutoFit/>
          </a:bodyPr>
          <a:lstStyle/>
          <a:p>
            <a:pPr marL="342900" lvl="0" indent="-342900" algn="just">
              <a:lnSpc>
                <a:spcPct val="150000"/>
              </a:lnSpc>
              <a:spcAft>
                <a:spcPts val="1000"/>
              </a:spcAft>
              <a:buFont typeface="Wingdings" panose="05000000000000000000" pitchFamily="2" charset="2"/>
              <a:buChar char=""/>
            </a:pPr>
            <a:r>
              <a:rPr lang="bg-BG" sz="2000" b="1" dirty="0">
                <a:effectLst/>
                <a:latin typeface="Arial" panose="020B0604020202020204" pitchFamily="34" charset="0"/>
                <a:ea typeface="Times New Roman" panose="02020603050405020304" pitchFamily="18" charset="0"/>
                <a:cs typeface="Arial" panose="020B0604020202020204" pitchFamily="34" charset="0"/>
              </a:rPr>
              <a:t>Увеличаване на практиката:</a:t>
            </a:r>
            <a:r>
              <a:rPr lang="bg-BG" sz="2000" dirty="0">
                <a:effectLst/>
                <a:latin typeface="Arial" panose="020B0604020202020204" pitchFamily="34" charset="0"/>
                <a:ea typeface="Times New Roman" panose="02020603050405020304" pitchFamily="18" charset="0"/>
                <a:cs typeface="Arial" panose="020B0604020202020204" pitchFamily="34" charset="0"/>
              </a:rPr>
              <a:t> Основният фокус трябва да бъде върху ролевите игри в автомобила. Кандидатите трябва да тренират реакциите си от „дясната седалка“, как да използват дублиращите педали и как да дават ясни команди под стрес.</a:t>
            </a:r>
            <a:endParaRPr lang="bg-BG" sz="2000" dirty="0">
              <a:effectLst/>
              <a:latin typeface="Arial" panose="020B0604020202020204" pitchFamily="34" charset="0"/>
              <a:ea typeface="Calibri" panose="020F0502020204030204" pitchFamily="34" charset="0"/>
              <a:cs typeface="Arial" panose="020B0604020202020204" pitchFamily="34" charset="0"/>
            </a:endParaRPr>
          </a:p>
          <a:p>
            <a:pPr marL="342900" lvl="0" indent="-342900" algn="just">
              <a:lnSpc>
                <a:spcPct val="150000"/>
              </a:lnSpc>
              <a:spcAft>
                <a:spcPts val="1000"/>
              </a:spcAft>
              <a:buFont typeface="Wingdings" panose="05000000000000000000" pitchFamily="2" charset="2"/>
              <a:buChar char=""/>
            </a:pPr>
            <a:r>
              <a:rPr lang="bg-BG" sz="2000" b="1" dirty="0">
                <a:effectLst/>
                <a:latin typeface="Arial" panose="020B0604020202020204" pitchFamily="34" charset="0"/>
                <a:ea typeface="Times New Roman" panose="02020603050405020304" pitchFamily="18" charset="0"/>
                <a:cs typeface="Arial" panose="020B0604020202020204" pitchFamily="34" charset="0"/>
              </a:rPr>
              <a:t>Насърчаване на участието:</a:t>
            </a:r>
            <a:r>
              <a:rPr lang="bg-BG" sz="2000" dirty="0">
                <a:effectLst/>
                <a:latin typeface="Arial" panose="020B0604020202020204" pitchFamily="34" charset="0"/>
                <a:ea typeface="Times New Roman" panose="02020603050405020304" pitchFamily="18" charset="0"/>
                <a:cs typeface="Arial" panose="020B0604020202020204" pitchFamily="34" charset="0"/>
              </a:rPr>
              <a:t> Теорията трябва да се превърне в дискусия по казуси. Вместо четене на закони, групата трябва да анализира реални ситуации (напр. видео от ПТП) и да търси начини за предотвратяването им чрез педагогически подход.</a:t>
            </a:r>
            <a:endParaRPr lang="bg-BG" sz="2000" dirty="0">
              <a:effectLst/>
              <a:latin typeface="Arial" panose="020B0604020202020204" pitchFamily="34" charset="0"/>
              <a:ea typeface="Calibri" panose="020F0502020204030204" pitchFamily="34" charset="0"/>
              <a:cs typeface="Arial" panose="020B0604020202020204" pitchFamily="34" charset="0"/>
            </a:endParaRPr>
          </a:p>
          <a:p>
            <a:pPr marL="342900" lvl="0" indent="-342900" algn="just">
              <a:lnSpc>
                <a:spcPct val="150000"/>
              </a:lnSpc>
              <a:spcAft>
                <a:spcPts val="1000"/>
              </a:spcAft>
              <a:buFont typeface="Wingdings" panose="05000000000000000000" pitchFamily="2" charset="2"/>
              <a:buChar char=""/>
            </a:pPr>
            <a:r>
              <a:rPr lang="bg-BG" sz="2000" b="1" dirty="0">
                <a:effectLst/>
                <a:latin typeface="Arial" panose="020B0604020202020204" pitchFamily="34" charset="0"/>
                <a:ea typeface="Times New Roman" panose="02020603050405020304" pitchFamily="18" charset="0"/>
                <a:cs typeface="Arial" panose="020B0604020202020204" pitchFamily="34" charset="0"/>
              </a:rPr>
              <a:t>Използване на технологии:</a:t>
            </a:r>
            <a:r>
              <a:rPr lang="bg-BG" sz="2000" dirty="0">
                <a:effectLst/>
                <a:latin typeface="Arial" panose="020B0604020202020204" pitchFamily="34" charset="0"/>
                <a:ea typeface="Times New Roman" panose="02020603050405020304" pitchFamily="18" charset="0"/>
                <a:cs typeface="Arial" panose="020B0604020202020204" pitchFamily="34" charset="0"/>
              </a:rPr>
              <a:t> Въвеждането на видео-анализ (заснемане и преглед на собственото преподаване) и симулатори позволява на кандидатите да видят грешките си обективно и да отработят опасни ситуации в напълно безопасна среда.</a:t>
            </a:r>
            <a:endParaRPr lang="bg-BG" sz="2000" dirty="0">
              <a:effectLst/>
              <a:latin typeface="Arial" panose="020B0604020202020204" pitchFamily="34" charset="0"/>
              <a:ea typeface="Calibri" panose="020F0502020204030204" pitchFamily="34" charset="0"/>
              <a:cs typeface="Arial" panose="020B0604020202020204" pitchFamily="34" charset="0"/>
            </a:endParaRPr>
          </a:p>
          <a:p>
            <a:pPr algn="just">
              <a:lnSpc>
                <a:spcPct val="150000"/>
              </a:lnSpc>
              <a:spcAft>
                <a:spcPts val="1000"/>
              </a:spcAft>
              <a:buNone/>
            </a:pPr>
            <a:r>
              <a:rPr lang="bg-BG" sz="2000" b="1" dirty="0">
                <a:effectLst/>
                <a:latin typeface="Arial" panose="020B0604020202020204" pitchFamily="34" charset="0"/>
                <a:ea typeface="Times New Roman" panose="02020603050405020304" pitchFamily="18" charset="0"/>
                <a:cs typeface="Arial" panose="020B0604020202020204" pitchFamily="34" charset="0"/>
              </a:rPr>
              <a:t>	</a:t>
            </a:r>
            <a:r>
              <a:rPr lang="bg-BG" sz="2000" dirty="0">
                <a:effectLst/>
                <a:latin typeface="Arial" panose="020B0604020202020204" pitchFamily="34" charset="0"/>
                <a:ea typeface="Times New Roman" panose="02020603050405020304" pitchFamily="18" charset="0"/>
                <a:cs typeface="Arial" panose="020B0604020202020204" pitchFamily="34" charset="0"/>
              </a:rPr>
              <a:t>Ефективното обучение е това, което превръща участника от пасивен слушател в активен преподавател.</a:t>
            </a:r>
            <a:endParaRPr lang="bg-BG" sz="2000" dirty="0">
              <a:effectLst/>
              <a:latin typeface="Arial" panose="020B060402020202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339347567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97E7A36-5B73-9515-4124-CBFA837C1573}"/>
              </a:ext>
            </a:extLst>
          </p:cNvPr>
          <p:cNvSpPr txBox="1"/>
          <p:nvPr/>
        </p:nvSpPr>
        <p:spPr>
          <a:xfrm>
            <a:off x="905068" y="83977"/>
            <a:ext cx="10590245" cy="6472990"/>
          </a:xfrm>
          <a:prstGeom prst="rect">
            <a:avLst/>
          </a:prstGeom>
          <a:noFill/>
        </p:spPr>
        <p:txBody>
          <a:bodyPr wrap="square">
            <a:spAutoFit/>
          </a:bodyPr>
          <a:lstStyle/>
          <a:p>
            <a:pPr algn="ctr">
              <a:spcAft>
                <a:spcPts val="1000"/>
              </a:spcAft>
              <a:buNone/>
            </a:pPr>
            <a:r>
              <a:rPr lang="bg-BG" sz="3000" b="1" i="1" dirty="0">
                <a:effectLst/>
                <a:latin typeface="Arial" panose="020B0604020202020204" pitchFamily="34" charset="0"/>
                <a:ea typeface="Calibri" panose="020F0502020204030204" pitchFamily="34" charset="0"/>
                <a:cs typeface="Arial" panose="020B0604020202020204" pitchFamily="34" charset="0"/>
              </a:rPr>
              <a:t>8. Анализ на ефективността на </a:t>
            </a:r>
          </a:p>
          <a:p>
            <a:pPr algn="ctr">
              <a:spcAft>
                <a:spcPts val="1000"/>
              </a:spcAft>
              <a:buNone/>
            </a:pPr>
            <a:r>
              <a:rPr lang="bg-BG" sz="3000" b="1" i="1" dirty="0">
                <a:effectLst/>
                <a:latin typeface="Arial" panose="020B0604020202020204" pitchFamily="34" charset="0"/>
                <a:ea typeface="Calibri" panose="020F0502020204030204" pitchFamily="34" charset="0"/>
                <a:cs typeface="Arial" panose="020B0604020202020204" pitchFamily="34" charset="0"/>
              </a:rPr>
              <a:t>груповото обучение</a:t>
            </a:r>
            <a:endParaRPr lang="bg-BG" sz="3000" dirty="0">
              <a:effectLst/>
              <a:latin typeface="Arial" panose="020B0604020202020204" pitchFamily="34" charset="0"/>
              <a:ea typeface="Calibri" panose="020F0502020204030204" pitchFamily="34" charset="0"/>
              <a:cs typeface="Arial" panose="020B0604020202020204" pitchFamily="34" charset="0"/>
            </a:endParaRPr>
          </a:p>
          <a:p>
            <a:pPr algn="just">
              <a:lnSpc>
                <a:spcPct val="150000"/>
              </a:lnSpc>
              <a:spcAft>
                <a:spcPts val="1000"/>
              </a:spcAft>
              <a:buNone/>
            </a:pPr>
            <a:r>
              <a:rPr lang="bg-BG"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bg-BG" sz="2000" dirty="0">
                <a:effectLst/>
                <a:latin typeface="Arial" panose="020B0604020202020204" pitchFamily="34" charset="0"/>
                <a:ea typeface="Calibri" panose="020F0502020204030204" pitchFamily="34" charset="0"/>
                <a:cs typeface="Arial" panose="020B0604020202020204" pitchFamily="34" charset="0"/>
              </a:rPr>
              <a:t>Ефективността на груповото обучение на инструктори може да се разглежда през няколко ключови измерения: постигане на учебни цели, удовлетвореност на участниците и приложимост на придобитите умения. Тя може да се измери на четири нива:</a:t>
            </a:r>
          </a:p>
          <a:p>
            <a:pPr marL="342900" lvl="0" indent="-342900" algn="just">
              <a:lnSpc>
                <a:spcPct val="150000"/>
              </a:lnSpc>
              <a:spcAft>
                <a:spcPts val="1000"/>
              </a:spcAft>
              <a:buSzPts val="1000"/>
              <a:buFont typeface="Symbol" panose="05050102010706020507" pitchFamily="18" charset="2"/>
              <a:buChar char=""/>
              <a:tabLst>
                <a:tab pos="457200" algn="l"/>
              </a:tabLst>
            </a:pPr>
            <a:r>
              <a:rPr lang="bg-BG" sz="2000" b="1" dirty="0">
                <a:effectLst/>
                <a:latin typeface="Arial" panose="020B0604020202020204" pitchFamily="34" charset="0"/>
                <a:ea typeface="Calibri" panose="020F0502020204030204" pitchFamily="34" charset="0"/>
                <a:cs typeface="Arial" panose="020B0604020202020204" pitchFamily="34" charset="0"/>
              </a:rPr>
              <a:t>Реакция</a:t>
            </a:r>
            <a:r>
              <a:rPr lang="bg-BG" sz="2000" dirty="0">
                <a:effectLst/>
                <a:latin typeface="Arial" panose="020B0604020202020204" pitchFamily="34" charset="0"/>
                <a:ea typeface="Calibri" panose="020F0502020204030204" pitchFamily="34" charset="0"/>
                <a:cs typeface="Arial" panose="020B0604020202020204" pitchFamily="34" charset="0"/>
              </a:rPr>
              <a:t> – степен на удовлетвореност на участниците; </a:t>
            </a:r>
          </a:p>
          <a:p>
            <a:pPr marL="342900" lvl="0" indent="-342900" algn="just">
              <a:lnSpc>
                <a:spcPct val="150000"/>
              </a:lnSpc>
              <a:spcAft>
                <a:spcPts val="1000"/>
              </a:spcAft>
              <a:buSzPts val="1000"/>
              <a:buFont typeface="Symbol" panose="05050102010706020507" pitchFamily="18" charset="2"/>
              <a:buChar char=""/>
              <a:tabLst>
                <a:tab pos="457200" algn="l"/>
              </a:tabLst>
            </a:pPr>
            <a:r>
              <a:rPr lang="bg-BG" sz="2000" b="1" dirty="0">
                <a:effectLst/>
                <a:latin typeface="Arial" panose="020B0604020202020204" pitchFamily="34" charset="0"/>
                <a:ea typeface="Calibri" panose="020F0502020204030204" pitchFamily="34" charset="0"/>
                <a:cs typeface="Arial" panose="020B0604020202020204" pitchFamily="34" charset="0"/>
              </a:rPr>
              <a:t>Учене</a:t>
            </a:r>
            <a:r>
              <a:rPr lang="bg-BG" sz="2000" dirty="0">
                <a:effectLst/>
                <a:latin typeface="Arial" panose="020B0604020202020204" pitchFamily="34" charset="0"/>
                <a:ea typeface="Calibri" panose="020F0502020204030204" pitchFamily="34" charset="0"/>
                <a:cs typeface="Arial" panose="020B0604020202020204" pitchFamily="34" charset="0"/>
              </a:rPr>
              <a:t> – придобити знания и умения; </a:t>
            </a:r>
          </a:p>
          <a:p>
            <a:pPr marL="342900" lvl="0" indent="-342900" algn="just">
              <a:lnSpc>
                <a:spcPct val="150000"/>
              </a:lnSpc>
              <a:spcAft>
                <a:spcPts val="1000"/>
              </a:spcAft>
              <a:buSzPts val="1000"/>
              <a:buFont typeface="Symbol" panose="05050102010706020507" pitchFamily="18" charset="2"/>
              <a:buChar char=""/>
              <a:tabLst>
                <a:tab pos="457200" algn="l"/>
              </a:tabLst>
            </a:pPr>
            <a:r>
              <a:rPr lang="bg-BG" sz="2000" b="1" dirty="0">
                <a:effectLst/>
                <a:latin typeface="Arial" panose="020B0604020202020204" pitchFamily="34" charset="0"/>
                <a:ea typeface="Calibri" panose="020F0502020204030204" pitchFamily="34" charset="0"/>
                <a:cs typeface="Arial" panose="020B0604020202020204" pitchFamily="34" charset="0"/>
              </a:rPr>
              <a:t>Поведение</a:t>
            </a:r>
            <a:r>
              <a:rPr lang="bg-BG" sz="2000" dirty="0">
                <a:effectLst/>
                <a:latin typeface="Arial" panose="020B0604020202020204" pitchFamily="34" charset="0"/>
                <a:ea typeface="Calibri" panose="020F0502020204030204" pitchFamily="34" charset="0"/>
                <a:cs typeface="Arial" panose="020B0604020202020204" pitchFamily="34" charset="0"/>
              </a:rPr>
              <a:t> – реално прилагане в практиката; </a:t>
            </a:r>
          </a:p>
          <a:p>
            <a:pPr marL="342900" lvl="0" indent="-342900" algn="just">
              <a:lnSpc>
                <a:spcPct val="150000"/>
              </a:lnSpc>
              <a:spcAft>
                <a:spcPts val="1000"/>
              </a:spcAft>
              <a:buSzPts val="1000"/>
              <a:buFont typeface="Symbol" panose="05050102010706020507" pitchFamily="18" charset="2"/>
              <a:buChar char=""/>
              <a:tabLst>
                <a:tab pos="457200" algn="l"/>
              </a:tabLst>
            </a:pPr>
            <a:r>
              <a:rPr lang="bg-BG" sz="2000" b="1" dirty="0">
                <a:effectLst/>
                <a:latin typeface="Arial" panose="020B0604020202020204" pitchFamily="34" charset="0"/>
                <a:ea typeface="Calibri" panose="020F0502020204030204" pitchFamily="34" charset="0"/>
                <a:cs typeface="Arial" panose="020B0604020202020204" pitchFamily="34" charset="0"/>
              </a:rPr>
              <a:t>Резултати</a:t>
            </a:r>
            <a:r>
              <a:rPr lang="bg-BG" sz="2000" dirty="0">
                <a:effectLst/>
                <a:latin typeface="Arial" panose="020B0604020202020204" pitchFamily="34" charset="0"/>
                <a:ea typeface="Calibri" panose="020F0502020204030204" pitchFamily="34" charset="0"/>
                <a:cs typeface="Arial" panose="020B0604020202020204" pitchFamily="34" charset="0"/>
              </a:rPr>
              <a:t> – въздействие върху организацията. </a:t>
            </a:r>
          </a:p>
          <a:p>
            <a:pPr algn="just">
              <a:lnSpc>
                <a:spcPct val="150000"/>
              </a:lnSpc>
              <a:spcAft>
                <a:spcPts val="1000"/>
              </a:spcAft>
              <a:buNone/>
            </a:pPr>
            <a:r>
              <a:rPr lang="bg-BG" sz="2000" dirty="0">
                <a:effectLst/>
                <a:latin typeface="Arial" panose="020B0604020202020204" pitchFamily="34" charset="0"/>
                <a:ea typeface="Times New Roman" panose="02020603050405020304" pitchFamily="18" charset="0"/>
                <a:cs typeface="Arial" panose="020B0604020202020204" pitchFamily="34" charset="0"/>
              </a:rPr>
              <a:t>	Ефективността на един курс не се изчерпва с вземането на изпита, а се доказва едва когато наученото промени поведението на инструктора в реалната работна среда.</a:t>
            </a:r>
            <a:endParaRPr lang="bg-BG" sz="2000" dirty="0">
              <a:effectLst/>
              <a:latin typeface="Arial" panose="020B060402020202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86601510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192AA05-5AD1-ECBB-A1E5-C742C5FD6371}"/>
              </a:ext>
            </a:extLst>
          </p:cNvPr>
          <p:cNvSpPr txBox="1"/>
          <p:nvPr/>
        </p:nvSpPr>
        <p:spPr>
          <a:xfrm>
            <a:off x="830423" y="326572"/>
            <a:ext cx="10954139" cy="5996193"/>
          </a:xfrm>
          <a:prstGeom prst="rect">
            <a:avLst/>
          </a:prstGeom>
          <a:noFill/>
        </p:spPr>
        <p:txBody>
          <a:bodyPr wrap="square">
            <a:spAutoFit/>
          </a:bodyPr>
          <a:lstStyle/>
          <a:p>
            <a:pPr algn="just">
              <a:lnSpc>
                <a:spcPct val="150000"/>
              </a:lnSpc>
              <a:spcAft>
                <a:spcPts val="1000"/>
              </a:spcAft>
              <a:buNone/>
            </a:pPr>
            <a:r>
              <a:rPr lang="bg-BG" sz="1900" i="1" dirty="0">
                <a:effectLst/>
                <a:latin typeface="Arial" panose="020B0604020202020204" pitchFamily="34" charset="0"/>
                <a:ea typeface="Times New Roman" panose="02020603050405020304" pitchFamily="18" charset="0"/>
                <a:cs typeface="Arial" panose="020B0604020202020204" pitchFamily="34" charset="0"/>
              </a:rPr>
              <a:t>	Обучението е процес, а не събитие. </a:t>
            </a:r>
            <a:r>
              <a:rPr lang="bg-BG" sz="1900" dirty="0">
                <a:effectLst/>
                <a:latin typeface="Arial" panose="020B0604020202020204" pitchFamily="34" charset="0"/>
                <a:ea typeface="Times New Roman" panose="02020603050405020304" pitchFamily="18" charset="0"/>
                <a:cs typeface="Arial" panose="020B0604020202020204" pitchFamily="34" charset="0"/>
              </a:rPr>
              <a:t>Само защото участниците са доволни от лектора (</a:t>
            </a:r>
            <a:r>
              <a:rPr lang="bg-BG" sz="1900" b="1" dirty="0">
                <a:effectLst/>
                <a:latin typeface="Arial" panose="020B0604020202020204" pitchFamily="34" charset="0"/>
                <a:ea typeface="Times New Roman" panose="02020603050405020304" pitchFamily="18" charset="0"/>
                <a:cs typeface="Arial" panose="020B0604020202020204" pitchFamily="34" charset="0"/>
              </a:rPr>
              <a:t>Реакция</a:t>
            </a:r>
            <a:r>
              <a:rPr lang="bg-BG" sz="1900" dirty="0">
                <a:effectLst/>
                <a:latin typeface="Arial" panose="020B0604020202020204" pitchFamily="34" charset="0"/>
                <a:ea typeface="Times New Roman" panose="02020603050405020304" pitchFamily="18" charset="0"/>
                <a:cs typeface="Arial" panose="020B0604020202020204" pitchFamily="34" charset="0"/>
              </a:rPr>
              <a:t>) или са преминали теста по теория (</a:t>
            </a:r>
            <a:r>
              <a:rPr lang="bg-BG" sz="1900" b="1" dirty="0">
                <a:effectLst/>
                <a:latin typeface="Arial" panose="020B0604020202020204" pitchFamily="34" charset="0"/>
                <a:ea typeface="Times New Roman" panose="02020603050405020304" pitchFamily="18" charset="0"/>
                <a:cs typeface="Arial" panose="020B0604020202020204" pitchFamily="34" charset="0"/>
              </a:rPr>
              <a:t>Учене</a:t>
            </a:r>
            <a:r>
              <a:rPr lang="bg-BG" sz="1900" dirty="0">
                <a:effectLst/>
                <a:latin typeface="Arial" panose="020B0604020202020204" pitchFamily="34" charset="0"/>
                <a:ea typeface="Times New Roman" panose="02020603050405020304" pitchFamily="18" charset="0"/>
                <a:cs typeface="Arial" panose="020B0604020202020204" pitchFamily="34" charset="0"/>
              </a:rPr>
              <a:t>), не означава, че обучението е успешно. Истинският успех идва, когато инструкторът започне да прилага новите методи на преподаване и педагогически такт в учебния автомобил (</a:t>
            </a:r>
            <a:r>
              <a:rPr lang="bg-BG" sz="1900" b="1" dirty="0">
                <a:effectLst/>
                <a:latin typeface="Arial" panose="020B0604020202020204" pitchFamily="34" charset="0"/>
                <a:ea typeface="Times New Roman" panose="02020603050405020304" pitchFamily="18" charset="0"/>
                <a:cs typeface="Arial" panose="020B0604020202020204" pitchFamily="34" charset="0"/>
              </a:rPr>
              <a:t>Поведение</a:t>
            </a:r>
            <a:r>
              <a:rPr lang="bg-BG" sz="1900" dirty="0">
                <a:effectLst/>
                <a:latin typeface="Arial" panose="020B0604020202020204" pitchFamily="34" charset="0"/>
                <a:ea typeface="Times New Roman" panose="02020603050405020304" pitchFamily="18" charset="0"/>
                <a:cs typeface="Arial" panose="020B0604020202020204" pitchFamily="34" charset="0"/>
              </a:rPr>
              <a:t>). Последното ниво (</a:t>
            </a:r>
            <a:r>
              <a:rPr lang="bg-BG" sz="1900" b="1" dirty="0">
                <a:effectLst/>
                <a:latin typeface="Arial" panose="020B0604020202020204" pitchFamily="34" charset="0"/>
                <a:ea typeface="Times New Roman" panose="02020603050405020304" pitchFamily="18" charset="0"/>
                <a:cs typeface="Arial" panose="020B0604020202020204" pitchFamily="34" charset="0"/>
              </a:rPr>
              <a:t>Резултати</a:t>
            </a:r>
            <a:r>
              <a:rPr lang="bg-BG" sz="1900" dirty="0">
                <a:effectLst/>
                <a:latin typeface="Arial" panose="020B0604020202020204" pitchFamily="34" charset="0"/>
                <a:ea typeface="Times New Roman" panose="02020603050405020304" pitchFamily="18" charset="0"/>
                <a:cs typeface="Arial" panose="020B0604020202020204" pitchFamily="34" charset="0"/>
              </a:rPr>
              <a:t>) извежда най-значимия извод: успехът на обучението на инструктори се измерва чрез „крайния продукт“ – по-добре подготвени и дисциплинирани нови водачи на пътя.</a:t>
            </a:r>
            <a:endParaRPr lang="bg-BG" sz="1900" dirty="0">
              <a:effectLst/>
              <a:latin typeface="Arial" panose="020B0604020202020204" pitchFamily="34" charset="0"/>
              <a:ea typeface="Calibri" panose="020F0502020204030204" pitchFamily="34" charset="0"/>
              <a:cs typeface="Arial" panose="020B0604020202020204" pitchFamily="34" charset="0"/>
            </a:endParaRPr>
          </a:p>
          <a:p>
            <a:pPr algn="just">
              <a:lnSpc>
                <a:spcPct val="150000"/>
              </a:lnSpc>
              <a:spcAft>
                <a:spcPts val="1000"/>
              </a:spcAft>
              <a:buNone/>
            </a:pPr>
            <a:r>
              <a:rPr lang="bg-BG" sz="1900" b="1" dirty="0">
                <a:effectLst/>
                <a:latin typeface="Arial" panose="020B0604020202020204" pitchFamily="34" charset="0"/>
                <a:ea typeface="Times New Roman" panose="02020603050405020304" pitchFamily="18" charset="0"/>
                <a:cs typeface="Arial" panose="020B0604020202020204" pitchFamily="34" charset="0"/>
              </a:rPr>
              <a:t>	</a:t>
            </a:r>
            <a:r>
              <a:rPr lang="bg-BG" sz="1900" dirty="0">
                <a:effectLst/>
                <a:latin typeface="Arial" panose="020B0604020202020204" pitchFamily="34" charset="0"/>
                <a:ea typeface="Times New Roman" panose="02020603050405020304" pitchFamily="18" charset="0"/>
                <a:cs typeface="Arial" panose="020B0604020202020204" pitchFamily="34" charset="0"/>
              </a:rPr>
              <a:t>Ако инструкторите имат знания, но не ги прилагат, изводът е, че обучението трябва да се промени – например да се добавят повече практически симулации и ролеви игри, а не само суха теория. За да бъде един инструктор истински професионалист, той трябва да премине през всички нива – от това да бъде мотивиран и знаещ, до това да бъде</a:t>
            </a:r>
            <a:r>
              <a:rPr lang="bg-BG" sz="1900" dirty="0">
                <a:effectLst/>
                <a:latin typeface="Arial" panose="020B0604020202020204" pitchFamily="34" charset="0"/>
                <a:ea typeface="Calibri" panose="020F0502020204030204" pitchFamily="34" charset="0"/>
                <a:cs typeface="Arial" panose="020B0604020202020204" pitchFamily="34" charset="0"/>
              </a:rPr>
              <a:t> компетентен ментор, формиращ безопасно поведение на пътя.</a:t>
            </a:r>
          </a:p>
          <a:p>
            <a:pPr algn="just">
              <a:lnSpc>
                <a:spcPct val="150000"/>
              </a:lnSpc>
              <a:spcAft>
                <a:spcPts val="1000"/>
              </a:spcAft>
              <a:buNone/>
            </a:pPr>
            <a:r>
              <a:rPr lang="bg-BG" sz="1900" dirty="0">
                <a:effectLst/>
                <a:latin typeface="Arial" panose="020B0604020202020204" pitchFamily="34" charset="0"/>
                <a:ea typeface="Calibri" panose="020F0502020204030204" pitchFamily="34" charset="0"/>
                <a:cs typeface="Arial" panose="020B0604020202020204" pitchFamily="34" charset="0"/>
              </a:rPr>
              <a:t>	В контекста на груповото обучение често се наблюдава висока удовлетвореност (ниво 1), но предизвикателство остава пренасянето на наученото в реална среда (ниво 3).</a:t>
            </a:r>
          </a:p>
        </p:txBody>
      </p:sp>
    </p:spTree>
    <p:extLst>
      <p:ext uri="{BB962C8B-B14F-4D97-AF65-F5344CB8AC3E}">
        <p14:creationId xmlns:p14="http://schemas.microsoft.com/office/powerpoint/2010/main" val="419013823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AB83267-3367-560E-399F-64F20B1AA4B1}"/>
              </a:ext>
            </a:extLst>
          </p:cNvPr>
          <p:cNvSpPr txBox="1"/>
          <p:nvPr/>
        </p:nvSpPr>
        <p:spPr>
          <a:xfrm>
            <a:off x="895738" y="564401"/>
            <a:ext cx="10562254" cy="5729197"/>
          </a:xfrm>
          <a:prstGeom prst="rect">
            <a:avLst/>
          </a:prstGeom>
          <a:noFill/>
        </p:spPr>
        <p:txBody>
          <a:bodyPr wrap="square">
            <a:spAutoFit/>
          </a:bodyPr>
          <a:lstStyle/>
          <a:p>
            <a:pPr algn="ctr">
              <a:lnSpc>
                <a:spcPct val="150000"/>
              </a:lnSpc>
              <a:spcAft>
                <a:spcPts val="1000"/>
              </a:spcAft>
              <a:buNone/>
            </a:pPr>
            <a:r>
              <a:rPr lang="bg-BG" sz="3000" b="1" i="1" dirty="0">
                <a:effectLst/>
                <a:latin typeface="Arial" panose="020B0604020202020204" pitchFamily="34" charset="0"/>
                <a:ea typeface="Calibri" panose="020F0502020204030204" pitchFamily="34" charset="0"/>
                <a:cs typeface="Arial" panose="020B0604020202020204" pitchFamily="34" charset="0"/>
              </a:rPr>
              <a:t>9. Анализ на груповата динамика</a:t>
            </a:r>
            <a:endParaRPr lang="bg-BG" sz="3000" dirty="0">
              <a:effectLst/>
              <a:latin typeface="Arial" panose="020B0604020202020204" pitchFamily="34" charset="0"/>
              <a:ea typeface="Calibri" panose="020F0502020204030204" pitchFamily="34" charset="0"/>
              <a:cs typeface="Arial" panose="020B0604020202020204" pitchFamily="34" charset="0"/>
            </a:endParaRPr>
          </a:p>
          <a:p>
            <a:pPr algn="just">
              <a:lnSpc>
                <a:spcPct val="150000"/>
              </a:lnSpc>
              <a:spcAft>
                <a:spcPts val="1000"/>
              </a:spcAft>
              <a:buNone/>
            </a:pPr>
            <a:r>
              <a:rPr lang="bg-BG"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bg-BG" sz="2000" dirty="0">
                <a:effectLst/>
                <a:latin typeface="Arial" panose="020B0604020202020204" pitchFamily="34" charset="0"/>
                <a:ea typeface="Calibri" panose="020F0502020204030204" pitchFamily="34" charset="0"/>
                <a:cs typeface="Arial" panose="020B0604020202020204" pitchFamily="34" charset="0"/>
              </a:rPr>
              <a:t>Груповата динамика играе съществена роля за успеха на обучението. Етапи:</a:t>
            </a:r>
          </a:p>
          <a:p>
            <a:pPr marL="342900" lvl="0" indent="-342900" algn="just">
              <a:lnSpc>
                <a:spcPct val="150000"/>
              </a:lnSpc>
              <a:spcAft>
                <a:spcPts val="1000"/>
              </a:spcAft>
              <a:buFont typeface="Courier New" panose="02070309020205020404" pitchFamily="49" charset="0"/>
              <a:buChar char="o"/>
            </a:pPr>
            <a:r>
              <a:rPr lang="bg-BG" sz="2000" b="1" dirty="0">
                <a:effectLst/>
                <a:latin typeface="Arial" panose="020B0604020202020204" pitchFamily="34" charset="0"/>
                <a:ea typeface="Times New Roman" panose="02020603050405020304" pitchFamily="18" charset="0"/>
                <a:cs typeface="Arial" panose="020B0604020202020204" pitchFamily="34" charset="0"/>
              </a:rPr>
              <a:t>Формиране (Forming):</a:t>
            </a:r>
            <a:r>
              <a:rPr lang="bg-BG" sz="2000" dirty="0">
                <a:effectLst/>
                <a:latin typeface="Arial" panose="020B0604020202020204" pitchFamily="34" charset="0"/>
                <a:ea typeface="Times New Roman" panose="02020603050405020304" pitchFamily="18" charset="0"/>
                <a:cs typeface="Arial" panose="020B0604020202020204" pitchFamily="34" charset="0"/>
              </a:rPr>
              <a:t> В началото на курса участниците са дистанцирани и внимателни. Всеки се опитва да демонстрира своя дългогодишен опит и „авторитет“. Тук ролята на лектора е да постави ясни цели и да намали несигурността, като изясни очакванията и правилата.</a:t>
            </a:r>
            <a:endParaRPr lang="bg-BG" sz="2000" dirty="0">
              <a:effectLst/>
              <a:latin typeface="Arial" panose="020B0604020202020204" pitchFamily="34" charset="0"/>
              <a:ea typeface="Calibri" panose="020F0502020204030204" pitchFamily="34" charset="0"/>
              <a:cs typeface="Arial" panose="020B0604020202020204" pitchFamily="34" charset="0"/>
            </a:endParaRPr>
          </a:p>
          <a:p>
            <a:pPr marL="342900" lvl="0" indent="-342900" algn="just">
              <a:lnSpc>
                <a:spcPct val="150000"/>
              </a:lnSpc>
              <a:spcAft>
                <a:spcPts val="1000"/>
              </a:spcAft>
              <a:buFont typeface="Courier New" panose="02070309020205020404" pitchFamily="49" charset="0"/>
              <a:buChar char="o"/>
            </a:pPr>
            <a:r>
              <a:rPr lang="bg-BG" sz="2000" b="1" dirty="0">
                <a:effectLst/>
                <a:latin typeface="Arial" panose="020B0604020202020204" pitchFamily="34" charset="0"/>
                <a:ea typeface="Times New Roman" panose="02020603050405020304" pitchFamily="18" charset="0"/>
                <a:cs typeface="Arial" panose="020B0604020202020204" pitchFamily="34" charset="0"/>
              </a:rPr>
              <a:t>Конфликт (Storming):</a:t>
            </a:r>
            <a:r>
              <a:rPr lang="bg-BG" sz="2000" dirty="0">
                <a:effectLst/>
                <a:latin typeface="Arial" panose="020B0604020202020204" pitchFamily="34" charset="0"/>
                <a:ea typeface="Times New Roman" panose="02020603050405020304" pitchFamily="18" charset="0"/>
                <a:cs typeface="Arial" panose="020B0604020202020204" pitchFamily="34" charset="0"/>
              </a:rPr>
              <a:t> Това е най-критичният етап при инструкторите. Тук се сблъскват различните стилове на шофиране и преподаване. Появяват се спорове от типа „кой е по-добър водач“ или несъгласие с новите методики. Прилагането на модела тук изисква овладяване на конфликтите чрез дискусии и доказване на научните методи над субективния навик.</a:t>
            </a:r>
            <a:endParaRPr lang="bg-BG" sz="2000" dirty="0">
              <a:effectLst/>
              <a:latin typeface="Arial" panose="020B060402020202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41615244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A07822A2-DE3F-C7C3-BF21-B2E2C0BA5490}"/>
              </a:ext>
            </a:extLst>
          </p:cNvPr>
          <p:cNvSpPr txBox="1"/>
          <p:nvPr/>
        </p:nvSpPr>
        <p:spPr>
          <a:xfrm>
            <a:off x="821094" y="205273"/>
            <a:ext cx="10506268" cy="6421694"/>
          </a:xfrm>
          <a:prstGeom prst="rect">
            <a:avLst/>
          </a:prstGeom>
          <a:noFill/>
        </p:spPr>
        <p:txBody>
          <a:bodyPr wrap="square">
            <a:spAutoFit/>
          </a:bodyPr>
          <a:lstStyle/>
          <a:p>
            <a:pPr marL="342900" lvl="0" indent="-342900" algn="just">
              <a:lnSpc>
                <a:spcPct val="150000"/>
              </a:lnSpc>
              <a:spcAft>
                <a:spcPts val="1000"/>
              </a:spcAft>
              <a:buFont typeface="Courier New" panose="02070309020205020404" pitchFamily="49" charset="0"/>
              <a:buChar char="o"/>
            </a:pPr>
            <a:r>
              <a:rPr lang="bg-BG" sz="2000" b="1" dirty="0">
                <a:effectLst/>
                <a:latin typeface="Arial" panose="020B0604020202020204" pitchFamily="34" charset="0"/>
                <a:ea typeface="Times New Roman" panose="02020603050405020304" pitchFamily="18" charset="0"/>
                <a:cs typeface="Arial" panose="020B0604020202020204" pitchFamily="34" charset="0"/>
              </a:rPr>
              <a:t>Нормиране (Norming):</a:t>
            </a:r>
            <a:r>
              <a:rPr lang="bg-BG" sz="2000" dirty="0">
                <a:effectLst/>
                <a:latin typeface="Arial" panose="020B0604020202020204" pitchFamily="34" charset="0"/>
                <a:ea typeface="Times New Roman" panose="02020603050405020304" pitchFamily="18" charset="0"/>
                <a:cs typeface="Arial" panose="020B0604020202020204" pitchFamily="34" charset="0"/>
              </a:rPr>
              <a:t> Напрежението отстъпва място на разбирателството. Участниците започват да приемат обратна връзка от колегите си. Установява се „общ език“ и единни професионални критерии. Инструкторите започват да споделят своите казуси от практиката, без да се страхуват, че ще бъдат съдени.</a:t>
            </a:r>
            <a:endParaRPr lang="bg-BG" sz="2000" dirty="0">
              <a:effectLst/>
              <a:latin typeface="Arial" panose="020B0604020202020204" pitchFamily="34" charset="0"/>
              <a:ea typeface="Calibri" panose="020F0502020204030204" pitchFamily="34" charset="0"/>
              <a:cs typeface="Arial" panose="020B0604020202020204" pitchFamily="34" charset="0"/>
            </a:endParaRPr>
          </a:p>
          <a:p>
            <a:pPr marL="342900" lvl="0" indent="-342900" algn="just">
              <a:lnSpc>
                <a:spcPct val="150000"/>
              </a:lnSpc>
              <a:spcAft>
                <a:spcPts val="1000"/>
              </a:spcAft>
              <a:buFont typeface="Courier New" panose="02070309020205020404" pitchFamily="49" charset="0"/>
              <a:buChar char="o"/>
            </a:pPr>
            <a:r>
              <a:rPr lang="bg-BG" sz="2000" b="1" dirty="0">
                <a:effectLst/>
                <a:latin typeface="Arial" panose="020B0604020202020204" pitchFamily="34" charset="0"/>
                <a:ea typeface="Times New Roman" panose="02020603050405020304" pitchFamily="18" charset="0"/>
                <a:cs typeface="Arial" panose="020B0604020202020204" pitchFamily="34" charset="0"/>
              </a:rPr>
              <a:t>Ефективност (Performing):</a:t>
            </a:r>
            <a:r>
              <a:rPr lang="bg-BG" sz="2000" dirty="0">
                <a:effectLst/>
                <a:latin typeface="Arial" panose="020B0604020202020204" pitchFamily="34" charset="0"/>
                <a:ea typeface="Times New Roman" panose="02020603050405020304" pitchFamily="18" charset="0"/>
                <a:cs typeface="Arial" panose="020B0604020202020204" pitchFamily="34" charset="0"/>
              </a:rPr>
              <a:t> Участниците работят гладко в ролевите игри и груповите задачи. Тук обучението достига своя пик – групата не само учи, но и генерира нови идеи и подходи за безопасност.</a:t>
            </a:r>
            <a:endParaRPr lang="bg-BG" sz="2000" dirty="0">
              <a:effectLst/>
              <a:latin typeface="Arial" panose="020B0604020202020204" pitchFamily="34" charset="0"/>
              <a:ea typeface="Calibri" panose="020F0502020204030204" pitchFamily="34" charset="0"/>
              <a:cs typeface="Arial" panose="020B0604020202020204" pitchFamily="34" charset="0"/>
            </a:endParaRPr>
          </a:p>
          <a:p>
            <a:pPr algn="just">
              <a:lnSpc>
                <a:spcPct val="150000"/>
              </a:lnSpc>
              <a:spcAft>
                <a:spcPts val="1000"/>
              </a:spcAft>
              <a:buNone/>
            </a:pPr>
            <a:r>
              <a:rPr lang="bg-BG" sz="2000" dirty="0">
                <a:effectLst/>
                <a:latin typeface="Arial" panose="020B0604020202020204" pitchFamily="34" charset="0"/>
                <a:ea typeface="Times New Roman" panose="02020603050405020304" pitchFamily="18" charset="0"/>
                <a:cs typeface="Arial" panose="020B0604020202020204" pitchFamily="34" charset="0"/>
              </a:rPr>
              <a:t>	Основният извод е, че напрежението в групата (Storming) не е провал на обучението, а задължителна фаза за израстване. Без пречупване на егото на „стария шофьор“, не може да се изгради нов педагогически подход. 	Ефективното обучение трябва да преведе участниците през всички етапи, за да достигнат ниво на доверие, при което могат да се учат от грешките си.</a:t>
            </a:r>
            <a:endParaRPr lang="bg-BG" sz="2000" dirty="0">
              <a:effectLst/>
              <a:latin typeface="Arial" panose="020B0604020202020204" pitchFamily="34" charset="0"/>
              <a:ea typeface="Calibri" panose="020F0502020204030204" pitchFamily="34" charset="0"/>
              <a:cs typeface="Arial" panose="020B0604020202020204" pitchFamily="34" charset="0"/>
            </a:endParaRPr>
          </a:p>
          <a:p>
            <a:pPr algn="just">
              <a:lnSpc>
                <a:spcPct val="150000"/>
              </a:lnSpc>
              <a:spcAft>
                <a:spcPts val="1000"/>
              </a:spcAft>
              <a:buNone/>
            </a:pPr>
            <a:r>
              <a:rPr lang="bg-BG" sz="2000" dirty="0">
                <a:effectLst/>
                <a:latin typeface="Arial" panose="020B0604020202020204" pitchFamily="34" charset="0"/>
                <a:ea typeface="Times New Roman" panose="02020603050405020304" pitchFamily="18" charset="0"/>
                <a:cs typeface="Arial" panose="020B0604020202020204" pitchFamily="34" charset="0"/>
              </a:rPr>
              <a:t>	Обучителят трябва да разпознава в кой етап е групата и да адаптира техниките си. </a:t>
            </a:r>
            <a:endParaRPr lang="bg-BG" sz="2000" dirty="0">
              <a:effectLst/>
              <a:latin typeface="Arial" panose="020B060402020202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398080623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B70170E7-BA6A-C7FC-6738-B281BE1A2DFF}"/>
              </a:ext>
            </a:extLst>
          </p:cNvPr>
          <p:cNvGraphicFramePr>
            <a:graphicFrameLocks noGrp="1"/>
          </p:cNvGraphicFramePr>
          <p:nvPr>
            <p:extLst>
              <p:ext uri="{D42A27DB-BD31-4B8C-83A1-F6EECF244321}">
                <p14:modId xmlns:p14="http://schemas.microsoft.com/office/powerpoint/2010/main" val="3354284176"/>
              </p:ext>
            </p:extLst>
          </p:nvPr>
        </p:nvGraphicFramePr>
        <p:xfrm>
          <a:off x="3195733" y="3349689"/>
          <a:ext cx="6102221" cy="2803989"/>
        </p:xfrm>
        <a:graphic>
          <a:graphicData uri="http://schemas.openxmlformats.org/drawingml/2006/table">
            <a:tbl>
              <a:tblPr firstRow="1" firstCol="1" bandRow="1">
                <a:tableStyleId>{5C22544A-7EE6-4342-B048-85BDC9FD1C3A}</a:tableStyleId>
              </a:tblPr>
              <a:tblGrid>
                <a:gridCol w="1600978">
                  <a:extLst>
                    <a:ext uri="{9D8B030D-6E8A-4147-A177-3AD203B41FA5}">
                      <a16:colId xmlns:a16="http://schemas.microsoft.com/office/drawing/2014/main" val="3977969156"/>
                    </a:ext>
                  </a:extLst>
                </a:gridCol>
                <a:gridCol w="2148047">
                  <a:extLst>
                    <a:ext uri="{9D8B030D-6E8A-4147-A177-3AD203B41FA5}">
                      <a16:colId xmlns:a16="http://schemas.microsoft.com/office/drawing/2014/main" val="1848866637"/>
                    </a:ext>
                  </a:extLst>
                </a:gridCol>
                <a:gridCol w="2353196">
                  <a:extLst>
                    <a:ext uri="{9D8B030D-6E8A-4147-A177-3AD203B41FA5}">
                      <a16:colId xmlns:a16="http://schemas.microsoft.com/office/drawing/2014/main" val="255695823"/>
                    </a:ext>
                  </a:extLst>
                </a:gridCol>
              </a:tblGrid>
              <a:tr h="560597">
                <a:tc>
                  <a:txBody>
                    <a:bodyPr/>
                    <a:lstStyle/>
                    <a:p>
                      <a:pPr algn="ctr">
                        <a:lnSpc>
                          <a:spcPct val="150000"/>
                        </a:lnSpc>
                        <a:spcAft>
                          <a:spcPts val="1000"/>
                        </a:spcAft>
                        <a:buNone/>
                      </a:pPr>
                      <a:r>
                        <a:rPr lang="bg-BG" sz="1300" dirty="0">
                          <a:effectLst/>
                        </a:rPr>
                        <a:t>Критерий</a:t>
                      </a:r>
                      <a:endParaRPr lang="bg-BG"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ctr">
                        <a:lnSpc>
                          <a:spcPct val="150000"/>
                        </a:lnSpc>
                        <a:spcAft>
                          <a:spcPts val="1000"/>
                        </a:spcAft>
                        <a:buNone/>
                      </a:pPr>
                      <a:r>
                        <a:rPr lang="bg-BG" sz="1300" dirty="0">
                          <a:effectLst/>
                        </a:rPr>
                        <a:t>Групово обучение</a:t>
                      </a:r>
                      <a:endParaRPr lang="bg-BG"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ctr">
                        <a:lnSpc>
                          <a:spcPct val="150000"/>
                        </a:lnSpc>
                        <a:spcAft>
                          <a:spcPts val="1000"/>
                        </a:spcAft>
                        <a:buNone/>
                      </a:pPr>
                      <a:r>
                        <a:rPr lang="bg-BG" sz="1300" dirty="0">
                          <a:effectLst/>
                        </a:rPr>
                        <a:t>Индивидуално обучение</a:t>
                      </a:r>
                      <a:endParaRPr lang="bg-BG"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278153294"/>
                  </a:ext>
                </a:extLst>
              </a:tr>
              <a:tr h="560848">
                <a:tc>
                  <a:txBody>
                    <a:bodyPr/>
                    <a:lstStyle/>
                    <a:p>
                      <a:pPr algn="just">
                        <a:lnSpc>
                          <a:spcPct val="150000"/>
                        </a:lnSpc>
                        <a:spcAft>
                          <a:spcPts val="1000"/>
                        </a:spcAft>
                        <a:buNone/>
                      </a:pPr>
                      <a:r>
                        <a:rPr lang="bg-BG" sz="1300" dirty="0">
                          <a:effectLst/>
                        </a:rPr>
                        <a:t>Взаимодействие</a:t>
                      </a:r>
                      <a:endParaRPr lang="bg-BG"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ctr">
                        <a:lnSpc>
                          <a:spcPct val="150000"/>
                        </a:lnSpc>
                        <a:spcAft>
                          <a:spcPts val="1000"/>
                        </a:spcAft>
                        <a:buNone/>
                      </a:pPr>
                      <a:r>
                        <a:rPr lang="bg-BG" sz="1300" dirty="0">
                          <a:effectLst/>
                        </a:rPr>
                        <a:t>Високо</a:t>
                      </a:r>
                      <a:endParaRPr lang="bg-BG"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ctr">
                        <a:lnSpc>
                          <a:spcPct val="150000"/>
                        </a:lnSpc>
                        <a:spcAft>
                          <a:spcPts val="1000"/>
                        </a:spcAft>
                        <a:buNone/>
                      </a:pPr>
                      <a:r>
                        <a:rPr lang="bg-BG" sz="1300">
                          <a:effectLst/>
                        </a:rPr>
                        <a:t>Ниско</a:t>
                      </a:r>
                      <a:endParaRPr lang="bg-BG"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415206439"/>
                  </a:ext>
                </a:extLst>
              </a:tr>
              <a:tr h="560848">
                <a:tc>
                  <a:txBody>
                    <a:bodyPr/>
                    <a:lstStyle/>
                    <a:p>
                      <a:pPr algn="just">
                        <a:lnSpc>
                          <a:spcPct val="150000"/>
                        </a:lnSpc>
                        <a:spcAft>
                          <a:spcPts val="1000"/>
                        </a:spcAft>
                        <a:buNone/>
                      </a:pPr>
                      <a:r>
                        <a:rPr lang="bg-BG" sz="1300" dirty="0">
                          <a:effectLst/>
                        </a:rPr>
                        <a:t>Персонализация</a:t>
                      </a:r>
                      <a:endParaRPr lang="bg-BG"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ctr">
                        <a:lnSpc>
                          <a:spcPct val="150000"/>
                        </a:lnSpc>
                        <a:spcAft>
                          <a:spcPts val="1000"/>
                        </a:spcAft>
                        <a:buNone/>
                      </a:pPr>
                      <a:r>
                        <a:rPr lang="bg-BG" sz="1300" dirty="0">
                          <a:effectLst/>
                        </a:rPr>
                        <a:t>Ограничена</a:t>
                      </a:r>
                      <a:endParaRPr lang="bg-BG"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ctr">
                        <a:lnSpc>
                          <a:spcPct val="150000"/>
                        </a:lnSpc>
                        <a:spcAft>
                          <a:spcPts val="1000"/>
                        </a:spcAft>
                        <a:buNone/>
                      </a:pPr>
                      <a:r>
                        <a:rPr lang="bg-BG" sz="1300" dirty="0">
                          <a:effectLst/>
                        </a:rPr>
                        <a:t>Висока</a:t>
                      </a:r>
                      <a:endParaRPr lang="bg-BG"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402818255"/>
                  </a:ext>
                </a:extLst>
              </a:tr>
              <a:tr h="560848">
                <a:tc>
                  <a:txBody>
                    <a:bodyPr/>
                    <a:lstStyle/>
                    <a:p>
                      <a:pPr algn="just">
                        <a:lnSpc>
                          <a:spcPct val="150000"/>
                        </a:lnSpc>
                        <a:spcAft>
                          <a:spcPts val="1000"/>
                        </a:spcAft>
                        <a:buNone/>
                      </a:pPr>
                      <a:r>
                        <a:rPr lang="bg-BG" sz="1300">
                          <a:effectLst/>
                        </a:rPr>
                        <a:t>Мотивация</a:t>
                      </a:r>
                      <a:endParaRPr lang="bg-BG"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ctr">
                        <a:lnSpc>
                          <a:spcPct val="150000"/>
                        </a:lnSpc>
                        <a:spcAft>
                          <a:spcPts val="1000"/>
                        </a:spcAft>
                        <a:buNone/>
                      </a:pPr>
                      <a:r>
                        <a:rPr lang="bg-BG" sz="1300" dirty="0">
                          <a:effectLst/>
                        </a:rPr>
                        <a:t>По-висока</a:t>
                      </a:r>
                      <a:endParaRPr lang="bg-BG"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ctr">
                        <a:lnSpc>
                          <a:spcPct val="150000"/>
                        </a:lnSpc>
                        <a:spcAft>
                          <a:spcPts val="1000"/>
                        </a:spcAft>
                        <a:buNone/>
                      </a:pPr>
                      <a:r>
                        <a:rPr lang="bg-BG" sz="1300" dirty="0">
                          <a:effectLst/>
                        </a:rPr>
                        <a:t>Зависи от индивида</a:t>
                      </a:r>
                      <a:endParaRPr lang="bg-BG"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148976894"/>
                  </a:ext>
                </a:extLst>
              </a:tr>
              <a:tr h="560848">
                <a:tc>
                  <a:txBody>
                    <a:bodyPr/>
                    <a:lstStyle/>
                    <a:p>
                      <a:pPr algn="just">
                        <a:lnSpc>
                          <a:spcPct val="150000"/>
                        </a:lnSpc>
                        <a:spcAft>
                          <a:spcPts val="1000"/>
                        </a:spcAft>
                        <a:buNone/>
                      </a:pPr>
                      <a:r>
                        <a:rPr lang="bg-BG" sz="1300">
                          <a:effectLst/>
                        </a:rPr>
                        <a:t>Разходи</a:t>
                      </a:r>
                      <a:endParaRPr lang="bg-BG"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ctr">
                        <a:lnSpc>
                          <a:spcPct val="150000"/>
                        </a:lnSpc>
                        <a:spcAft>
                          <a:spcPts val="1000"/>
                        </a:spcAft>
                        <a:buNone/>
                      </a:pPr>
                      <a:r>
                        <a:rPr lang="bg-BG" sz="1300">
                          <a:effectLst/>
                        </a:rPr>
                        <a:t>По-ниски</a:t>
                      </a:r>
                      <a:endParaRPr lang="bg-BG"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ctr">
                        <a:lnSpc>
                          <a:spcPct val="150000"/>
                        </a:lnSpc>
                        <a:spcAft>
                          <a:spcPts val="1000"/>
                        </a:spcAft>
                        <a:buNone/>
                      </a:pPr>
                      <a:r>
                        <a:rPr lang="bg-BG" sz="1300" dirty="0">
                          <a:effectLst/>
                        </a:rPr>
                        <a:t>По-високи</a:t>
                      </a:r>
                      <a:endParaRPr lang="bg-BG"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39447672"/>
                  </a:ext>
                </a:extLst>
              </a:tr>
            </a:tbl>
          </a:graphicData>
        </a:graphic>
      </p:graphicFrame>
      <p:sp>
        <p:nvSpPr>
          <p:cNvPr id="3" name="Rectangle 1">
            <a:extLst>
              <a:ext uri="{FF2B5EF4-FFF2-40B4-BE49-F238E27FC236}">
                <a16:creationId xmlns:a16="http://schemas.microsoft.com/office/drawing/2014/main" id="{5CB7898D-726D-1E66-2E45-8CD43B5881F7}"/>
              </a:ext>
            </a:extLst>
          </p:cNvPr>
          <p:cNvSpPr>
            <a:spLocks noChangeArrowheads="1"/>
          </p:cNvSpPr>
          <p:nvPr/>
        </p:nvSpPr>
        <p:spPr bwMode="auto">
          <a:xfrm>
            <a:off x="1007706" y="430363"/>
            <a:ext cx="10478277" cy="2554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bg-BG" altLang="bg-BG" sz="3000" b="1" i="1" u="none" strike="noStrike" cap="none" normalizeH="0" baseline="0" dirty="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10. Сравнителен анализ: </a:t>
            </a:r>
          </a:p>
          <a:p>
            <a:pPr marL="0" marR="0" lvl="0" indent="0" algn="ctr" defTabSz="914400" rtl="0" eaLnBrk="0" fontAlgn="base" latinLnBrk="0" hangingPunct="0">
              <a:lnSpc>
                <a:spcPct val="100000"/>
              </a:lnSpc>
              <a:spcBef>
                <a:spcPct val="0"/>
              </a:spcBef>
              <a:spcAft>
                <a:spcPct val="0"/>
              </a:spcAft>
              <a:buClrTx/>
              <a:buSzTx/>
              <a:buFontTx/>
              <a:buNone/>
              <a:tabLst/>
            </a:pPr>
            <a:r>
              <a:rPr kumimoji="0" lang="bg-BG" altLang="bg-BG" sz="3000" b="1" i="1" u="none" strike="noStrike" cap="none" normalizeH="0" baseline="0" dirty="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групово и индивидуално обучение</a:t>
            </a:r>
          </a:p>
          <a:p>
            <a:pPr marL="0" marR="0" lvl="0" indent="0" algn="ctr" defTabSz="914400" rtl="0" eaLnBrk="0" fontAlgn="base" latinLnBrk="0" hangingPunct="0">
              <a:lnSpc>
                <a:spcPct val="100000"/>
              </a:lnSpc>
              <a:spcBef>
                <a:spcPct val="0"/>
              </a:spcBef>
              <a:spcAft>
                <a:spcPct val="0"/>
              </a:spcAft>
              <a:buClrTx/>
              <a:buSzTx/>
              <a:buFontTx/>
              <a:buNone/>
              <a:tabLst/>
            </a:pPr>
            <a:endParaRPr kumimoji="0" lang="bg-BG" altLang="bg-BG" sz="15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bg-BG" altLang="bg-BG" sz="13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endParaRPr kumimoji="0" lang="bg-BG" altLang="bg-BG" sz="800"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bg-BG" altLang="bg-BG" sz="13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kumimoji="0" lang="bg-BG" altLang="bg-BG" sz="2400" b="0" i="0" u="none" strike="noStrike" cap="none" normalizeH="0" baseline="0" dirty="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Груповото обучение е по-ефективно за развитие на социални и комуникационни умения, докато индивидуалното е по-подходящо за специфични нужди.</a:t>
            </a:r>
            <a:endParaRPr kumimoji="0" lang="bg-BG" altLang="bg-BG" sz="24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27656491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0E8ED0C-D94C-74F2-34A3-7437C487CE74}"/>
              </a:ext>
            </a:extLst>
          </p:cNvPr>
          <p:cNvSpPr txBox="1"/>
          <p:nvPr/>
        </p:nvSpPr>
        <p:spPr>
          <a:xfrm>
            <a:off x="1110343" y="298581"/>
            <a:ext cx="10310326" cy="6027291"/>
          </a:xfrm>
          <a:prstGeom prst="rect">
            <a:avLst/>
          </a:prstGeom>
          <a:noFill/>
        </p:spPr>
        <p:txBody>
          <a:bodyPr wrap="square">
            <a:spAutoFit/>
          </a:bodyPr>
          <a:lstStyle/>
          <a:p>
            <a:pPr algn="ctr">
              <a:lnSpc>
                <a:spcPct val="150000"/>
              </a:lnSpc>
              <a:spcAft>
                <a:spcPts val="1000"/>
              </a:spcAft>
              <a:buNone/>
            </a:pPr>
            <a:r>
              <a:rPr lang="bg-BG" sz="3000" b="1" i="1" dirty="0">
                <a:effectLst/>
                <a:latin typeface="Arial" panose="020B0604020202020204" pitchFamily="34" charset="0"/>
                <a:ea typeface="Calibri" panose="020F0502020204030204" pitchFamily="34" charset="0"/>
                <a:cs typeface="Arial" panose="020B0604020202020204" pitchFamily="34" charset="0"/>
              </a:rPr>
              <a:t>11. Роля на емоционалната интелигентност</a:t>
            </a:r>
            <a:endParaRPr lang="bg-BG" sz="3000" dirty="0">
              <a:effectLst/>
              <a:latin typeface="Arial" panose="020B0604020202020204" pitchFamily="34" charset="0"/>
              <a:ea typeface="Calibri" panose="020F0502020204030204" pitchFamily="34" charset="0"/>
              <a:cs typeface="Arial" panose="020B0604020202020204" pitchFamily="34" charset="0"/>
            </a:endParaRPr>
          </a:p>
          <a:p>
            <a:pPr algn="just">
              <a:lnSpc>
                <a:spcPct val="150000"/>
              </a:lnSpc>
              <a:spcAft>
                <a:spcPts val="1000"/>
              </a:spcAft>
              <a:buNone/>
            </a:pPr>
            <a:r>
              <a:rPr lang="bg-BG" sz="2000" b="1" dirty="0">
                <a:effectLst/>
                <a:latin typeface="Arial" panose="020B0604020202020204" pitchFamily="34" charset="0"/>
                <a:ea typeface="Calibri" panose="020F0502020204030204" pitchFamily="34" charset="0"/>
                <a:cs typeface="Arial" panose="020B0604020202020204" pitchFamily="34" charset="0"/>
              </a:rPr>
              <a:t>	</a:t>
            </a:r>
            <a:r>
              <a:rPr lang="bg-BG" sz="2400" dirty="0">
                <a:effectLst/>
                <a:latin typeface="Arial" panose="020B0604020202020204" pitchFamily="34" charset="0"/>
                <a:ea typeface="Calibri" panose="020F0502020204030204" pitchFamily="34" charset="0"/>
                <a:cs typeface="Arial" panose="020B0604020202020204" pitchFamily="34" charset="0"/>
              </a:rPr>
              <a:t>Емоционалната интелигентност е ключова за успешния инструктор.</a:t>
            </a:r>
          </a:p>
          <a:p>
            <a:pPr algn="just">
              <a:buNone/>
            </a:pPr>
            <a:r>
              <a:rPr lang="bg-BG" sz="2400" dirty="0">
                <a:effectLst/>
                <a:latin typeface="Arial" panose="020B0604020202020204" pitchFamily="34" charset="0"/>
                <a:ea typeface="Times New Roman" panose="02020603050405020304" pitchFamily="18" charset="0"/>
                <a:cs typeface="Arial" panose="020B0604020202020204" pitchFamily="34" charset="0"/>
              </a:rPr>
              <a:t>	Професията на инструктора е свързана с постоянен стрес и висок риск. Ролята на </a:t>
            </a:r>
            <a:r>
              <a:rPr lang="bg-BG" sz="2400" dirty="0">
                <a:effectLst/>
                <a:latin typeface="Arial" panose="020B0604020202020204" pitchFamily="34" charset="0"/>
                <a:ea typeface="Calibri" panose="020F0502020204030204" pitchFamily="34" charset="0"/>
                <a:cs typeface="Arial" panose="020B0604020202020204" pitchFamily="34" charset="0"/>
              </a:rPr>
              <a:t>емоционалната интелигентност</a:t>
            </a:r>
            <a:r>
              <a:rPr lang="bg-BG" sz="2400" dirty="0">
                <a:effectLst/>
                <a:latin typeface="Arial" panose="020B0604020202020204" pitchFamily="34" charset="0"/>
                <a:ea typeface="Times New Roman" panose="02020603050405020304" pitchFamily="18" charset="0"/>
                <a:cs typeface="Arial" panose="020B0604020202020204" pitchFamily="34" charset="0"/>
              </a:rPr>
              <a:t> тук е да осигури емоционален контрол. Когато курсистът допусне опасна грешка (например отнемане на предимство или рязко спиране), инструкторът с висока </a:t>
            </a:r>
            <a:r>
              <a:rPr lang="bg-BG" sz="2400" dirty="0">
                <a:effectLst/>
                <a:latin typeface="Arial" panose="020B0604020202020204" pitchFamily="34" charset="0"/>
                <a:ea typeface="Calibri" panose="020F0502020204030204" pitchFamily="34" charset="0"/>
                <a:cs typeface="Arial" panose="020B0604020202020204" pitchFamily="34" charset="0"/>
              </a:rPr>
              <a:t>емоционалната интелигентност</a:t>
            </a:r>
            <a:r>
              <a:rPr lang="bg-BG" sz="2400" dirty="0">
                <a:effectLst/>
                <a:latin typeface="Arial" panose="020B0604020202020204" pitchFamily="34" charset="0"/>
                <a:ea typeface="Times New Roman" panose="02020603050405020304" pitchFamily="18" charset="0"/>
                <a:cs typeface="Arial" panose="020B0604020202020204" pitchFamily="34" charset="0"/>
              </a:rPr>
              <a:t> реагира адекватно – той поема контрол над автомобила, без да пренася паниката или гнева си върху ученика. Емпатията позволява на инструктора да „разчете“ емоционалното състояние на ученика. Много курсисти изпитват парализиращ страх от движението. Инструкторът с висока </a:t>
            </a:r>
            <a:r>
              <a:rPr lang="bg-BG" sz="2400" dirty="0">
                <a:effectLst/>
                <a:latin typeface="Arial" panose="020B0604020202020204" pitchFamily="34" charset="0"/>
                <a:ea typeface="Calibri" panose="020F0502020204030204" pitchFamily="34" charset="0"/>
                <a:cs typeface="Arial" panose="020B0604020202020204" pitchFamily="34" charset="0"/>
              </a:rPr>
              <a:t>емоционалната интелигентност</a:t>
            </a:r>
            <a:r>
              <a:rPr lang="bg-BG" sz="2400" dirty="0">
                <a:effectLst/>
                <a:latin typeface="Arial" panose="020B0604020202020204" pitchFamily="34" charset="0"/>
                <a:ea typeface="Times New Roman" panose="02020603050405020304" pitchFamily="18" charset="0"/>
                <a:cs typeface="Arial" panose="020B0604020202020204" pitchFamily="34" charset="0"/>
              </a:rPr>
              <a:t> усеща това напрежение и адаптира темпото на урока, вместо да изисква изпълнение на сложни задачи в този момент. </a:t>
            </a:r>
            <a:endParaRPr lang="bg-BG"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7145868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4F48D5F-BE3A-907A-5BDE-4004C65E3F02}"/>
              </a:ext>
            </a:extLst>
          </p:cNvPr>
          <p:cNvSpPr txBox="1"/>
          <p:nvPr/>
        </p:nvSpPr>
        <p:spPr>
          <a:xfrm>
            <a:off x="951722" y="522514"/>
            <a:ext cx="10646229" cy="6150801"/>
          </a:xfrm>
          <a:prstGeom prst="rect">
            <a:avLst/>
          </a:prstGeom>
          <a:noFill/>
        </p:spPr>
        <p:txBody>
          <a:bodyPr wrap="square">
            <a:spAutoFit/>
          </a:bodyPr>
          <a:lstStyle/>
          <a:p>
            <a:pPr algn="just">
              <a:lnSpc>
                <a:spcPct val="150000"/>
              </a:lnSpc>
              <a:spcAft>
                <a:spcPts val="1000"/>
              </a:spcAft>
              <a:buNone/>
            </a:pPr>
            <a:r>
              <a:rPr lang="bg-BG" sz="2300" dirty="0">
                <a:effectLst/>
                <a:latin typeface="Arial" panose="020B0604020202020204" pitchFamily="34" charset="0"/>
                <a:ea typeface="Calibri" panose="020F0502020204030204" pitchFamily="34" charset="0"/>
                <a:cs typeface="Arial" panose="020B0604020202020204" pitchFamily="34" charset="0"/>
              </a:rPr>
              <a:t>	Емоционалната интелигентност</a:t>
            </a:r>
            <a:r>
              <a:rPr lang="bg-BG" sz="2300" dirty="0">
                <a:effectLst/>
                <a:latin typeface="Arial" panose="020B0604020202020204" pitchFamily="34" charset="0"/>
                <a:ea typeface="Times New Roman" panose="02020603050405020304" pitchFamily="18" charset="0"/>
                <a:cs typeface="Arial" panose="020B0604020202020204" pitchFamily="34" charset="0"/>
              </a:rPr>
              <a:t> помага на преподавателя да разбере дали ученикът има нужда от по-строга дисциплина или от повече поощрение. Това съкращава времето за обучение и повишава успеваемостта. Начинът, по който се поднася критиката, е решаващ. Инструкторът трябва да коригира грешките, без да засяга достойнството на курсиста.</a:t>
            </a:r>
            <a:endParaRPr lang="bg-BG" sz="2300" dirty="0">
              <a:effectLst/>
              <a:latin typeface="Arial" panose="020B0604020202020204" pitchFamily="34" charset="0"/>
              <a:ea typeface="Calibri" panose="020F0502020204030204" pitchFamily="34" charset="0"/>
              <a:cs typeface="Arial" panose="020B0604020202020204" pitchFamily="34" charset="0"/>
            </a:endParaRPr>
          </a:p>
          <a:p>
            <a:pPr algn="just">
              <a:lnSpc>
                <a:spcPct val="150000"/>
              </a:lnSpc>
              <a:spcAft>
                <a:spcPts val="1000"/>
              </a:spcAft>
              <a:buNone/>
            </a:pPr>
            <a:r>
              <a:rPr lang="bg-BG" sz="2300" dirty="0">
                <a:effectLst/>
                <a:latin typeface="Arial" panose="020B0604020202020204" pitchFamily="34" charset="0"/>
                <a:ea typeface="Times New Roman" panose="02020603050405020304" pitchFamily="18" charset="0"/>
                <a:cs typeface="Arial" panose="020B0604020202020204" pitchFamily="34" charset="0"/>
              </a:rPr>
              <a:t>	Ролята на </a:t>
            </a:r>
            <a:r>
              <a:rPr lang="bg-BG" sz="2300" dirty="0">
                <a:effectLst/>
                <a:latin typeface="Arial" panose="020B0604020202020204" pitchFamily="34" charset="0"/>
                <a:ea typeface="Calibri" panose="020F0502020204030204" pitchFamily="34" charset="0"/>
                <a:cs typeface="Arial" panose="020B0604020202020204" pitchFamily="34" charset="0"/>
              </a:rPr>
              <a:t>емоционалната интелигентност</a:t>
            </a:r>
            <a:r>
              <a:rPr lang="bg-BG" sz="2300" dirty="0">
                <a:effectLst/>
                <a:latin typeface="Arial" panose="020B0604020202020204" pitchFamily="34" charset="0"/>
                <a:ea typeface="Times New Roman" panose="02020603050405020304" pitchFamily="18" charset="0"/>
                <a:cs typeface="Arial" panose="020B0604020202020204" pitchFamily="34" charset="0"/>
              </a:rPr>
              <a:t> е да трансформира сухата забележка в конструктивен съвет. Вместо „Пак не гледаш в огледалата!“, инструкторът използва подход, който стимулира осъзнаването: „Забеляза ли какво се случи в мъртвата зона, когато не провери огледалото?“. Това изгражда доверие и намалява отбранителната реакция у ученика.</a:t>
            </a:r>
            <a:endParaRPr lang="bg-BG" sz="2300" dirty="0">
              <a:effectLst/>
              <a:latin typeface="Arial" panose="020B060402020202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112346184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EE520B1-0543-AC78-73A9-9DF902242497}"/>
              </a:ext>
            </a:extLst>
          </p:cNvPr>
          <p:cNvSpPr txBox="1"/>
          <p:nvPr/>
        </p:nvSpPr>
        <p:spPr>
          <a:xfrm>
            <a:off x="858416" y="513184"/>
            <a:ext cx="10804848" cy="5933740"/>
          </a:xfrm>
          <a:prstGeom prst="rect">
            <a:avLst/>
          </a:prstGeom>
          <a:noFill/>
        </p:spPr>
        <p:txBody>
          <a:bodyPr wrap="square">
            <a:spAutoFit/>
          </a:bodyPr>
          <a:lstStyle/>
          <a:p>
            <a:pPr algn="ctr">
              <a:lnSpc>
                <a:spcPct val="150000"/>
              </a:lnSpc>
              <a:spcAft>
                <a:spcPts val="1000"/>
              </a:spcAft>
              <a:buNone/>
            </a:pPr>
            <a:r>
              <a:rPr lang="bg-BG" sz="3000" b="1" i="1" dirty="0">
                <a:effectLst/>
                <a:latin typeface="Arial" panose="020B0604020202020204" pitchFamily="34" charset="0"/>
                <a:ea typeface="Calibri" panose="020F0502020204030204" pitchFamily="34" charset="0"/>
                <a:cs typeface="Arial" panose="020B0604020202020204" pitchFamily="34" charset="0"/>
              </a:rPr>
              <a:t>12. Влияние на дигиталните технологии</a:t>
            </a:r>
            <a:endParaRPr lang="bg-BG" sz="3000" dirty="0">
              <a:effectLst/>
              <a:latin typeface="Arial" panose="020B0604020202020204" pitchFamily="34" charset="0"/>
              <a:ea typeface="Calibri" panose="020F0502020204030204" pitchFamily="34" charset="0"/>
              <a:cs typeface="Arial" panose="020B0604020202020204" pitchFamily="34" charset="0"/>
            </a:endParaRPr>
          </a:p>
          <a:p>
            <a:pPr algn="just">
              <a:lnSpc>
                <a:spcPct val="150000"/>
              </a:lnSpc>
              <a:spcAft>
                <a:spcPts val="1000"/>
              </a:spcAft>
              <a:buNone/>
            </a:pPr>
            <a:r>
              <a:rPr lang="bg-BG" dirty="0">
                <a:effectLst/>
                <a:latin typeface="Arial" panose="020B0604020202020204" pitchFamily="34" charset="0"/>
                <a:ea typeface="Calibri" panose="020F0502020204030204" pitchFamily="34" charset="0"/>
                <a:cs typeface="Arial" panose="020B0604020202020204" pitchFamily="34" charset="0"/>
              </a:rPr>
              <a:t>	</a:t>
            </a:r>
            <a:r>
              <a:rPr lang="bg-BG" sz="2200" dirty="0">
                <a:effectLst/>
                <a:latin typeface="Arial" panose="020B0604020202020204" pitchFamily="34" charset="0"/>
                <a:ea typeface="Calibri" panose="020F0502020204030204" pitchFamily="34" charset="0"/>
                <a:cs typeface="Arial" panose="020B0604020202020204" pitchFamily="34" charset="0"/>
              </a:rPr>
              <a:t>Съвременните обучения все по-често включват:</a:t>
            </a:r>
          </a:p>
          <a:p>
            <a:pPr marL="342900" lvl="0" indent="-342900" algn="just">
              <a:spcAft>
                <a:spcPts val="1000"/>
              </a:spcAft>
              <a:buSzPts val="1000"/>
              <a:buFont typeface="Symbol" panose="05050102010706020507" pitchFamily="18" charset="2"/>
              <a:buChar char=""/>
              <a:tabLst>
                <a:tab pos="457200" algn="l"/>
              </a:tabLst>
            </a:pPr>
            <a:r>
              <a:rPr lang="bg-BG" sz="2200" dirty="0">
                <a:effectLst/>
                <a:latin typeface="Arial" panose="020B0604020202020204" pitchFamily="34" charset="0"/>
                <a:ea typeface="Calibri" panose="020F0502020204030204" pitchFamily="34" charset="0"/>
                <a:cs typeface="Arial" panose="020B0604020202020204" pitchFamily="34" charset="0"/>
              </a:rPr>
              <a:t>онлайн платформи; </a:t>
            </a:r>
          </a:p>
          <a:p>
            <a:pPr marL="342900" lvl="0" indent="-342900" algn="just">
              <a:spcAft>
                <a:spcPts val="1000"/>
              </a:spcAft>
              <a:buSzPts val="1000"/>
              <a:buFont typeface="Symbol" panose="05050102010706020507" pitchFamily="18" charset="2"/>
              <a:buChar char=""/>
              <a:tabLst>
                <a:tab pos="457200" algn="l"/>
              </a:tabLst>
            </a:pPr>
            <a:r>
              <a:rPr lang="bg-BG" sz="2200" dirty="0">
                <a:effectLst/>
                <a:latin typeface="Arial" panose="020B0604020202020204" pitchFamily="34" charset="0"/>
                <a:ea typeface="Calibri" panose="020F0502020204030204" pitchFamily="34" charset="0"/>
                <a:cs typeface="Arial" panose="020B0604020202020204" pitchFamily="34" charset="0"/>
              </a:rPr>
              <a:t>виртуални класни стаи; </a:t>
            </a:r>
          </a:p>
          <a:p>
            <a:pPr marL="342900" lvl="0" indent="-342900" algn="just">
              <a:spcAft>
                <a:spcPts val="1000"/>
              </a:spcAft>
              <a:buSzPts val="1000"/>
              <a:buFont typeface="Symbol" panose="05050102010706020507" pitchFamily="18" charset="2"/>
              <a:buChar char=""/>
              <a:tabLst>
                <a:tab pos="457200" algn="l"/>
              </a:tabLst>
            </a:pPr>
            <a:r>
              <a:rPr lang="bg-BG" sz="2200" dirty="0">
                <a:effectLst/>
                <a:latin typeface="Arial" panose="020B0604020202020204" pitchFamily="34" charset="0"/>
                <a:ea typeface="Calibri" panose="020F0502020204030204" pitchFamily="34" charset="0"/>
                <a:cs typeface="Arial" panose="020B0604020202020204" pitchFamily="34" charset="0"/>
              </a:rPr>
              <a:t>хибридни модели; </a:t>
            </a:r>
          </a:p>
          <a:p>
            <a:pPr marL="342900" lvl="0" indent="-342900" algn="just">
              <a:lnSpc>
                <a:spcPct val="150000"/>
              </a:lnSpc>
              <a:spcAft>
                <a:spcPts val="1000"/>
              </a:spcAft>
              <a:buSzPts val="1000"/>
              <a:buFont typeface="Wingdings" panose="05000000000000000000" pitchFamily="2" charset="2"/>
              <a:buChar char=""/>
              <a:tabLst>
                <a:tab pos="457200" algn="l"/>
              </a:tabLst>
            </a:pPr>
            <a:r>
              <a:rPr lang="bg-BG" sz="2200" b="1" dirty="0">
                <a:effectLst/>
                <a:latin typeface="Arial" panose="020B0604020202020204" pitchFamily="34" charset="0"/>
                <a:ea typeface="Times New Roman" panose="02020603050405020304" pitchFamily="18" charset="0"/>
                <a:cs typeface="Arial" panose="020B0604020202020204" pitchFamily="34" charset="0"/>
              </a:rPr>
              <a:t>Онлайн платформи:</a:t>
            </a:r>
            <a:r>
              <a:rPr lang="bg-BG" sz="2200" dirty="0">
                <a:effectLst/>
                <a:latin typeface="Arial" panose="020B0604020202020204" pitchFamily="34" charset="0"/>
                <a:ea typeface="Times New Roman" panose="02020603050405020304" pitchFamily="18" charset="0"/>
                <a:cs typeface="Arial" panose="020B0604020202020204" pitchFamily="34" charset="0"/>
              </a:rPr>
              <a:t> Служат като огромни библиотеки от ресурси, достъпни 24/7. Вместо участниците да разчитат само на записки от лекции, те имат достъп до интерактивни видео уроци, 3D симулации на пътни ситуации и актуални законови бази данни. Платформите позволяват и провеждането на междинни самопроверки (тестове), които дават моментална обратна връзка за нивото на подготовка.</a:t>
            </a:r>
            <a:endParaRPr lang="bg-BG" sz="2200" dirty="0">
              <a:effectLst/>
              <a:latin typeface="Arial" panose="020B060402020202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411945122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72AEDDF-FBFE-5E5C-9582-231688183346}"/>
              </a:ext>
            </a:extLst>
          </p:cNvPr>
          <p:cNvSpPr txBox="1"/>
          <p:nvPr/>
        </p:nvSpPr>
        <p:spPr>
          <a:xfrm>
            <a:off x="755780" y="2"/>
            <a:ext cx="10916816" cy="6727370"/>
          </a:xfrm>
          <a:prstGeom prst="rect">
            <a:avLst/>
          </a:prstGeom>
          <a:noFill/>
        </p:spPr>
        <p:txBody>
          <a:bodyPr wrap="square">
            <a:spAutoFit/>
          </a:bodyPr>
          <a:lstStyle/>
          <a:p>
            <a:pPr marL="342900" indent="-342900" algn="just">
              <a:lnSpc>
                <a:spcPct val="150000"/>
              </a:lnSpc>
              <a:spcAft>
                <a:spcPts val="1000"/>
              </a:spcAft>
              <a:buSzPts val="1000"/>
              <a:buFont typeface="Wingdings" panose="05000000000000000000" pitchFamily="2" charset="2"/>
              <a:buChar char=""/>
              <a:tabLst>
                <a:tab pos="457200" algn="l"/>
              </a:tabLst>
            </a:pPr>
            <a:r>
              <a:rPr lang="bg-BG" sz="2000" b="1" dirty="0">
                <a:latin typeface="Arial" panose="020B0604020202020204" pitchFamily="34" charset="0"/>
                <a:ea typeface="Times New Roman" panose="02020603050405020304" pitchFamily="18" charset="0"/>
                <a:cs typeface="Arial" panose="020B0604020202020204" pitchFamily="34" charset="0"/>
              </a:rPr>
              <a:t>Виртуални класни стаи:</a:t>
            </a:r>
            <a:r>
              <a:rPr lang="bg-BG" sz="2000" dirty="0">
                <a:latin typeface="Arial" panose="020B0604020202020204" pitchFamily="34" charset="0"/>
                <a:ea typeface="Times New Roman" panose="02020603050405020304" pitchFamily="18" charset="0"/>
                <a:cs typeface="Arial" panose="020B0604020202020204" pitchFamily="34" charset="0"/>
              </a:rPr>
              <a:t> Те преодоляват географските бариери и позволяват на експерти от различни градове или дори държави да провеждат лекции в реално време. Интерактивните дъски и възможността за работа в „отделни стаи“ (breakout rooms) в дигиталната среда стимулират екипната работа и решаването на казуси, като запазват живия контакт и дискусията между участниците.</a:t>
            </a:r>
            <a:endParaRPr lang="bg-BG" sz="2000" dirty="0">
              <a:latin typeface="Arial" panose="020B0604020202020204" pitchFamily="34" charset="0"/>
              <a:ea typeface="Calibri" panose="020F0502020204030204" pitchFamily="34" charset="0"/>
              <a:cs typeface="Arial" panose="020B0604020202020204" pitchFamily="34" charset="0"/>
            </a:endParaRPr>
          </a:p>
          <a:p>
            <a:pPr marL="342900" lvl="0" indent="-342900" algn="just">
              <a:lnSpc>
                <a:spcPct val="150000"/>
              </a:lnSpc>
              <a:spcAft>
                <a:spcPts val="1000"/>
              </a:spcAft>
              <a:buSzPts val="1000"/>
              <a:buFont typeface="Wingdings" panose="05000000000000000000" pitchFamily="2" charset="2"/>
              <a:buChar char=""/>
              <a:tabLst>
                <a:tab pos="457200" algn="l"/>
              </a:tabLst>
            </a:pPr>
            <a:r>
              <a:rPr lang="bg-BG" sz="2000" b="1" dirty="0">
                <a:effectLst/>
                <a:latin typeface="Arial" panose="020B0604020202020204" pitchFamily="34" charset="0"/>
                <a:ea typeface="Times New Roman" panose="02020603050405020304" pitchFamily="18" charset="0"/>
                <a:cs typeface="Arial" panose="020B0604020202020204" pitchFamily="34" charset="0"/>
              </a:rPr>
              <a:t>Хибридни модели (Blended Learning):</a:t>
            </a:r>
            <a:r>
              <a:rPr lang="bg-BG" sz="2000" dirty="0">
                <a:effectLst/>
                <a:latin typeface="Arial" panose="020B0604020202020204" pitchFamily="34" charset="0"/>
                <a:ea typeface="Times New Roman" panose="02020603050405020304" pitchFamily="18" charset="0"/>
                <a:cs typeface="Arial" panose="020B0604020202020204" pitchFamily="34" charset="0"/>
              </a:rPr>
              <a:t> Това е най-балансираният и ефективен подход за бъдещите инструктори. Теоретичната подготовка и административните въпроси се изнасят в онлайн среда, което пести време и ресурси. Това позволява на присъствените срещи да бъдат изцяло фокусирани върху практиката – работа в автомобила, ролеви игри и методически демонстрации.</a:t>
            </a:r>
            <a:endParaRPr lang="bg-BG" sz="2000" dirty="0">
              <a:effectLst/>
              <a:latin typeface="Arial" panose="020B0604020202020204" pitchFamily="34" charset="0"/>
              <a:ea typeface="Calibri" panose="020F0502020204030204" pitchFamily="34" charset="0"/>
              <a:cs typeface="Arial" panose="020B0604020202020204" pitchFamily="34" charset="0"/>
            </a:endParaRPr>
          </a:p>
          <a:p>
            <a:pPr algn="just">
              <a:lnSpc>
                <a:spcPct val="150000"/>
              </a:lnSpc>
              <a:spcAft>
                <a:spcPts val="1000"/>
              </a:spcAft>
              <a:buNone/>
            </a:pPr>
            <a:r>
              <a:rPr lang="bg-BG" sz="2000" b="1" dirty="0">
                <a:effectLst/>
                <a:latin typeface="Arial" panose="020B0604020202020204" pitchFamily="34" charset="0"/>
                <a:ea typeface="Times New Roman" panose="02020603050405020304" pitchFamily="18" charset="0"/>
                <a:cs typeface="Arial" panose="020B0604020202020204" pitchFamily="34" charset="0"/>
              </a:rPr>
              <a:t>	</a:t>
            </a:r>
            <a:r>
              <a:rPr lang="bg-BG" sz="2000" dirty="0">
                <a:effectLst/>
                <a:latin typeface="Arial" panose="020B0604020202020204" pitchFamily="34" charset="0"/>
                <a:ea typeface="Times New Roman" panose="02020603050405020304" pitchFamily="18" charset="0"/>
                <a:cs typeface="Arial" panose="020B0604020202020204" pitchFamily="34" charset="0"/>
              </a:rPr>
              <a:t>Дигиталните технологии не заменят обучителя, а му дават инструменти, с които да направи обучението по-нагледно, безопасно и професионално ориентирано. Те подготвят бъдещите инструктори за работа в една изцяло дигитализирана работна среда (електронни картони, таблети за изпити и др.).</a:t>
            </a:r>
            <a:endParaRPr lang="bg-BG" sz="2000" dirty="0">
              <a:effectLst/>
              <a:latin typeface="Arial" panose="020B060402020202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180466951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E5A5714-0B52-30E7-5C18-A9195371A899}"/>
              </a:ext>
            </a:extLst>
          </p:cNvPr>
          <p:cNvSpPr txBox="1"/>
          <p:nvPr/>
        </p:nvSpPr>
        <p:spPr>
          <a:xfrm>
            <a:off x="914401" y="303112"/>
            <a:ext cx="10580914" cy="6251776"/>
          </a:xfrm>
          <a:prstGeom prst="rect">
            <a:avLst/>
          </a:prstGeom>
          <a:noFill/>
        </p:spPr>
        <p:txBody>
          <a:bodyPr wrap="square">
            <a:spAutoFit/>
          </a:bodyPr>
          <a:lstStyle/>
          <a:p>
            <a:pPr algn="ctr">
              <a:lnSpc>
                <a:spcPct val="150000"/>
              </a:lnSpc>
              <a:spcAft>
                <a:spcPts val="1000"/>
              </a:spcAft>
              <a:buNone/>
            </a:pPr>
            <a:r>
              <a:rPr lang="bg-BG" sz="3000" b="1" i="1" dirty="0">
                <a:effectLst/>
                <a:latin typeface="Arial" panose="020B0604020202020204" pitchFamily="34" charset="0"/>
                <a:ea typeface="Calibri" panose="020F0502020204030204" pitchFamily="34" charset="0"/>
                <a:cs typeface="Arial" panose="020B0604020202020204" pitchFamily="34" charset="0"/>
              </a:rPr>
              <a:t>13. Критичен анализ</a:t>
            </a:r>
          </a:p>
          <a:p>
            <a:pPr algn="ctr">
              <a:lnSpc>
                <a:spcPct val="150000"/>
              </a:lnSpc>
              <a:spcAft>
                <a:spcPts val="1000"/>
              </a:spcAft>
              <a:buNone/>
            </a:pPr>
            <a:endParaRPr lang="bg-BG" sz="1000" dirty="0">
              <a:effectLst/>
              <a:latin typeface="Arial" panose="020B0604020202020204" pitchFamily="34" charset="0"/>
              <a:ea typeface="Calibri" panose="020F0502020204030204" pitchFamily="34" charset="0"/>
              <a:cs typeface="Arial" panose="020B0604020202020204" pitchFamily="34" charset="0"/>
            </a:endParaRPr>
          </a:p>
          <a:p>
            <a:pPr algn="just">
              <a:spcAft>
                <a:spcPts val="1000"/>
              </a:spcAft>
              <a:buNone/>
            </a:pPr>
            <a:r>
              <a:rPr lang="bg-BG" sz="1800" dirty="0">
                <a:effectLst/>
                <a:latin typeface="Arial" panose="020B0604020202020204" pitchFamily="34" charset="0"/>
                <a:ea typeface="Calibri" panose="020F0502020204030204" pitchFamily="34" charset="0"/>
                <a:cs typeface="Arial" panose="020B0604020202020204" pitchFamily="34" charset="0"/>
              </a:rPr>
              <a:t>	</a:t>
            </a:r>
            <a:r>
              <a:rPr lang="bg-BG" sz="2200" dirty="0">
                <a:effectLst/>
                <a:latin typeface="Arial" panose="020B0604020202020204" pitchFamily="34" charset="0"/>
                <a:ea typeface="Calibri" panose="020F0502020204030204" pitchFamily="34" charset="0"/>
                <a:cs typeface="Arial" panose="020B0604020202020204" pitchFamily="34" charset="0"/>
              </a:rPr>
              <a:t>Въпреки предимствата, груповото обучение има ограничения:</a:t>
            </a:r>
          </a:p>
          <a:p>
            <a:pPr marL="342900" lvl="0" indent="-342900" algn="just">
              <a:spcAft>
                <a:spcPts val="1000"/>
              </a:spcAft>
              <a:buSzPts val="1000"/>
              <a:buFont typeface="Symbol" panose="05050102010706020507" pitchFamily="18" charset="2"/>
              <a:buChar char=""/>
              <a:tabLst>
                <a:tab pos="457200" algn="l"/>
              </a:tabLst>
            </a:pPr>
            <a:r>
              <a:rPr lang="bg-BG" sz="2200" dirty="0">
                <a:effectLst/>
                <a:latin typeface="Arial" panose="020B0604020202020204" pitchFamily="34" charset="0"/>
                <a:ea typeface="Calibri" panose="020F0502020204030204" pitchFamily="34" charset="0"/>
                <a:cs typeface="Arial" panose="020B0604020202020204" pitchFamily="34" charset="0"/>
              </a:rPr>
              <a:t>не отговаря еднакво на всички стилове на учене; </a:t>
            </a:r>
          </a:p>
          <a:p>
            <a:pPr marL="342900" lvl="0" indent="-342900" algn="just">
              <a:spcAft>
                <a:spcPts val="1000"/>
              </a:spcAft>
              <a:buSzPts val="1000"/>
              <a:buFont typeface="Symbol" panose="05050102010706020507" pitchFamily="18" charset="2"/>
              <a:buChar char=""/>
              <a:tabLst>
                <a:tab pos="457200" algn="l"/>
              </a:tabLst>
            </a:pPr>
            <a:r>
              <a:rPr lang="bg-BG" sz="2200" dirty="0">
                <a:effectLst/>
                <a:latin typeface="Arial" panose="020B0604020202020204" pitchFamily="34" charset="0"/>
                <a:ea typeface="Calibri" panose="020F0502020204030204" pitchFamily="34" charset="0"/>
                <a:cs typeface="Arial" panose="020B0604020202020204" pitchFamily="34" charset="0"/>
              </a:rPr>
              <a:t>може да доведе до „скриване“ на пасивни участници; </a:t>
            </a:r>
          </a:p>
          <a:p>
            <a:pPr marL="342900" lvl="0" indent="-342900" algn="just">
              <a:spcAft>
                <a:spcPts val="1000"/>
              </a:spcAft>
              <a:buSzPts val="1000"/>
              <a:buFont typeface="Symbol" panose="05050102010706020507" pitchFamily="18" charset="2"/>
              <a:buChar char=""/>
              <a:tabLst>
                <a:tab pos="457200" algn="l"/>
              </a:tabLst>
            </a:pPr>
            <a:r>
              <a:rPr lang="bg-BG" sz="2200" dirty="0">
                <a:effectLst/>
                <a:latin typeface="Arial" panose="020B0604020202020204" pitchFamily="34" charset="0"/>
                <a:ea typeface="Calibri" panose="020F0502020204030204" pitchFamily="34" charset="0"/>
                <a:cs typeface="Arial" panose="020B0604020202020204" pitchFamily="34" charset="0"/>
              </a:rPr>
              <a:t>зависи силно от обучителя; </a:t>
            </a:r>
          </a:p>
          <a:p>
            <a:pPr algn="just">
              <a:lnSpc>
                <a:spcPct val="150000"/>
              </a:lnSpc>
              <a:spcAft>
                <a:spcPts val="1000"/>
              </a:spcAft>
              <a:buNone/>
            </a:pPr>
            <a:r>
              <a:rPr lang="bg-BG" sz="2200" dirty="0">
                <a:effectLst/>
                <a:latin typeface="Arial" panose="020B0604020202020204" pitchFamily="34" charset="0"/>
                <a:ea typeface="Times New Roman" panose="02020603050405020304" pitchFamily="18" charset="0"/>
                <a:cs typeface="Arial" panose="020B0604020202020204" pitchFamily="34" charset="0"/>
              </a:rPr>
              <a:t>	Груповото обучение носи и определени предизвикателства, които могат да ограничат неговия успех:</a:t>
            </a:r>
            <a:endParaRPr lang="bg-BG" sz="2200" dirty="0">
              <a:effectLst/>
              <a:latin typeface="Arial" panose="020B0604020202020204" pitchFamily="34" charset="0"/>
              <a:ea typeface="Calibri" panose="020F0502020204030204" pitchFamily="34" charset="0"/>
              <a:cs typeface="Arial" panose="020B0604020202020204" pitchFamily="34" charset="0"/>
            </a:endParaRPr>
          </a:p>
          <a:p>
            <a:pPr marL="342900" lvl="0" indent="-342900" algn="just">
              <a:lnSpc>
                <a:spcPct val="150000"/>
              </a:lnSpc>
              <a:spcAft>
                <a:spcPts val="1000"/>
              </a:spcAft>
              <a:buFont typeface="Wingdings" panose="05000000000000000000" pitchFamily="2" charset="2"/>
              <a:buChar char=""/>
            </a:pPr>
            <a:r>
              <a:rPr lang="bg-BG" sz="2200" b="1" dirty="0">
                <a:effectLst/>
                <a:latin typeface="Arial" panose="020B0604020202020204" pitchFamily="34" charset="0"/>
                <a:ea typeface="Times New Roman" panose="02020603050405020304" pitchFamily="18" charset="0"/>
                <a:cs typeface="Arial" panose="020B0604020202020204" pitchFamily="34" charset="0"/>
              </a:rPr>
              <a:t>Различни стилове на учене:</a:t>
            </a:r>
            <a:r>
              <a:rPr lang="bg-BG" sz="2200" dirty="0">
                <a:effectLst/>
                <a:latin typeface="Arial" panose="020B0604020202020204" pitchFamily="34" charset="0"/>
                <a:ea typeface="Times New Roman" panose="02020603050405020304" pitchFamily="18" charset="0"/>
                <a:cs typeface="Arial" panose="020B0604020202020204" pitchFamily="34" charset="0"/>
              </a:rPr>
              <a:t> Всеки участник възприема информацията по различен начин (някои чрез четене, други чрез слушане, трети само чрез практика). В голяма група е трудно да се приложи индивидуален подход, което може да остави част от участниците недокрай подготвени.</a:t>
            </a:r>
            <a:endParaRPr lang="bg-BG" sz="2200" dirty="0">
              <a:effectLst/>
              <a:latin typeface="Arial" panose="020B060402020202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317883779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3647A67-9802-5424-F77B-8AB5133AAF9C}"/>
              </a:ext>
            </a:extLst>
          </p:cNvPr>
          <p:cNvSpPr txBox="1"/>
          <p:nvPr/>
        </p:nvSpPr>
        <p:spPr>
          <a:xfrm>
            <a:off x="858416" y="588261"/>
            <a:ext cx="10627568" cy="5872185"/>
          </a:xfrm>
          <a:prstGeom prst="rect">
            <a:avLst/>
          </a:prstGeom>
          <a:noFill/>
        </p:spPr>
        <p:txBody>
          <a:bodyPr wrap="square">
            <a:spAutoFit/>
          </a:bodyPr>
          <a:lstStyle/>
          <a:p>
            <a:pPr marL="342900" lvl="0" indent="-342900" algn="just">
              <a:lnSpc>
                <a:spcPct val="150000"/>
              </a:lnSpc>
              <a:spcAft>
                <a:spcPts val="1000"/>
              </a:spcAft>
              <a:buFont typeface="Wingdings" panose="05000000000000000000" pitchFamily="2" charset="2"/>
              <a:buChar char=""/>
            </a:pPr>
            <a:r>
              <a:rPr lang="bg-BG" sz="2200" b="1" dirty="0">
                <a:effectLst/>
                <a:latin typeface="Arial" panose="020B0604020202020204" pitchFamily="34" charset="0"/>
                <a:ea typeface="Times New Roman" panose="02020603050405020304" pitchFamily="18" charset="0"/>
                <a:cs typeface="Arial" panose="020B0604020202020204" pitchFamily="34" charset="0"/>
              </a:rPr>
              <a:t>Риск от пасивност („Скриване“):</a:t>
            </a:r>
            <a:r>
              <a:rPr lang="bg-BG" sz="2200" dirty="0">
                <a:effectLst/>
                <a:latin typeface="Arial" panose="020B0604020202020204" pitchFamily="34" charset="0"/>
                <a:ea typeface="Times New Roman" panose="02020603050405020304" pitchFamily="18" charset="0"/>
                <a:cs typeface="Arial" panose="020B0604020202020204" pitchFamily="34" charset="0"/>
              </a:rPr>
              <a:t> В групова среда по-активните личности често доминират дискусиите. Това позволява на по-свитите или по-слабо мотивираните участници да останат в „сянка“, без да изразят мнение или да тестват уменията си, което води до повърхностно усвояване на материала.</a:t>
            </a:r>
            <a:endParaRPr lang="bg-BG" sz="2200" dirty="0">
              <a:effectLst/>
              <a:latin typeface="Arial" panose="020B0604020202020204" pitchFamily="34" charset="0"/>
              <a:ea typeface="Calibri" panose="020F0502020204030204" pitchFamily="34" charset="0"/>
              <a:cs typeface="Arial" panose="020B0604020202020204" pitchFamily="34" charset="0"/>
            </a:endParaRPr>
          </a:p>
          <a:p>
            <a:pPr marL="342900" lvl="0" indent="-342900" algn="just">
              <a:lnSpc>
                <a:spcPct val="150000"/>
              </a:lnSpc>
              <a:spcAft>
                <a:spcPts val="1000"/>
              </a:spcAft>
              <a:buFont typeface="Wingdings" panose="05000000000000000000" pitchFamily="2" charset="2"/>
              <a:buChar char=""/>
            </a:pPr>
            <a:r>
              <a:rPr lang="bg-BG" sz="2200" b="1" dirty="0">
                <a:effectLst/>
                <a:latin typeface="Arial" panose="020B0604020202020204" pitchFamily="34" charset="0"/>
                <a:ea typeface="Times New Roman" panose="02020603050405020304" pitchFamily="18" charset="0"/>
                <a:cs typeface="Arial" panose="020B0604020202020204" pitchFamily="34" charset="0"/>
              </a:rPr>
              <a:t>Зависимост от обучителя:</a:t>
            </a:r>
            <a:r>
              <a:rPr lang="bg-BG" sz="2200" dirty="0">
                <a:effectLst/>
                <a:latin typeface="Arial" panose="020B0604020202020204" pitchFamily="34" charset="0"/>
                <a:ea typeface="Times New Roman" panose="02020603050405020304" pitchFamily="18" charset="0"/>
                <a:cs typeface="Arial" panose="020B0604020202020204" pitchFamily="34" charset="0"/>
              </a:rPr>
              <a:t> Качеството на обучението е пряко обвързано с личността на лектора. Ако той няма нужните педагогически умения да управлява груповата динамика или да овладее конфликтите, групата може да загуби фокус и обучението да стане неефективно.</a:t>
            </a:r>
            <a:endParaRPr lang="bg-BG" sz="2200" dirty="0">
              <a:effectLst/>
              <a:latin typeface="Arial" panose="020B0604020202020204" pitchFamily="34" charset="0"/>
              <a:ea typeface="Calibri" panose="020F0502020204030204" pitchFamily="34" charset="0"/>
              <a:cs typeface="Arial" panose="020B0604020202020204" pitchFamily="34" charset="0"/>
            </a:endParaRPr>
          </a:p>
          <a:p>
            <a:pPr algn="just">
              <a:lnSpc>
                <a:spcPct val="150000"/>
              </a:lnSpc>
              <a:spcAft>
                <a:spcPts val="1000"/>
              </a:spcAft>
              <a:buNone/>
            </a:pPr>
            <a:r>
              <a:rPr lang="bg-BG" sz="2200" b="1" dirty="0">
                <a:effectLst/>
                <a:latin typeface="Arial" panose="020B0604020202020204" pitchFamily="34" charset="0"/>
                <a:ea typeface="Times New Roman" panose="02020603050405020304" pitchFamily="18" charset="0"/>
                <a:cs typeface="Arial" panose="020B0604020202020204" pitchFamily="34" charset="0"/>
              </a:rPr>
              <a:t>	</a:t>
            </a:r>
            <a:r>
              <a:rPr lang="bg-BG" sz="2200" dirty="0">
                <a:effectLst/>
                <a:latin typeface="Arial" panose="020B0604020202020204" pitchFamily="34" charset="0"/>
                <a:ea typeface="Times New Roman" panose="02020603050405020304" pitchFamily="18" charset="0"/>
                <a:cs typeface="Arial" panose="020B0604020202020204" pitchFamily="34" charset="0"/>
              </a:rPr>
              <a:t>Тези ограничения налагат на обучителя да бъде изключително гъвкав и да използва разнообразни методи, за да гарантира, че всеки участник е реално ангажиран и подготвен.</a:t>
            </a:r>
            <a:endParaRPr lang="bg-BG" sz="2200" dirty="0">
              <a:effectLst/>
              <a:latin typeface="Arial" panose="020B060402020202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9935116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71CF100-B658-AB09-E76A-9B4827298C43}"/>
              </a:ext>
            </a:extLst>
          </p:cNvPr>
          <p:cNvSpPr txBox="1"/>
          <p:nvPr/>
        </p:nvSpPr>
        <p:spPr>
          <a:xfrm>
            <a:off x="1365380" y="1066788"/>
            <a:ext cx="9840685" cy="4656852"/>
          </a:xfrm>
          <a:prstGeom prst="rect">
            <a:avLst/>
          </a:prstGeom>
          <a:noFill/>
        </p:spPr>
        <p:txBody>
          <a:bodyPr wrap="square">
            <a:spAutoFit/>
          </a:bodyPr>
          <a:lstStyle/>
          <a:p>
            <a:pPr algn="ctr">
              <a:lnSpc>
                <a:spcPct val="150000"/>
              </a:lnSpc>
              <a:spcAft>
                <a:spcPts val="1000"/>
              </a:spcAft>
              <a:buNone/>
            </a:pPr>
            <a:r>
              <a:rPr lang="bg-BG" sz="3000" b="1" i="1" dirty="0">
                <a:effectLst/>
                <a:latin typeface="Times New Roman" panose="02020603050405020304" pitchFamily="18" charset="0"/>
                <a:ea typeface="Calibri" panose="020F0502020204030204" pitchFamily="34" charset="0"/>
                <a:cs typeface="Times New Roman" panose="02020603050405020304" pitchFamily="18" charset="0"/>
              </a:rPr>
              <a:t>14. Заключение</a:t>
            </a:r>
          </a:p>
          <a:p>
            <a:pPr algn="ctr">
              <a:lnSpc>
                <a:spcPct val="150000"/>
              </a:lnSpc>
              <a:spcAft>
                <a:spcPts val="1000"/>
              </a:spcAft>
              <a:buNone/>
            </a:pPr>
            <a:endParaRPr lang="bg-BG" sz="15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1000"/>
              </a:spcAft>
              <a:buNone/>
            </a:pPr>
            <a:r>
              <a:rPr lang="bg-BG"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bg-BG" sz="2400" dirty="0">
                <a:effectLst/>
                <a:latin typeface="Arial" panose="020B0604020202020204" pitchFamily="34" charset="0"/>
                <a:ea typeface="Calibri" panose="020F0502020204030204" pitchFamily="34" charset="0"/>
                <a:cs typeface="Arial" panose="020B0604020202020204" pitchFamily="34" charset="0"/>
              </a:rPr>
              <a:t>Груповото обучение на инструктори е ефективен подход за развитие на ключови умения. Очакванията на участниците са свързани с практическа приложимост и професионално развитие, а реалният опит показва висока ефективност при добра организация.</a:t>
            </a:r>
          </a:p>
          <a:p>
            <a:pPr algn="just">
              <a:lnSpc>
                <a:spcPct val="150000"/>
              </a:lnSpc>
              <a:spcAft>
                <a:spcPts val="1000"/>
              </a:spcAft>
              <a:buNone/>
            </a:pPr>
            <a:r>
              <a:rPr lang="bg-BG" sz="18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bg-BG" sz="14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35043835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6B55F7A-F30A-3CA1-D284-16D1298C5649}"/>
              </a:ext>
            </a:extLst>
          </p:cNvPr>
          <p:cNvSpPr txBox="1"/>
          <p:nvPr/>
        </p:nvSpPr>
        <p:spPr>
          <a:xfrm>
            <a:off x="2843505" y="2096290"/>
            <a:ext cx="6097554" cy="752065"/>
          </a:xfrm>
          <a:prstGeom prst="rect">
            <a:avLst/>
          </a:prstGeom>
          <a:noFill/>
        </p:spPr>
        <p:txBody>
          <a:bodyPr wrap="square">
            <a:spAutoFit/>
          </a:bodyPr>
          <a:lstStyle/>
          <a:p>
            <a:pPr marL="457200" algn="just">
              <a:lnSpc>
                <a:spcPct val="150000"/>
              </a:lnSpc>
              <a:spcAft>
                <a:spcPts val="1000"/>
              </a:spcAft>
              <a:buNone/>
            </a:pPr>
            <a:r>
              <a:rPr lang="bg-BG" sz="3200" b="1" i="1" dirty="0">
                <a:effectLst/>
                <a:latin typeface="Times New Roman" panose="02020603050405020304" pitchFamily="18" charset="0"/>
                <a:ea typeface="Times New Roman" panose="02020603050405020304" pitchFamily="18" charset="0"/>
                <a:cs typeface="Times New Roman" panose="02020603050405020304" pitchFamily="18" charset="0"/>
              </a:rPr>
              <a:t>Благодаря за вниманието!</a:t>
            </a:r>
            <a:endParaRPr lang="bg-BG" sz="3200" b="1" i="1"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891834236"/>
      </p:ext>
    </p:extLst>
  </p:cSld>
  <p:clrMapOvr>
    <a:masterClrMapping/>
  </p:clrMapOvr>
</p:sld>
</file>

<file path=ppt/theme/theme1.xml><?xml version="1.0" encoding="utf-8"?>
<a:theme xmlns:a="http://schemas.openxmlformats.org/drawingml/2006/main" name="Vapor Trail">
  <a:themeElements>
    <a:clrScheme name="Vapor Trail">
      <a:dk1>
        <a:sysClr val="windowText" lastClr="000000"/>
      </a:dk1>
      <a:lt1>
        <a:sysClr val="window" lastClr="FFFFFF"/>
      </a:lt1>
      <a:dk2>
        <a:srgbClr val="454545"/>
      </a:dk2>
      <a:lt2>
        <a:srgbClr val="DADADA"/>
      </a:lt2>
      <a:accent1>
        <a:srgbClr val="DF2E28"/>
      </a:accent1>
      <a:accent2>
        <a:srgbClr val="FE801A"/>
      </a:accent2>
      <a:accent3>
        <a:srgbClr val="E9BF35"/>
      </a:accent3>
      <a:accent4>
        <a:srgbClr val="81BB42"/>
      </a:accent4>
      <a:accent5>
        <a:srgbClr val="32C7A9"/>
      </a:accent5>
      <a:accent6>
        <a:srgbClr val="4A9BDC"/>
      </a:accent6>
      <a:hlink>
        <a:srgbClr val="F0532B"/>
      </a:hlink>
      <a:folHlink>
        <a:srgbClr val="F38B53"/>
      </a:folHlink>
    </a:clrScheme>
    <a:fontScheme name="Vapor Trail">
      <a:majorFont>
        <a:latin typeface="Century Gothic" panose="020B0502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Vapor Trail">
      <a:fillStyleLst>
        <a:solidFill>
          <a:schemeClr val="phClr"/>
        </a:solidFill>
        <a:gradFill rotWithShape="1">
          <a:gsLst>
            <a:gs pos="0">
              <a:schemeClr val="phClr">
                <a:tint val="69000"/>
                <a:alpha val="100000"/>
                <a:satMod val="109000"/>
                <a:lumMod val="110000"/>
              </a:schemeClr>
            </a:gs>
            <a:gs pos="52000">
              <a:schemeClr val="phClr">
                <a:tint val="74000"/>
                <a:satMod val="100000"/>
                <a:lumMod val="104000"/>
              </a:schemeClr>
            </a:gs>
            <a:gs pos="100000">
              <a:schemeClr val="phClr">
                <a:tint val="78000"/>
                <a:satMod val="100000"/>
                <a:lumMod val="100000"/>
              </a:schemeClr>
            </a:gs>
          </a:gsLst>
          <a:lin ang="5400000" scaled="0"/>
        </a:gradFill>
        <a:gradFill rotWithShape="1">
          <a:gsLst>
            <a:gs pos="0">
              <a:schemeClr val="phClr">
                <a:tint val="96000"/>
                <a:satMod val="100000"/>
                <a:lumMod val="104000"/>
              </a:schemeClr>
            </a:gs>
            <a:gs pos="78000">
              <a:schemeClr val="phClr">
                <a:shade val="100000"/>
                <a:satMod val="110000"/>
                <a:lumMod val="100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cene3d>
            <a:camera prst="orthographicFront">
              <a:rot lat="0" lon="0" rev="0"/>
            </a:camera>
            <a:lightRig rig="threePt" dir="t"/>
          </a:scene3d>
          <a:sp3d>
            <a:bevelT w="25400" h="12700"/>
          </a:sp3d>
        </a:effectStyle>
        <a:effectStyle>
          <a:effectLst>
            <a:outerShdw blurRad="57150" dist="19050" dir="5400000" algn="ctr" rotWithShape="0">
              <a:srgbClr val="000000">
                <a:alpha val="48000"/>
              </a:srgbClr>
            </a:outerShdw>
          </a:effectLst>
          <a:scene3d>
            <a:camera prst="orthographicFront">
              <a:rot lat="0" lon="0" rev="0"/>
            </a:camera>
            <a:lightRig rig="threePt" dir="t"/>
          </a:scene3d>
          <a:sp3d>
            <a:bevelT w="50800" h="25400"/>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por Trail" id="{4FDF2955-7D9C-493C-B9F9-C205151B46CD}" vid="{8F31A783-2159-4870-BC29-2BA7D038EA4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{843F899A-7C32-44B5-8D31-D2FF7E798B20}TF49310879-45c6-4d72-870a-c20bc0dca33280b505e2-ba4924374f17</Template>
  <TotalTime>141</TotalTime>
  <Words>3053</Words>
  <Application>Microsoft Office PowerPoint</Application>
  <PresentationFormat>Widescreen</PresentationFormat>
  <Paragraphs>173</Paragraphs>
  <Slides>30</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30</vt:i4>
      </vt:variant>
    </vt:vector>
  </HeadingPairs>
  <TitlesOfParts>
    <vt:vector size="38" baseType="lpstr">
      <vt:lpstr>Arial</vt:lpstr>
      <vt:lpstr>Calibri</vt:lpstr>
      <vt:lpstr>Century Gothic</vt:lpstr>
      <vt:lpstr>Courier New</vt:lpstr>
      <vt:lpstr>Symbol</vt:lpstr>
      <vt:lpstr>Times New Roman</vt:lpstr>
      <vt:lpstr>Wingdings</vt:lpstr>
      <vt:lpstr>Vapor Trail</vt:lpstr>
      <vt:lpstr>Групово обучение на инструктори   Очаквания и опит на участниците       Изготвил: Димитър Първанов Факултетен номер:25002070 Преподавател: доц. Красимир Спиров  </vt:lpstr>
      <vt:lpstr>Групово обучение на инструктори  Очаквания и опит на участниците</vt:lpstr>
      <vt:lpstr>1. Увод</vt:lpstr>
      <vt:lpstr>2. Същност на груповото обучение</vt:lpstr>
      <vt:lpstr>3. Очаквания на участниците</vt:lpstr>
      <vt:lpstr>PowerPoint Presentation</vt:lpstr>
      <vt:lpstr>PowerPoint Presentation</vt:lpstr>
      <vt:lpstr>4. Реален опит на участниците</vt:lpstr>
      <vt:lpstr>5. Методи и техники</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Parvanov</dc:creator>
  <cp:lastModifiedBy>Parvanov</cp:lastModifiedBy>
  <cp:revision>14</cp:revision>
  <dcterms:created xsi:type="dcterms:W3CDTF">2026-05-21T17:42:16Z</dcterms:created>
  <dcterms:modified xsi:type="dcterms:W3CDTF">2026-05-31T12:18:39Z</dcterms:modified>
</cp:coreProperties>
</file>